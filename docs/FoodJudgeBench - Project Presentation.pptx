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24"/>
  </p:notesMasterIdLst>
  <p:sldIdLst>
    <p:sldId id="256" r:id="rId3"/>
    <p:sldId id="257" r:id="rId4"/>
    <p:sldId id="258" r:id="rId5"/>
    <p:sldId id="259" r:id="rId6"/>
    <p:sldId id="260" r:id="rId7"/>
    <p:sldId id="261" r:id="rId8"/>
    <p:sldId id="280" r:id="rId9"/>
    <p:sldId id="262" r:id="rId10"/>
    <p:sldId id="263" r:id="rId11"/>
    <p:sldId id="264" r:id="rId12"/>
    <p:sldId id="265" r:id="rId13"/>
    <p:sldId id="266" r:id="rId14"/>
    <p:sldId id="267" r:id="rId15"/>
    <p:sldId id="268" r:id="rId16"/>
    <p:sldId id="269" r:id="rId17"/>
    <p:sldId id="270" r:id="rId18"/>
    <p:sldId id="271" r:id="rId19"/>
    <p:sldId id="272" r:id="rId20"/>
    <p:sldId id="275" r:id="rId21"/>
    <p:sldId id="276" r:id="rId22"/>
    <p:sldId id="278" r:id="rId23"/>
  </p:sldIdLst>
  <p:sldSz cx="12192000" cy="6858000"/>
  <p:notesSz cx="6858000" cy="12192000"/>
  <p:embeddedFontLst>
    <p:embeddedFont>
      <p:font typeface="EB Garamond" panose="00000500000000000000" pitchFamily="2" charset="0"/>
      <p:regular r:id="rId25"/>
      <p:bold r:id="rId26"/>
      <p:italic r:id="rId27"/>
      <p:boldItalic r:id="rId28"/>
    </p:embeddedFont>
    <p:embeddedFont>
      <p:font typeface="IBM Plex Sans" panose="020B0503050203000203"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423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Introduce the team and the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LLMs hallucinate in explanations and nobody judges them. We ask if an LLM can be the grader. 60 profiles, 2 recipes each, 4 techniques gives 480 cases; 3 humans and 3 judges use the same rubric. Pipeline complete; humans rated a pilot of 10 items; the full round is future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Four questions are the thread of the talk; each results slide restates its question. A judge is an LLM that grades an explanation.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Food work shows health matters; explanation work defines good explanations; judge work shows LLMs can match humans on chat and lists biases. None tests food explanations tied to one person. [Verify authors and years in the report.]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Introduce members and what each owned. [Fill in names.]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[Show: NB1 rating distribution plot.] Three tables and their shapes. Most ratings are 5 stars and most users wrote one review, so ratings alone say little about taste: we use review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Data: HUMMUS adds WHO and FSA healthiness scores and linked ingredients to the Food.com recipes and reviews. After auditing, we use 1.41 million true reviews. Technologies: everything is Python in Jupyter notebooks, one notebook per step, plus a small HTML and JavaScript form for annotators that works offline. Existing tools: all models run locally through Ollama. Llama writes the explanations; Qwen, Gemma and Phi are judges, so the judges are never from the generator's family. TF-IDF from scikit-learn drives the recommender.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Row 1 builds data and explanations, row 2 grades them. Colours show the LLM roles: red generates, purple audits claims in technique 4, teal judges. Humans in ochre. No notebook 7: the rubric lives in NB6.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[Show: NB2 funnel table.] 300k members, 1.9M reviews, 500k recipes. The audit changed the analysis: rating 6 is authorship, 2.5 is not a dislike. Users need enough text and history to infer a profile; recipes need clean nutrition and time, then enough reviews. [Confirm the 6,522 wording against NB2.]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[Show: NB4 pool table.] Inferred profiles carry evidence for every claim; synthetic ones state everything and include hard cases. The recommender is deliberately simple: the point is the explanation. Strong and weak candidates give good and poor matches to explain.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[Show: NB5 four texts for one case.] Four rungs of control: no LLM, free writing, given facts, given facts plus an auditor.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[Show: open the annotation HTML form, fill one item, 30 s.] Every annotator gets the same items so agreement can be measured. Pilot: 3 annotators, 10 items (8 cases, 2 diagnostics).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[Show: NB9 prompt and one JSON answer.] Nine judge-setup combinations answer the same 10 questions as humans.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[Show: NB8 agreement table.] Alpha measures agreement beyond chance. Good on overall quality and trade-off, moderate on invented personalization, weak on constraints. A zero is not disagreement: when almost everyone says "no" or "n.a.", alpha cannot separate them from chance. This is the ceiling a judge can be asked to reach.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[Show: NB10 heatmap.] Restate RQ1. Scores 1-5: how often two raters are within one point; humans 0.88, Qwen checklist 0.92. Yes/no flags: kappa, 0 = chance; humans 0.22, Qwen checklist 0.31, but intervals overlap. Without the checked facts agreement falls (within-1 with facts vs without: Qwen 0.78 -&gt; 0.62, Gemma 0.85 -&gt; 0.76, Phi-4 0.85 -&gt; 0.66). 10 items only.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Restate RQ2. Humans agree more when preferences are stated than when inferred from reviews: 0.91 vs 0.83. Even the facts about the person are uncertain for inferred profiles. [Add judge splits from rq2_by_source.csv after the rerun.] 10 items only.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Restate RQ3. Humans put direct LLM worst, grounded plus check best. Qwen with facts reproduces this; Gemma well; Phi-4 puts the template too high. Without facts the ranking collapses. Limitation: Qwen audited technique 4, so it may favour it. Only 2 items per technique: indicative.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Restate RQ4. Diagnostics are explanations with one planted error, so the right answer is known. Only the invented-preference diagnostic has been rated: humans 83 percent, judges 50 to 100. The other three error types need the main round. [Show: NB10 detection figure.]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Evidence per specification. Done: the data audit and catalog, both profile collections, the blinded case bank with diagnostics and pairs, and the release. Mostly: the rubric lacks a nudge-appropriateness item, and judging has three families and three setups but no tool-assisted numeric check. Partly: only a content-based recommender, four of the six techniques, and the analysis on the pilot. The main 510-item annotation round is outside the scope of the project at this stage, and the pipeline already handles it: pilot and main files go through the same notebooks.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plan to Saturday, October 31. Today is Sunday the 25th. Monday: re-run notebooks 9 and 10 including the no-facts setup, which gives the clean facts-versus-no-facts comparison. Monday and Tuesday: add profile-level bootstrap intervals, which the plan asks for, and repeated judge runs on a subset to measure stability. Tuesday and Wednesday: put the final numbers and figures into the report. Wednesday and Thursday: clean the GitHub repository, README and requirements. Thursday and Friday: proofread and check the IEEE format. Saturday: submit the report, slides and repository. The 510-item annotation round and the three missing techniques are future work beyond this deadline.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then up to 5 minutes of questions. Close with three points: the pipeline is complete and reproducible; the early results are encouraging but rest on ten items; and the plan to October 31 finishes the analysis and documentation. Likely questions: why these four techniques (control ladder from rule-based to checked LLM); why use judges from other families (avoid self-preference); why is kappa low (few yes answers, small sample); what would the main round change (narrower intervals, RQ3 and RQ4 become testable).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83615"/>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7242B"/>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35428"/>
            <a:ext cx="10566400" cy="4109772"/>
          </a:xfrm>
          <a:prstGeom prst="rect">
            <a:avLst/>
          </a:prstGeom>
          <a:noFill/>
          <a:ln/>
        </p:spPr>
        <p:txBody>
          <a:bodyPr wrap="square" lIns="0" tIns="0" rIns="0" bIns="0" rtlCol="0" anchor="t"/>
          <a:lstStyle>
            <a:lvl1pPr marL="0" indent="0" algn="l">
              <a:lnSpc>
                <a:spcPct val="140000"/>
              </a:lnSpc>
              <a:buNone/>
              <a:defRPr lang="en-US" sz="1600" dirty="0">
                <a:solidFill>
                  <a:srgbClr val="1724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745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47114"/>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17242B"/>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54821"/>
            <a:ext cx="10566400" cy="3990379"/>
          </a:xfrm>
          <a:prstGeom prst="rect">
            <a:avLst/>
          </a:prstGeom>
          <a:noFill/>
          <a:ln/>
        </p:spPr>
        <p:txBody>
          <a:bodyPr wrap="square" lIns="0" tIns="0" rIns="0" bIns="0" rtlCol="0" anchor="t"/>
          <a:lstStyle>
            <a:lvl1pPr marL="0" indent="0" algn="l">
              <a:lnSpc>
                <a:spcPct val="140000"/>
              </a:lnSpc>
              <a:buNone/>
              <a:defRPr lang="en-US" sz="1600" dirty="0">
                <a:solidFill>
                  <a:srgbClr val="1724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4007261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83615"/>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7242B"/>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35428"/>
            <a:ext cx="10566400" cy="4109772"/>
          </a:xfrm>
          <a:prstGeom prst="rect">
            <a:avLst/>
          </a:prstGeom>
          <a:noFill/>
          <a:ln/>
        </p:spPr>
        <p:txBody>
          <a:bodyPr wrap="square" lIns="0" tIns="0" rIns="0" bIns="0" rtlCol="0" anchor="t"/>
          <a:lstStyle>
            <a:lvl1pPr marL="0" indent="0" algn="l">
              <a:lnSpc>
                <a:spcPct val="140000"/>
              </a:lnSpc>
              <a:buNone/>
              <a:defRPr lang="en-US" sz="1600" dirty="0">
                <a:solidFill>
                  <a:srgbClr val="1724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47114"/>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17242B"/>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54821"/>
            <a:ext cx="10566400" cy="3990379"/>
          </a:xfrm>
          <a:prstGeom prst="rect">
            <a:avLst/>
          </a:prstGeom>
          <a:noFill/>
          <a:ln/>
        </p:spPr>
        <p:txBody>
          <a:bodyPr wrap="square" lIns="0" tIns="0" rIns="0" bIns="0" rtlCol="0" anchor="t"/>
          <a:lstStyle>
            <a:lvl1pPr marL="0" indent="0" algn="l">
              <a:lnSpc>
                <a:spcPct val="140000"/>
              </a:lnSpc>
              <a:buNone/>
              <a:defRPr lang="en-US" sz="1600" dirty="0">
                <a:solidFill>
                  <a:srgbClr val="1724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601880201"/>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E8845F"/>
                </a:solidFill>
                <a:latin typeface="IBM Plex Sans" pitchFamily="34" charset="0"/>
                <a:ea typeface="IBM Plex Sans" pitchFamily="34" charset="-122"/>
                <a:cs typeface="IBM Plex Sans" pitchFamily="34" charset="-120"/>
              </a:rPr>
              <a:t>NLP COURSE PROJECT · UNIVERSITY OF OULU · GROUP 22 </a:t>
            </a:r>
            <a:endParaRPr lang="en-US" sz="1300" dirty="0"/>
          </a:p>
        </p:txBody>
      </p:sp>
      <p:sp>
        <p:nvSpPr>
          <p:cNvPr id="3" name="Text 1"/>
          <p:cNvSpPr>
            <a:spLocks noGrp="1"/>
          </p:cNvSpPr>
          <p:nvPr>
            <p:ph type="title"/>
          </p:nvPr>
        </p:nvSpPr>
        <p:spPr>
          <a:xfrm>
            <a:off x="812800" y="2395934"/>
            <a:ext cx="9810750" cy="867370"/>
          </a:xfrm>
          <a:prstGeom prst="rect">
            <a:avLst/>
          </a:prstGeom>
          <a:noFill/>
          <a:ln/>
        </p:spPr>
        <p:txBody>
          <a:bodyPr wrap="square" lIns="0" tIns="0" rIns="0" bIns="0" rtlCol="0" anchor="t">
            <a:normAutofit/>
          </a:bodyPr>
          <a:lstStyle/>
          <a:p>
            <a:pPr marL="0" indent="0" algn="l">
              <a:lnSpc>
                <a:spcPts val="6630"/>
              </a:lnSpc>
              <a:buNone/>
            </a:pPr>
            <a:r>
              <a:rPr lang="en-US" sz="6500" b="0" i="0" dirty="0">
                <a:solidFill>
                  <a:srgbClr val="F6F3EC"/>
                </a:solidFill>
                <a:latin typeface="EB Garamond" pitchFamily="18" charset="0"/>
                <a:ea typeface="EB Garamond" pitchFamily="18" charset="-122"/>
                <a:cs typeface="EB Garamond" pitchFamily="18" charset="-120"/>
              </a:rPr>
              <a:t>FoodJudgeBench</a:t>
            </a:r>
            <a:endParaRPr lang="en-US" sz="6500" dirty="0"/>
          </a:p>
        </p:txBody>
      </p:sp>
      <p:sp>
        <p:nvSpPr>
          <p:cNvPr id="4" name="Text 2"/>
          <p:cNvSpPr/>
          <p:nvPr/>
        </p:nvSpPr>
        <p:spPr>
          <a:xfrm>
            <a:off x="812800" y="3415705"/>
            <a:ext cx="9810750"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D8D3C6"/>
                </a:solidFill>
                <a:latin typeface="IBM Plex Sans" pitchFamily="34" charset="0"/>
                <a:ea typeface="IBM Plex Sans" pitchFamily="34" charset="-122"/>
                <a:cs typeface="IBM Plex Sans" pitchFamily="34" charset="-120"/>
              </a:rPr>
              <a:t>Can LLM judges food-recommendation explanations as reliably as human annotators?</a:t>
            </a:r>
            <a:endParaRPr lang="en-US" sz="2200" dirty="0"/>
          </a:p>
        </p:txBody>
      </p:sp>
      <p:sp>
        <p:nvSpPr>
          <p:cNvPr id="5" name="Text 3"/>
          <p:cNvSpPr/>
          <p:nvPr/>
        </p:nvSpPr>
        <p:spPr>
          <a:xfrm>
            <a:off x="812800" y="5466159"/>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3EC"/>
                </a:solidFill>
                <a:latin typeface="IBM Plex Sans" pitchFamily="34" charset="0"/>
                <a:ea typeface="IBM Plex Sans" pitchFamily="34" charset="-122"/>
                <a:cs typeface="IBM Plex Sans" pitchFamily="34" charset="-120"/>
              </a:rPr>
              <a:t>Arshman Tariq (team leader) · Faisal Khan · Muhammad Faizan Tanveer</a:t>
            </a:r>
            <a:endParaRPr lang="en-US" sz="1600" dirty="0"/>
          </a:p>
        </p:txBody>
      </p:sp>
      <p:sp>
        <p:nvSpPr>
          <p:cNvPr id="6" name="Text 4"/>
          <p:cNvSpPr/>
          <p:nvPr/>
        </p:nvSpPr>
        <p:spPr>
          <a:xfrm>
            <a:off x="812800" y="5814087"/>
            <a:ext cx="10883392" cy="256514"/>
          </a:xfrm>
          <a:prstGeom prst="rect">
            <a:avLst/>
          </a:prstGeom>
          <a:noFill/>
          <a:ln/>
        </p:spPr>
        <p:txBody>
          <a:bodyPr wrap="square" lIns="0" tIns="0" rIns="0" bIns="0" rtlCol="0" anchor="t">
            <a:normAutofit/>
          </a:bodyPr>
          <a:lstStyle/>
          <a:p>
            <a:pPr>
              <a:lnSpc>
                <a:spcPts val="1820"/>
              </a:lnSpc>
            </a:pPr>
            <a:r>
              <a:rPr lang="en-US" sz="1400" dirty="0">
                <a:solidFill>
                  <a:srgbClr val="F6F3EC"/>
                </a:solidFill>
                <a:latin typeface="IBM Plex Sans" pitchFamily="34" charset="0"/>
                <a:ea typeface="IBM Plex Sans" pitchFamily="34" charset="-122"/>
                <a:cs typeface="IBM Plex Sans" pitchFamily="34" charset="-120"/>
              </a:rPr>
              <a:t>Project GitHub’s Repository: </a:t>
            </a:r>
            <a:r>
              <a:rPr lang="en-US" sz="1300" dirty="0">
                <a:solidFill>
                  <a:srgbClr val="9FB0B8"/>
                </a:solidFill>
                <a:latin typeface="IBM Plex Sans" pitchFamily="34" charset="0"/>
                <a:ea typeface="IBM Plex Sans" pitchFamily="34" charset="-122"/>
                <a:cs typeface="IBM Plex Sans" pitchFamily="34" charset="-120"/>
              </a:rPr>
              <a:t>https://github.com/arshmant25/FoodJudgeBench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ABSTRACT</a:t>
            </a:r>
            <a:endParaRPr lang="en-US" sz="1300" dirty="0"/>
          </a:p>
        </p:txBody>
      </p:sp>
      <p:sp>
        <p:nvSpPr>
          <p:cNvPr id="3" name="Text 1"/>
          <p:cNvSpPr>
            <a:spLocks noGrp="1"/>
          </p:cNvSpPr>
          <p:nvPr>
            <p:ph type="title"/>
          </p:nvPr>
        </p:nvSpPr>
        <p:spPr>
          <a:xfrm>
            <a:off x="812800" y="1183614"/>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LLMs write food explanations. Who checks them?</a:t>
            </a:r>
            <a:endParaRPr lang="en-US" sz="3200" dirty="0"/>
          </a:p>
        </p:txBody>
      </p:sp>
      <p:sp>
        <p:nvSpPr>
          <p:cNvPr id="4" name="Text 2"/>
          <p:cNvSpPr/>
          <p:nvPr/>
        </p:nvSpPr>
        <p:spPr>
          <a:xfrm>
            <a:off x="812800" y="1770328"/>
            <a:ext cx="10883392" cy="13112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42B"/>
                </a:solidFill>
                <a:latin typeface="IBM Plex Sans" pitchFamily="34" charset="0"/>
                <a:ea typeface="IBM Plex Sans" pitchFamily="34" charset="-122"/>
                <a:cs typeface="IBM Plex Sans" pitchFamily="34" charset="-120"/>
              </a:rPr>
              <a:t>LLMs now explain why a recipe suits a person, but they can invent preferences or state wrong facts, and nobody checks them at scale. Humans can, but slowly. FoodJudgeBench tests whether LLM judges can grade these explanations as reliably as humans. On the HUMMUS dataset we built 60 profiles (30 inferred from real reviews, 30 synthetic), picked 2 recipes each and wrote explanations with 4 techniques: 510 cases (480 + 15 diagnostic + 15 pair-wise). Three humans and three LLM judges grade them with the same 10-question rubric.</a:t>
            </a:r>
            <a:endParaRPr lang="en-US" sz="1500" dirty="0"/>
          </a:p>
        </p:txBody>
      </p:sp>
      <p:sp>
        <p:nvSpPr>
          <p:cNvPr id="5" name="Shape 3"/>
          <p:cNvSpPr/>
          <p:nvPr/>
        </p:nvSpPr>
        <p:spPr>
          <a:xfrm>
            <a:off x="815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6" name="Text 4"/>
          <p:cNvSpPr/>
          <p:nvPr/>
        </p:nvSpPr>
        <p:spPr>
          <a:xfrm>
            <a:off x="931333" y="3314436"/>
            <a:ext cx="1490133"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B2432A"/>
                </a:solidFill>
                <a:latin typeface="EB Garamond" pitchFamily="18" charset="0"/>
                <a:ea typeface="EB Garamond" pitchFamily="18" charset="-122"/>
                <a:cs typeface="EB Garamond" pitchFamily="18" charset="-120"/>
              </a:rPr>
              <a:t>60</a:t>
            </a:r>
            <a:endParaRPr lang="en-US" sz="2600" dirty="0"/>
          </a:p>
        </p:txBody>
      </p:sp>
      <p:sp>
        <p:nvSpPr>
          <p:cNvPr id="7" name="Text 5"/>
          <p:cNvSpPr/>
          <p:nvPr/>
        </p:nvSpPr>
        <p:spPr>
          <a:xfrm>
            <a:off x="931333"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profiles</a:t>
            </a:r>
            <a:endParaRPr lang="en-US" sz="1200" dirty="0"/>
          </a:p>
        </p:txBody>
      </p:sp>
      <p:sp>
        <p:nvSpPr>
          <p:cNvPr id="8" name="Shape 6"/>
          <p:cNvSpPr/>
          <p:nvPr/>
        </p:nvSpPr>
        <p:spPr>
          <a:xfrm>
            <a:off x="2593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9" name="Text 7"/>
          <p:cNvSpPr/>
          <p:nvPr/>
        </p:nvSpPr>
        <p:spPr>
          <a:xfrm>
            <a:off x="2709333" y="3314436"/>
            <a:ext cx="1490133"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B2432A"/>
                </a:solidFill>
                <a:latin typeface="EB Garamond" pitchFamily="18" charset="0"/>
                <a:ea typeface="EB Garamond" pitchFamily="18" charset="-122"/>
                <a:cs typeface="EB Garamond" pitchFamily="18" charset="-120"/>
              </a:rPr>
              <a:t>2</a:t>
            </a:r>
            <a:endParaRPr lang="en-US" sz="2600" dirty="0"/>
          </a:p>
        </p:txBody>
      </p:sp>
      <p:sp>
        <p:nvSpPr>
          <p:cNvPr id="10" name="Text 8"/>
          <p:cNvSpPr/>
          <p:nvPr/>
        </p:nvSpPr>
        <p:spPr>
          <a:xfrm>
            <a:off x="2709333"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recipes each</a:t>
            </a:r>
            <a:endParaRPr lang="en-US" sz="1200" dirty="0"/>
          </a:p>
        </p:txBody>
      </p:sp>
      <p:sp>
        <p:nvSpPr>
          <p:cNvPr id="11" name="Shape 9"/>
          <p:cNvSpPr/>
          <p:nvPr/>
        </p:nvSpPr>
        <p:spPr>
          <a:xfrm>
            <a:off x="4371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12" name="Text 10"/>
          <p:cNvSpPr/>
          <p:nvPr/>
        </p:nvSpPr>
        <p:spPr>
          <a:xfrm>
            <a:off x="4487333" y="3314436"/>
            <a:ext cx="1490133"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B2432A"/>
                </a:solidFill>
                <a:latin typeface="EB Garamond" pitchFamily="18" charset="0"/>
                <a:ea typeface="EB Garamond" pitchFamily="18" charset="-122"/>
                <a:cs typeface="EB Garamond" pitchFamily="18" charset="-120"/>
              </a:rPr>
              <a:t>4</a:t>
            </a:r>
            <a:endParaRPr lang="en-US" sz="2600" dirty="0"/>
          </a:p>
        </p:txBody>
      </p:sp>
      <p:sp>
        <p:nvSpPr>
          <p:cNvPr id="13" name="Text 11"/>
          <p:cNvSpPr/>
          <p:nvPr/>
        </p:nvSpPr>
        <p:spPr>
          <a:xfrm>
            <a:off x="4487333"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techniques</a:t>
            </a:r>
            <a:endParaRPr lang="en-US" sz="1200" dirty="0"/>
          </a:p>
        </p:txBody>
      </p:sp>
      <p:sp>
        <p:nvSpPr>
          <p:cNvPr id="14" name="Shape 12"/>
          <p:cNvSpPr/>
          <p:nvPr/>
        </p:nvSpPr>
        <p:spPr>
          <a:xfrm>
            <a:off x="6149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15" name="Text 13"/>
          <p:cNvSpPr/>
          <p:nvPr/>
        </p:nvSpPr>
        <p:spPr>
          <a:xfrm>
            <a:off x="6265333" y="3314436"/>
            <a:ext cx="1490133" cy="355600"/>
          </a:xfrm>
          <a:prstGeom prst="rect">
            <a:avLst/>
          </a:prstGeom>
          <a:noFill/>
          <a:ln/>
        </p:spPr>
        <p:txBody>
          <a:bodyPr wrap="square" lIns="0" tIns="0" rIns="0" bIns="0" rtlCol="0" anchor="t">
            <a:normAutofit/>
          </a:bodyPr>
          <a:lstStyle/>
          <a:p>
            <a:pPr marL="0" indent="0" algn="l">
              <a:lnSpc>
                <a:spcPts val="2600"/>
              </a:lnSpc>
              <a:buNone/>
            </a:pPr>
            <a:r>
              <a:rPr lang="fi-FI" sz="2600" dirty="0">
                <a:solidFill>
                  <a:srgbClr val="B2432A"/>
                </a:solidFill>
                <a:latin typeface="EB Garamond" pitchFamily="18" charset="0"/>
                <a:ea typeface="EB Garamond" pitchFamily="18" charset="-122"/>
              </a:rPr>
              <a:t>5</a:t>
            </a:r>
            <a:r>
              <a:rPr lang="en-US" sz="2600" dirty="0">
                <a:solidFill>
                  <a:srgbClr val="B2432A"/>
                </a:solidFill>
                <a:latin typeface="EB Garamond" pitchFamily="18" charset="0"/>
                <a:ea typeface="EB Garamond" pitchFamily="18" charset="-122"/>
              </a:rPr>
              <a:t>10</a:t>
            </a:r>
            <a:endParaRPr lang="en-US" sz="2600" dirty="0"/>
          </a:p>
        </p:txBody>
      </p:sp>
      <p:sp>
        <p:nvSpPr>
          <p:cNvPr id="16" name="Text 14"/>
          <p:cNvSpPr/>
          <p:nvPr/>
        </p:nvSpPr>
        <p:spPr>
          <a:xfrm>
            <a:off x="6265333"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cases to grade</a:t>
            </a:r>
            <a:endParaRPr lang="en-US" sz="1200" dirty="0"/>
          </a:p>
        </p:txBody>
      </p:sp>
      <p:sp>
        <p:nvSpPr>
          <p:cNvPr id="17" name="Shape 15"/>
          <p:cNvSpPr/>
          <p:nvPr/>
        </p:nvSpPr>
        <p:spPr>
          <a:xfrm>
            <a:off x="7927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18" name="Text 16"/>
          <p:cNvSpPr/>
          <p:nvPr/>
        </p:nvSpPr>
        <p:spPr>
          <a:xfrm>
            <a:off x="8043334" y="3314436"/>
            <a:ext cx="1490133"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B2432A"/>
                </a:solidFill>
                <a:latin typeface="EB Garamond" pitchFamily="18" charset="0"/>
                <a:ea typeface="EB Garamond" pitchFamily="18" charset="-122"/>
                <a:cs typeface="EB Garamond" pitchFamily="18" charset="-120"/>
              </a:rPr>
              <a:t>3</a:t>
            </a:r>
            <a:endParaRPr lang="en-US" sz="2600" dirty="0"/>
          </a:p>
        </p:txBody>
      </p:sp>
      <p:sp>
        <p:nvSpPr>
          <p:cNvPr id="19" name="Text 17"/>
          <p:cNvSpPr/>
          <p:nvPr/>
        </p:nvSpPr>
        <p:spPr>
          <a:xfrm>
            <a:off x="8043334"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human annotators</a:t>
            </a:r>
            <a:endParaRPr lang="en-US" sz="1200" dirty="0"/>
          </a:p>
        </p:txBody>
      </p:sp>
      <p:sp>
        <p:nvSpPr>
          <p:cNvPr id="20" name="Shape 18"/>
          <p:cNvSpPr/>
          <p:nvPr/>
        </p:nvSpPr>
        <p:spPr>
          <a:xfrm>
            <a:off x="9705975" y="3199078"/>
            <a:ext cx="1670050" cy="792030"/>
          </a:xfrm>
          <a:prstGeom prst="roundRect">
            <a:avLst>
              <a:gd name="adj" fmla="val 12427"/>
            </a:avLst>
          </a:prstGeom>
          <a:solidFill>
            <a:srgbClr val="FCFAF6"/>
          </a:solidFill>
          <a:ln w="6350">
            <a:solidFill>
              <a:srgbClr val="D9D3C4"/>
            </a:solidFill>
            <a:prstDash val="solid"/>
          </a:ln>
        </p:spPr>
        <p:txBody>
          <a:bodyPr/>
          <a:lstStyle/>
          <a:p>
            <a:endParaRPr lang="en-US"/>
          </a:p>
        </p:txBody>
      </p:sp>
      <p:sp>
        <p:nvSpPr>
          <p:cNvPr id="21" name="Text 19"/>
          <p:cNvSpPr/>
          <p:nvPr/>
        </p:nvSpPr>
        <p:spPr>
          <a:xfrm>
            <a:off x="9821334" y="3314436"/>
            <a:ext cx="1490133"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B2432A"/>
                </a:solidFill>
                <a:latin typeface="EB Garamond" pitchFamily="18" charset="0"/>
                <a:ea typeface="EB Garamond" pitchFamily="18" charset="-122"/>
                <a:cs typeface="EB Garamond" pitchFamily="18" charset="-120"/>
              </a:rPr>
              <a:t>3 x 3</a:t>
            </a:r>
            <a:endParaRPr lang="en-US" sz="2600" dirty="0"/>
          </a:p>
        </p:txBody>
      </p:sp>
      <p:sp>
        <p:nvSpPr>
          <p:cNvPr id="22" name="Text 20"/>
          <p:cNvSpPr/>
          <p:nvPr/>
        </p:nvSpPr>
        <p:spPr>
          <a:xfrm>
            <a:off x="9821334" y="3670036"/>
            <a:ext cx="1490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judges x setups</a:t>
            </a:r>
            <a:endParaRPr lang="en-US" sz="1200" dirty="0"/>
          </a:p>
        </p:txBody>
      </p:sp>
      <p:sp>
        <p:nvSpPr>
          <p:cNvPr id="23" name="Text 21"/>
          <p:cNvSpPr/>
          <p:nvPr/>
        </p:nvSpPr>
        <p:spPr>
          <a:xfrm>
            <a:off x="812800" y="4133983"/>
            <a:ext cx="108833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A"/>
                </a:solidFill>
                <a:latin typeface="IBM Plex Sans" pitchFamily="34" charset="0"/>
                <a:ea typeface="IBM Plex Sans" pitchFamily="34" charset="-122"/>
                <a:cs typeface="IBM Plex Sans" pitchFamily="34" charset="-120"/>
              </a:rPr>
              <a:t>Achieved: full pipeline and a 10-item human pilot. Not yet: the 510-item human round.</a:t>
            </a:r>
            <a:endParaRPr lang="en-US" sz="1300" dirty="0"/>
          </a:p>
        </p:txBody>
      </p:sp>
      <p:sp>
        <p:nvSpPr>
          <p:cNvPr id="24" name="Text 2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TOPICS INVESTIGATED</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Four research questions</a:t>
            </a:r>
            <a:endParaRPr lang="en-US" sz="3200" dirty="0"/>
          </a:p>
        </p:txBody>
      </p:sp>
      <p:sp>
        <p:nvSpPr>
          <p:cNvPr id="4" name="Shape 2"/>
          <p:cNvSpPr/>
          <p:nvPr/>
        </p:nvSpPr>
        <p:spPr>
          <a:xfrm>
            <a:off x="815975" y="1773503"/>
            <a:ext cx="2520950" cy="1990725"/>
          </a:xfrm>
          <a:prstGeom prst="roundRect">
            <a:avLst>
              <a:gd name="adj" fmla="val 4944"/>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1"/>
            <a:ext cx="222813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RQ1</a:t>
            </a:r>
            <a:endParaRPr lang="en-US" sz="2800" dirty="0"/>
          </a:p>
        </p:txBody>
      </p:sp>
      <p:sp>
        <p:nvSpPr>
          <p:cNvPr id="6" name="Text 4"/>
          <p:cNvSpPr/>
          <p:nvPr/>
        </p:nvSpPr>
        <p:spPr>
          <a:xfrm>
            <a:off x="994833" y="2384161"/>
            <a:ext cx="222813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Overall agreement</a:t>
            </a:r>
            <a:endParaRPr lang="en-US" sz="1600" dirty="0"/>
          </a:p>
        </p:txBody>
      </p:sp>
      <p:sp>
        <p:nvSpPr>
          <p:cNvPr id="7" name="Text 5"/>
          <p:cNvSpPr/>
          <p:nvPr/>
        </p:nvSpPr>
        <p:spPr>
          <a:xfrm>
            <a:off x="994833" y="2693988"/>
            <a:ext cx="2228130"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How closely do LLM judges agree with humans, compared with human-vs-human?</a:t>
            </a:r>
            <a:endParaRPr lang="en-US" sz="1300" dirty="0"/>
          </a:p>
        </p:txBody>
      </p:sp>
      <p:sp>
        <p:nvSpPr>
          <p:cNvPr id="8" name="Shape 6"/>
          <p:cNvSpPr/>
          <p:nvPr/>
        </p:nvSpPr>
        <p:spPr>
          <a:xfrm>
            <a:off x="3495675" y="1773503"/>
            <a:ext cx="2520950" cy="1990725"/>
          </a:xfrm>
          <a:prstGeom prst="roundRect">
            <a:avLst>
              <a:gd name="adj" fmla="val 4944"/>
            </a:avLst>
          </a:prstGeom>
          <a:solidFill>
            <a:srgbClr val="FCFAF6"/>
          </a:solidFill>
          <a:ln w="6350">
            <a:solidFill>
              <a:srgbClr val="D9D3C4"/>
            </a:solidFill>
            <a:prstDash val="solid"/>
          </a:ln>
        </p:spPr>
        <p:txBody>
          <a:bodyPr/>
          <a:lstStyle/>
          <a:p>
            <a:endParaRPr lang="en-US"/>
          </a:p>
        </p:txBody>
      </p:sp>
      <p:sp>
        <p:nvSpPr>
          <p:cNvPr id="9" name="Text 7"/>
          <p:cNvSpPr/>
          <p:nvPr/>
        </p:nvSpPr>
        <p:spPr>
          <a:xfrm>
            <a:off x="3674533" y="1952361"/>
            <a:ext cx="222813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RQ2</a:t>
            </a:r>
            <a:endParaRPr lang="en-US" sz="2800" dirty="0"/>
          </a:p>
        </p:txBody>
      </p:sp>
      <p:sp>
        <p:nvSpPr>
          <p:cNvPr id="10" name="Text 8"/>
          <p:cNvSpPr/>
          <p:nvPr/>
        </p:nvSpPr>
        <p:spPr>
          <a:xfrm>
            <a:off x="3674533" y="2384161"/>
            <a:ext cx="222813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Inferred vs stated</a:t>
            </a:r>
            <a:endParaRPr lang="en-US" sz="1600" dirty="0"/>
          </a:p>
        </p:txBody>
      </p:sp>
      <p:sp>
        <p:nvSpPr>
          <p:cNvPr id="11" name="Text 9"/>
          <p:cNvSpPr/>
          <p:nvPr/>
        </p:nvSpPr>
        <p:spPr>
          <a:xfrm>
            <a:off x="3674533" y="2693988"/>
            <a:ext cx="22281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Is judging harder when the profile is inferred from past reviews than when stated?</a:t>
            </a:r>
            <a:endParaRPr lang="en-US" sz="1300" dirty="0"/>
          </a:p>
        </p:txBody>
      </p:sp>
      <p:sp>
        <p:nvSpPr>
          <p:cNvPr id="12" name="Shape 10"/>
          <p:cNvSpPr/>
          <p:nvPr/>
        </p:nvSpPr>
        <p:spPr>
          <a:xfrm>
            <a:off x="6175375" y="1773503"/>
            <a:ext cx="2520950" cy="1990725"/>
          </a:xfrm>
          <a:prstGeom prst="roundRect">
            <a:avLst>
              <a:gd name="adj" fmla="val 4944"/>
            </a:avLst>
          </a:prstGeom>
          <a:solidFill>
            <a:srgbClr val="FCFAF6"/>
          </a:solidFill>
          <a:ln w="6350">
            <a:solidFill>
              <a:srgbClr val="D9D3C4"/>
            </a:solidFill>
            <a:prstDash val="solid"/>
          </a:ln>
        </p:spPr>
        <p:txBody>
          <a:bodyPr/>
          <a:lstStyle/>
          <a:p>
            <a:endParaRPr lang="en-US"/>
          </a:p>
        </p:txBody>
      </p:sp>
      <p:sp>
        <p:nvSpPr>
          <p:cNvPr id="13" name="Text 11"/>
          <p:cNvSpPr/>
          <p:nvPr/>
        </p:nvSpPr>
        <p:spPr>
          <a:xfrm>
            <a:off x="6354233" y="1952361"/>
            <a:ext cx="222813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RQ3</a:t>
            </a:r>
            <a:endParaRPr lang="en-US" sz="2800" dirty="0"/>
          </a:p>
        </p:txBody>
      </p:sp>
      <p:sp>
        <p:nvSpPr>
          <p:cNvPr id="14" name="Text 12"/>
          <p:cNvSpPr/>
          <p:nvPr/>
        </p:nvSpPr>
        <p:spPr>
          <a:xfrm>
            <a:off x="6354233" y="2384161"/>
            <a:ext cx="222813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Ranking techniques</a:t>
            </a:r>
            <a:endParaRPr lang="en-US" sz="1600" dirty="0"/>
          </a:p>
        </p:txBody>
      </p:sp>
      <p:sp>
        <p:nvSpPr>
          <p:cNvPr id="15" name="Text 13"/>
          <p:cNvSpPr/>
          <p:nvPr/>
        </p:nvSpPr>
        <p:spPr>
          <a:xfrm>
            <a:off x="6354233" y="2693988"/>
            <a:ext cx="22281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Do judges rank the four explanation techniques like humans do?</a:t>
            </a:r>
            <a:endParaRPr lang="en-US" sz="1300" dirty="0"/>
          </a:p>
        </p:txBody>
      </p:sp>
      <p:sp>
        <p:nvSpPr>
          <p:cNvPr id="16" name="Shape 14"/>
          <p:cNvSpPr/>
          <p:nvPr/>
        </p:nvSpPr>
        <p:spPr>
          <a:xfrm>
            <a:off x="8855075" y="1773503"/>
            <a:ext cx="2520950" cy="1990725"/>
          </a:xfrm>
          <a:prstGeom prst="roundRect">
            <a:avLst>
              <a:gd name="adj" fmla="val 4944"/>
            </a:avLst>
          </a:prstGeom>
          <a:solidFill>
            <a:srgbClr val="FCFAF6"/>
          </a:solidFill>
          <a:ln w="6350">
            <a:solidFill>
              <a:srgbClr val="D9D3C4"/>
            </a:solidFill>
            <a:prstDash val="solid"/>
          </a:ln>
        </p:spPr>
        <p:txBody>
          <a:bodyPr/>
          <a:lstStyle/>
          <a:p>
            <a:endParaRPr lang="en-US"/>
          </a:p>
        </p:txBody>
      </p:sp>
      <p:sp>
        <p:nvSpPr>
          <p:cNvPr id="17" name="Text 15"/>
          <p:cNvSpPr/>
          <p:nvPr/>
        </p:nvSpPr>
        <p:spPr>
          <a:xfrm>
            <a:off x="9033934" y="1952361"/>
            <a:ext cx="222813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RQ4</a:t>
            </a:r>
            <a:endParaRPr lang="en-US" sz="2800" dirty="0"/>
          </a:p>
        </p:txBody>
      </p:sp>
      <p:sp>
        <p:nvSpPr>
          <p:cNvPr id="18" name="Text 16"/>
          <p:cNvSpPr/>
          <p:nvPr/>
        </p:nvSpPr>
        <p:spPr>
          <a:xfrm>
            <a:off x="9033934" y="2384161"/>
            <a:ext cx="222813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Catching errors</a:t>
            </a:r>
            <a:endParaRPr lang="en-US" sz="1600" dirty="0"/>
          </a:p>
        </p:txBody>
      </p:sp>
      <p:sp>
        <p:nvSpPr>
          <p:cNvPr id="19" name="Text 17"/>
          <p:cNvSpPr/>
          <p:nvPr/>
        </p:nvSpPr>
        <p:spPr>
          <a:xfrm>
            <a:off x="9033934" y="2693988"/>
            <a:ext cx="2228130" cy="916781"/>
          </a:xfrm>
          <a:prstGeom prst="rect">
            <a:avLst/>
          </a:prstGeom>
          <a:noFill/>
          <a:ln/>
        </p:spPr>
        <p:txBody>
          <a:bodyPr wrap="square" lIns="0" tIns="0" rIns="0" bIns="0" rtlCol="0" anchor="t">
            <a:normAutofit fontScale="92500"/>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Which judging setup best detects diagnostic cases, i.e., invented personalization, wrong facts and ignored constraints?</a:t>
            </a:r>
            <a:endParaRPr lang="en-US" sz="13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RELEVANT PRIOR WORK</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What exists, and what is new</a:t>
            </a:r>
            <a:endParaRPr lang="en-US" sz="3200" dirty="0"/>
          </a:p>
        </p:txBody>
      </p:sp>
      <p:sp>
        <p:nvSpPr>
          <p:cNvPr id="4" name="Shape 2"/>
          <p:cNvSpPr/>
          <p:nvPr/>
        </p:nvSpPr>
        <p:spPr>
          <a:xfrm>
            <a:off x="815975" y="1773503"/>
            <a:ext cx="3414183" cy="2227461"/>
          </a:xfrm>
          <a:prstGeom prst="roundRect">
            <a:avLst>
              <a:gd name="adj" fmla="val 4419"/>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1"/>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Food and explanations</a:t>
            </a:r>
            <a:endParaRPr lang="en-US" sz="1600" dirty="0"/>
          </a:p>
        </p:txBody>
      </p:sp>
      <p:sp>
        <p:nvSpPr>
          <p:cNvPr id="6" name="Text 4"/>
          <p:cNvSpPr/>
          <p:nvPr/>
        </p:nvSpPr>
        <p:spPr>
          <a:xfrm>
            <a:off x="1080177" y="2262188"/>
            <a:ext cx="3055197" cy="158531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Min 2020</a:t>
            </a:r>
            <a:r>
              <a:rPr lang="en-US" sz="1300" dirty="0">
                <a:solidFill>
                  <a:srgbClr val="17242B"/>
                </a:solidFill>
                <a:latin typeface="IBM Plex Sans" pitchFamily="34" charset="0"/>
                <a:ea typeface="IBM Plex Sans" pitchFamily="34" charset="-122"/>
                <a:cs typeface="IBM Plex Sans" pitchFamily="34" charset="-120"/>
              </a:rPr>
              <a:t>: food recsys survey</a:t>
            </a:r>
            <a:endParaRPr lang="en-US" sz="1300" dirty="0"/>
          </a:p>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Trattner 2017</a:t>
            </a:r>
            <a:r>
              <a:rPr lang="en-US" sz="1300" dirty="0">
                <a:solidFill>
                  <a:srgbClr val="17242B"/>
                </a:solidFill>
                <a:latin typeface="IBM Plex Sans" pitchFamily="34" charset="0"/>
                <a:ea typeface="IBM Plex Sans" pitchFamily="34" charset="-122"/>
                <a:cs typeface="IBM Plex Sans" pitchFamily="34" charset="-120"/>
              </a:rPr>
              <a:t>: online recipes often unhealthy</a:t>
            </a:r>
            <a:endParaRPr lang="en-US" sz="1300" dirty="0"/>
          </a:p>
        </p:txBody>
      </p:sp>
      <p:sp>
        <p:nvSpPr>
          <p:cNvPr id="7" name="Shape 5"/>
          <p:cNvSpPr/>
          <p:nvPr/>
        </p:nvSpPr>
        <p:spPr>
          <a:xfrm>
            <a:off x="4388908" y="1773503"/>
            <a:ext cx="3414183" cy="2227461"/>
          </a:xfrm>
          <a:prstGeom prst="roundRect">
            <a:avLst>
              <a:gd name="adj" fmla="val 4419"/>
            </a:avLst>
          </a:prstGeom>
          <a:solidFill>
            <a:srgbClr val="FCFAF6"/>
          </a:solidFill>
          <a:ln w="6350">
            <a:solidFill>
              <a:srgbClr val="D9D3C4"/>
            </a:solidFill>
            <a:prstDash val="solid"/>
          </a:ln>
        </p:spPr>
        <p:txBody>
          <a:bodyPr/>
          <a:lstStyle/>
          <a:p>
            <a:endParaRPr lang="en-US"/>
          </a:p>
        </p:txBody>
      </p:sp>
      <p:sp>
        <p:nvSpPr>
          <p:cNvPr id="8" name="Text 6"/>
          <p:cNvSpPr/>
          <p:nvPr/>
        </p:nvSpPr>
        <p:spPr>
          <a:xfrm>
            <a:off x="4567767" y="1952361"/>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B2432A"/>
                </a:solidFill>
                <a:latin typeface="IBM Plex Sans" pitchFamily="34" charset="0"/>
                <a:ea typeface="IBM Plex Sans" pitchFamily="34" charset="-122"/>
                <a:cs typeface="IBM Plex Sans" pitchFamily="34" charset="-120"/>
              </a:rPr>
              <a:t>LLM as judge</a:t>
            </a:r>
            <a:endParaRPr lang="en-US" sz="1600" dirty="0"/>
          </a:p>
        </p:txBody>
      </p:sp>
      <p:sp>
        <p:nvSpPr>
          <p:cNvPr id="9" name="Text 7"/>
          <p:cNvSpPr/>
          <p:nvPr/>
        </p:nvSpPr>
        <p:spPr>
          <a:xfrm>
            <a:off x="4653111" y="2262188"/>
            <a:ext cx="305519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Zheng 2023</a:t>
            </a:r>
            <a:r>
              <a:rPr lang="en-US" sz="1300" dirty="0">
                <a:solidFill>
                  <a:srgbClr val="17242B"/>
                </a:solidFill>
                <a:latin typeface="IBM Plex Sans" pitchFamily="34" charset="0"/>
                <a:ea typeface="IBM Plex Sans" pitchFamily="34" charset="-122"/>
                <a:cs typeface="IBM Plex Sans" pitchFamily="34" charset="-120"/>
              </a:rPr>
              <a:t>: judges match humans on chat</a:t>
            </a:r>
            <a:endParaRPr lang="en-US" sz="1300" dirty="0"/>
          </a:p>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Gu 2024</a:t>
            </a:r>
            <a:r>
              <a:rPr lang="en-US" sz="1300" dirty="0">
                <a:solidFill>
                  <a:srgbClr val="17242B"/>
                </a:solidFill>
                <a:latin typeface="IBM Plex Sans" pitchFamily="34" charset="0"/>
                <a:ea typeface="IBM Plex Sans" pitchFamily="34" charset="-122"/>
                <a:cs typeface="IBM Plex Sans" pitchFamily="34" charset="-120"/>
              </a:rPr>
              <a:t>: survey and limits</a:t>
            </a:r>
            <a:endParaRPr lang="en-US" sz="1300" dirty="0"/>
          </a:p>
        </p:txBody>
      </p:sp>
      <p:sp>
        <p:nvSpPr>
          <p:cNvPr id="10" name="Shape 8"/>
          <p:cNvSpPr/>
          <p:nvPr/>
        </p:nvSpPr>
        <p:spPr>
          <a:xfrm>
            <a:off x="7961842" y="1773503"/>
            <a:ext cx="3414183" cy="2227461"/>
          </a:xfrm>
          <a:prstGeom prst="roundRect">
            <a:avLst>
              <a:gd name="adj" fmla="val 4419"/>
            </a:avLst>
          </a:prstGeom>
          <a:solidFill>
            <a:srgbClr val="FCFAF6"/>
          </a:solidFill>
          <a:ln w="6350">
            <a:solidFill>
              <a:srgbClr val="D9D3C4"/>
            </a:solidFill>
            <a:prstDash val="solid"/>
          </a:ln>
        </p:spPr>
        <p:txBody>
          <a:bodyPr/>
          <a:lstStyle/>
          <a:p>
            <a:endParaRPr lang="en-US"/>
          </a:p>
        </p:txBody>
      </p:sp>
      <p:sp>
        <p:nvSpPr>
          <p:cNvPr id="11" name="Text 9"/>
          <p:cNvSpPr/>
          <p:nvPr/>
        </p:nvSpPr>
        <p:spPr>
          <a:xfrm>
            <a:off x="8140700" y="1952361"/>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B07A12"/>
                </a:solidFill>
                <a:latin typeface="IBM Plex Sans" pitchFamily="34" charset="0"/>
                <a:ea typeface="IBM Plex Sans" pitchFamily="34" charset="-122"/>
                <a:cs typeface="IBM Plex Sans" pitchFamily="34" charset="-120"/>
              </a:rPr>
              <a:t>Biases and data</a:t>
            </a:r>
            <a:endParaRPr lang="en-US" sz="1600" dirty="0"/>
          </a:p>
        </p:txBody>
      </p:sp>
      <p:sp>
        <p:nvSpPr>
          <p:cNvPr id="12" name="Text 10"/>
          <p:cNvSpPr/>
          <p:nvPr/>
        </p:nvSpPr>
        <p:spPr>
          <a:xfrm>
            <a:off x="8226044" y="2262188"/>
            <a:ext cx="3055197" cy="916781"/>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Wang 2023</a:t>
            </a:r>
            <a:r>
              <a:rPr lang="en-US" sz="1300" dirty="0">
                <a:solidFill>
                  <a:srgbClr val="17242B"/>
                </a:solidFill>
                <a:latin typeface="IBM Plex Sans" pitchFamily="34" charset="0"/>
                <a:ea typeface="IBM Plex Sans" pitchFamily="34" charset="-122"/>
                <a:cs typeface="IBM Plex Sans" pitchFamily="34" charset="-120"/>
              </a:rPr>
              <a:t>: order bias</a:t>
            </a:r>
            <a:endParaRPr lang="en-US" sz="1300" dirty="0"/>
          </a:p>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Panickssery 2024</a:t>
            </a:r>
            <a:r>
              <a:rPr lang="en-US" sz="1300" dirty="0">
                <a:solidFill>
                  <a:srgbClr val="17242B"/>
                </a:solidFill>
                <a:latin typeface="IBM Plex Sans" pitchFamily="34" charset="0"/>
                <a:ea typeface="IBM Plex Sans" pitchFamily="34" charset="-122"/>
                <a:cs typeface="IBM Plex Sans" pitchFamily="34" charset="-120"/>
              </a:rPr>
              <a:t>: self-preference</a:t>
            </a:r>
            <a:endParaRPr lang="en-US" sz="1300" dirty="0"/>
          </a:p>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Bölz 2023</a:t>
            </a:r>
            <a:r>
              <a:rPr lang="en-US" sz="1300" dirty="0">
                <a:solidFill>
                  <a:srgbClr val="17242B"/>
                </a:solidFill>
                <a:latin typeface="IBM Plex Sans" pitchFamily="34" charset="0"/>
                <a:ea typeface="IBM Plex Sans" pitchFamily="34" charset="-122"/>
                <a:cs typeface="IBM Plex Sans" pitchFamily="34" charset="-120"/>
              </a:rPr>
              <a:t>: HUMMUS data</a:t>
            </a:r>
            <a:endParaRPr lang="en-US" sz="1300" dirty="0"/>
          </a:p>
          <a:p>
            <a:pPr marL="168656" indent="-168656" algn="l">
              <a:lnSpc>
                <a:spcPts val="1755"/>
              </a:lnSpc>
              <a:buSzPct val="100000"/>
              <a:buChar char="•"/>
            </a:pPr>
            <a:r>
              <a:rPr lang="en-US" sz="1300" b="1" dirty="0">
                <a:solidFill>
                  <a:srgbClr val="17242B"/>
                </a:solidFill>
                <a:latin typeface="IBM Plex Sans" pitchFamily="34" charset="0"/>
                <a:ea typeface="IBM Plex Sans" pitchFamily="34" charset="-122"/>
                <a:cs typeface="IBM Plex Sans" pitchFamily="34" charset="-120"/>
              </a:rPr>
              <a:t>Majumder 2019</a:t>
            </a:r>
            <a:r>
              <a:rPr lang="en-US" sz="1300" dirty="0">
                <a:solidFill>
                  <a:srgbClr val="17242B"/>
                </a:solidFill>
                <a:latin typeface="IBM Plex Sans" pitchFamily="34" charset="0"/>
                <a:ea typeface="IBM Plex Sans" pitchFamily="34" charset="-122"/>
                <a:cs typeface="IBM Plex Sans" pitchFamily="34" charset="-120"/>
              </a:rPr>
              <a:t>: Food.com data</a:t>
            </a:r>
            <a:endParaRPr lang="en-US" sz="1300" dirty="0"/>
          </a:p>
        </p:txBody>
      </p:sp>
      <p:sp>
        <p:nvSpPr>
          <p:cNvPr id="13" name="Text 11"/>
          <p:cNvSpPr/>
          <p:nvPr/>
        </p:nvSpPr>
        <p:spPr>
          <a:xfrm>
            <a:off x="815975" y="4147014"/>
            <a:ext cx="10560050" cy="1012815"/>
          </a:xfrm>
          <a:prstGeom prst="roundRect">
            <a:avLst>
              <a:gd name="adj" fmla="val 5818"/>
            </a:avLst>
          </a:prstGeom>
          <a:solidFill>
            <a:srgbClr val="ECE6D8"/>
          </a:solidFill>
          <a:ln w="6350">
            <a:solidFill>
              <a:srgbClr val="D9D3C4"/>
            </a:solidFill>
            <a:prstDash val="solid"/>
          </a:ln>
        </p:spPr>
        <p:txBody>
          <a:bodyPr wrap="square" lIns="150031" tIns="150031" rIns="0" bIns="150031" rtlCol="0" anchor="t">
            <a:normAutofit/>
          </a:bodyPr>
          <a:lstStyle/>
          <a:p>
            <a:pPr marL="0" indent="0" algn="l">
              <a:lnSpc>
                <a:spcPts val="1890"/>
              </a:lnSpc>
              <a:buNone/>
            </a:pPr>
            <a:r>
              <a:rPr lang="en-US" sz="1400" b="1" dirty="0">
                <a:solidFill>
                  <a:srgbClr val="17242B"/>
                </a:solidFill>
                <a:latin typeface="IBM Plex Sans" pitchFamily="34" charset="0"/>
                <a:ea typeface="IBM Plex Sans" pitchFamily="34" charset="-122"/>
                <a:cs typeface="IBM Plex Sans" pitchFamily="34" charset="-120"/>
              </a:rPr>
              <a:t>What is new:</a:t>
            </a:r>
            <a:r>
              <a:rPr lang="en-US" sz="1400" dirty="0">
                <a:solidFill>
                  <a:srgbClr val="17242B"/>
                </a:solidFill>
                <a:latin typeface="IBM Plex Sans" pitchFamily="34" charset="0"/>
                <a:ea typeface="IBM Plex Sans" pitchFamily="34" charset="-122"/>
                <a:cs typeface="IBM Plex Sans" pitchFamily="34" charset="-120"/>
              </a:rPr>
              <a:t> judges are tested on chat, not on food explanations about a specific person. We test 3 judges x 3 setups per question against a human-vs-human baseline, with flags for invented </a:t>
            </a:r>
            <a:r>
              <a:rPr lang="en-US" sz="1400" dirty="0" err="1">
                <a:solidFill>
                  <a:srgbClr val="17242B"/>
                </a:solidFill>
                <a:latin typeface="IBM Plex Sans" pitchFamily="34" charset="0"/>
                <a:ea typeface="IBM Plex Sans" pitchFamily="34" charset="-122"/>
                <a:cs typeface="IBM Plex Sans" pitchFamily="34" charset="-120"/>
              </a:rPr>
              <a:t>personalisation</a:t>
            </a:r>
            <a:r>
              <a:rPr lang="en-US" sz="1400" dirty="0">
                <a:solidFill>
                  <a:srgbClr val="17242B"/>
                </a:solidFill>
                <a:latin typeface="IBM Plex Sans" pitchFamily="34" charset="0"/>
                <a:ea typeface="IBM Plex Sans" pitchFamily="34" charset="-122"/>
                <a:cs typeface="IBM Plex Sans" pitchFamily="34" charset="-120"/>
              </a:rPr>
              <a:t>, wrong facts and ignored constraints.</a:t>
            </a:r>
            <a:endParaRPr lang="en-US" sz="1400" dirty="0"/>
          </a:p>
        </p:txBody>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4 / 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GROUP MEMBERS</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Who did what</a:t>
            </a:r>
            <a:endParaRPr lang="en-US" sz="3200" dirty="0"/>
          </a:p>
        </p:txBody>
      </p:sp>
      <p:sp>
        <p:nvSpPr>
          <p:cNvPr id="4" name="Shape 2"/>
          <p:cNvSpPr/>
          <p:nvPr/>
        </p:nvSpPr>
        <p:spPr>
          <a:xfrm>
            <a:off x="815975" y="1773504"/>
            <a:ext cx="3414183" cy="2095434"/>
          </a:xfrm>
          <a:prstGeom prst="roundRect">
            <a:avLst>
              <a:gd name="adj" fmla="val 4697"/>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1"/>
            <a:ext cx="3148161"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1F6F78"/>
                </a:solidFill>
                <a:latin typeface="IBM Plex Sans" pitchFamily="34" charset="0"/>
                <a:ea typeface="IBM Plex Sans" pitchFamily="34" charset="-122"/>
                <a:cs typeface="IBM Plex Sans" pitchFamily="34" charset="-120"/>
              </a:rPr>
              <a:t>Arshman Tariq</a:t>
            </a:r>
            <a:endParaRPr lang="en-US" sz="1700" dirty="0"/>
          </a:p>
        </p:txBody>
      </p:sp>
      <p:sp>
        <p:nvSpPr>
          <p:cNvPr id="6" name="Text 4"/>
          <p:cNvSpPr/>
          <p:nvPr/>
        </p:nvSpPr>
        <p:spPr>
          <a:xfrm>
            <a:off x="994833" y="2276807"/>
            <a:ext cx="3148161"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B2432A"/>
                </a:solidFill>
                <a:latin typeface="IBM Plex Sans" pitchFamily="34" charset="0"/>
                <a:ea typeface="IBM Plex Sans" pitchFamily="34" charset="-122"/>
                <a:cs typeface="IBM Plex Sans" pitchFamily="34" charset="-120"/>
              </a:rPr>
              <a:t>Team leader</a:t>
            </a:r>
            <a:endParaRPr lang="en-US" sz="1300" dirty="0"/>
          </a:p>
        </p:txBody>
      </p:sp>
      <p:sp>
        <p:nvSpPr>
          <p:cNvPr id="7" name="Text 5"/>
          <p:cNvSpPr/>
          <p:nvPr/>
        </p:nvSpPr>
        <p:spPr>
          <a:xfrm>
            <a:off x="1080177" y="2575852"/>
            <a:ext cx="305519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Data audit, detailed EDA</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Catalog and profiles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Baseline explanation generation</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Analysis of all annotations</a:t>
            </a:r>
            <a:endParaRPr lang="en-US" sz="1300" dirty="0"/>
          </a:p>
          <a:p>
            <a:pPr marL="168656" indent="-168656">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Annotations, Documentation</a:t>
            </a:r>
            <a:endParaRPr lang="en-US" sz="1300" dirty="0"/>
          </a:p>
        </p:txBody>
      </p:sp>
      <p:sp>
        <p:nvSpPr>
          <p:cNvPr id="8" name="Shape 6"/>
          <p:cNvSpPr/>
          <p:nvPr/>
        </p:nvSpPr>
        <p:spPr>
          <a:xfrm>
            <a:off x="4388908" y="1773504"/>
            <a:ext cx="3414183" cy="2095434"/>
          </a:xfrm>
          <a:prstGeom prst="roundRect">
            <a:avLst>
              <a:gd name="adj" fmla="val 4697"/>
            </a:avLst>
          </a:prstGeom>
          <a:solidFill>
            <a:srgbClr val="FCFAF6"/>
          </a:solidFill>
          <a:ln w="6350">
            <a:solidFill>
              <a:srgbClr val="D9D3C4"/>
            </a:solidFill>
            <a:prstDash val="solid"/>
          </a:ln>
        </p:spPr>
        <p:txBody>
          <a:bodyPr/>
          <a:lstStyle/>
          <a:p>
            <a:endParaRPr lang="en-US"/>
          </a:p>
        </p:txBody>
      </p:sp>
      <p:sp>
        <p:nvSpPr>
          <p:cNvPr id="9" name="Text 7"/>
          <p:cNvSpPr/>
          <p:nvPr/>
        </p:nvSpPr>
        <p:spPr>
          <a:xfrm>
            <a:off x="4567767" y="1952361"/>
            <a:ext cx="3148161"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1F6F78"/>
                </a:solidFill>
                <a:latin typeface="IBM Plex Sans" pitchFamily="34" charset="0"/>
                <a:ea typeface="IBM Plex Sans" pitchFamily="34" charset="-122"/>
                <a:cs typeface="IBM Plex Sans" pitchFamily="34" charset="-120"/>
              </a:rPr>
              <a:t>Faisal Khan</a:t>
            </a:r>
            <a:endParaRPr lang="en-US" sz="1700" dirty="0"/>
          </a:p>
        </p:txBody>
      </p:sp>
      <p:sp>
        <p:nvSpPr>
          <p:cNvPr id="10" name="Text 8"/>
          <p:cNvSpPr/>
          <p:nvPr/>
        </p:nvSpPr>
        <p:spPr>
          <a:xfrm>
            <a:off x="4653111" y="2353007"/>
            <a:ext cx="3055197" cy="916781"/>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Research and data audit</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Recommendation pooling</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Rubrics and case bank</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Annotations, documentation</a:t>
            </a:r>
            <a:endParaRPr lang="en-US" sz="1300" dirty="0"/>
          </a:p>
        </p:txBody>
      </p:sp>
      <p:sp>
        <p:nvSpPr>
          <p:cNvPr id="11" name="Shape 9"/>
          <p:cNvSpPr/>
          <p:nvPr/>
        </p:nvSpPr>
        <p:spPr>
          <a:xfrm>
            <a:off x="7961842" y="1773504"/>
            <a:ext cx="3414183" cy="2095434"/>
          </a:xfrm>
          <a:prstGeom prst="roundRect">
            <a:avLst>
              <a:gd name="adj" fmla="val 4697"/>
            </a:avLst>
          </a:prstGeom>
          <a:solidFill>
            <a:srgbClr val="FCFAF6"/>
          </a:solidFill>
          <a:ln w="6350">
            <a:solidFill>
              <a:srgbClr val="D9D3C4"/>
            </a:solidFill>
            <a:prstDash val="solid"/>
          </a:ln>
        </p:spPr>
        <p:txBody>
          <a:bodyPr/>
          <a:lstStyle/>
          <a:p>
            <a:endParaRPr lang="en-US" dirty="0"/>
          </a:p>
        </p:txBody>
      </p:sp>
      <p:sp>
        <p:nvSpPr>
          <p:cNvPr id="12" name="Text 10"/>
          <p:cNvSpPr/>
          <p:nvPr/>
        </p:nvSpPr>
        <p:spPr>
          <a:xfrm>
            <a:off x="8140700" y="1952361"/>
            <a:ext cx="3148161"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1F6F78"/>
                </a:solidFill>
                <a:latin typeface="IBM Plex Sans" pitchFamily="34" charset="0"/>
                <a:ea typeface="IBM Plex Sans" pitchFamily="34" charset="-122"/>
                <a:cs typeface="IBM Plex Sans" pitchFamily="34" charset="-120"/>
              </a:rPr>
              <a:t>Muhammad Faizan Tanveer</a:t>
            </a:r>
            <a:endParaRPr lang="en-US" sz="1700" dirty="0"/>
          </a:p>
        </p:txBody>
      </p:sp>
      <p:sp>
        <p:nvSpPr>
          <p:cNvPr id="13" name="Text 11"/>
          <p:cNvSpPr/>
          <p:nvPr/>
        </p:nvSpPr>
        <p:spPr>
          <a:xfrm>
            <a:off x="8226044" y="2353007"/>
            <a:ext cx="305519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Research, data audit, basic EDA</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Fine-tuned explanation generation</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LLM judgments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LLM-vs-human analysis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Annotations, documentation</a:t>
            </a:r>
            <a:endParaRPr lang="en-US" sz="1300" dirty="0"/>
          </a:p>
        </p:txBody>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a:lnSpc>
                <a:spcPts val="1680"/>
              </a:lnSpc>
            </a:pPr>
            <a:r>
              <a:rPr lang="en-US" sz="1200" dirty="0">
                <a:solidFill>
                  <a:srgbClr val="55606A"/>
                </a:solidFill>
                <a:latin typeface="IBM Plex Sans" pitchFamily="34" charset="0"/>
                <a:ea typeface="IBM Plex Sans" pitchFamily="34" charset="-122"/>
                <a:cs typeface="IBM Plex Sans" pitchFamily="34" charset="-120"/>
              </a:rPr>
              <a:t>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DATA SOURCES</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HUMMUS (Food.com): three tables</a:t>
            </a:r>
            <a:endParaRPr lang="en-US" sz="3200" dirty="0"/>
          </a:p>
        </p:txBody>
      </p:sp>
      <p:sp>
        <p:nvSpPr>
          <p:cNvPr id="4" name="Shape 2"/>
          <p:cNvSpPr/>
          <p:nvPr/>
        </p:nvSpPr>
        <p:spPr>
          <a:xfrm>
            <a:off x="815975" y="1773504"/>
            <a:ext cx="3343606" cy="1793280"/>
          </a:xfrm>
          <a:prstGeom prst="roundRect">
            <a:avLst>
              <a:gd name="adj" fmla="val 5489"/>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69433" y="1926961"/>
            <a:ext cx="312779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Recipes</a:t>
            </a:r>
            <a:endParaRPr lang="en-US" sz="1600" dirty="0"/>
          </a:p>
        </p:txBody>
      </p:sp>
      <p:sp>
        <p:nvSpPr>
          <p:cNvPr id="6" name="Text 4"/>
          <p:cNvSpPr/>
          <p:nvPr/>
        </p:nvSpPr>
        <p:spPr>
          <a:xfrm>
            <a:off x="969433" y="2236788"/>
            <a:ext cx="312779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507,335</a:t>
            </a:r>
            <a:endParaRPr lang="en-US" sz="2800" dirty="0"/>
          </a:p>
        </p:txBody>
      </p:sp>
      <p:sp>
        <p:nvSpPr>
          <p:cNvPr id="7" name="Text 5"/>
          <p:cNvSpPr/>
          <p:nvPr/>
        </p:nvSpPr>
        <p:spPr>
          <a:xfrm>
            <a:off x="969433" y="2668588"/>
            <a:ext cx="312779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A"/>
                </a:solidFill>
                <a:latin typeface="IBM Plex Sans" pitchFamily="34" charset="0"/>
                <a:ea typeface="IBM Plex Sans" pitchFamily="34" charset="-122"/>
                <a:cs typeface="IBM Plex Sans" pitchFamily="34" charset="-120"/>
              </a:rPr>
              <a:t>x 36 columns</a:t>
            </a:r>
            <a:endParaRPr lang="en-US" sz="1300" dirty="0"/>
          </a:p>
        </p:txBody>
      </p:sp>
      <p:sp>
        <p:nvSpPr>
          <p:cNvPr id="8" name="Text 6"/>
          <p:cNvSpPr/>
          <p:nvPr/>
        </p:nvSpPr>
        <p:spPr>
          <a:xfrm>
            <a:off x="969433" y="2967633"/>
            <a:ext cx="312779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Nutrition, tags, time, WHO / FSA scores. 45% have usable tags.</a:t>
            </a:r>
            <a:endParaRPr lang="en-US" sz="1300" dirty="0"/>
          </a:p>
        </p:txBody>
      </p:sp>
      <p:sp>
        <p:nvSpPr>
          <p:cNvPr id="9" name="Shape 7"/>
          <p:cNvSpPr/>
          <p:nvPr/>
        </p:nvSpPr>
        <p:spPr>
          <a:xfrm>
            <a:off x="815975" y="3700134"/>
            <a:ext cx="3343606" cy="1793280"/>
          </a:xfrm>
          <a:prstGeom prst="roundRect">
            <a:avLst>
              <a:gd name="adj" fmla="val 5489"/>
            </a:avLst>
          </a:prstGeom>
          <a:solidFill>
            <a:srgbClr val="FCFAF6"/>
          </a:solidFill>
          <a:ln w="6350">
            <a:solidFill>
              <a:srgbClr val="D9D3C4"/>
            </a:solidFill>
            <a:prstDash val="solid"/>
          </a:ln>
        </p:spPr>
        <p:txBody>
          <a:bodyPr/>
          <a:lstStyle/>
          <a:p>
            <a:endParaRPr lang="en-US"/>
          </a:p>
        </p:txBody>
      </p:sp>
      <p:sp>
        <p:nvSpPr>
          <p:cNvPr id="10" name="Text 8"/>
          <p:cNvSpPr/>
          <p:nvPr/>
        </p:nvSpPr>
        <p:spPr>
          <a:xfrm>
            <a:off x="969433" y="3853591"/>
            <a:ext cx="3127790"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Members</a:t>
            </a:r>
            <a:endParaRPr lang="en-US" sz="1600" dirty="0"/>
          </a:p>
        </p:txBody>
      </p:sp>
      <p:sp>
        <p:nvSpPr>
          <p:cNvPr id="11" name="Text 9"/>
          <p:cNvSpPr/>
          <p:nvPr/>
        </p:nvSpPr>
        <p:spPr>
          <a:xfrm>
            <a:off x="969433" y="4163417"/>
            <a:ext cx="3127790"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B2432A"/>
                </a:solidFill>
                <a:latin typeface="EB Garamond" pitchFamily="18" charset="0"/>
                <a:ea typeface="EB Garamond" pitchFamily="18" charset="-122"/>
                <a:cs typeface="EB Garamond" pitchFamily="18" charset="-120"/>
              </a:rPr>
              <a:t>299,583</a:t>
            </a:r>
            <a:endParaRPr lang="en-US" sz="2800" dirty="0"/>
          </a:p>
        </p:txBody>
      </p:sp>
      <p:sp>
        <p:nvSpPr>
          <p:cNvPr id="12" name="Text 10"/>
          <p:cNvSpPr/>
          <p:nvPr/>
        </p:nvSpPr>
        <p:spPr>
          <a:xfrm>
            <a:off x="969433" y="4595217"/>
            <a:ext cx="312779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A"/>
                </a:solidFill>
                <a:latin typeface="IBM Plex Sans" pitchFamily="34" charset="0"/>
                <a:ea typeface="IBM Plex Sans" pitchFamily="34" charset="-122"/>
                <a:cs typeface="IBM Plex Sans" pitchFamily="34" charset="-120"/>
              </a:rPr>
              <a:t>x 7 columns</a:t>
            </a:r>
            <a:endParaRPr lang="en-US" sz="1300" dirty="0"/>
          </a:p>
        </p:txBody>
      </p:sp>
      <p:sp>
        <p:nvSpPr>
          <p:cNvPr id="13" name="Text 11"/>
          <p:cNvSpPr/>
          <p:nvPr/>
        </p:nvSpPr>
        <p:spPr>
          <a:xfrm>
            <a:off x="969433" y="4894263"/>
            <a:ext cx="312779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Mostly empty profiles. Median reviewer wrote 1 review.</a:t>
            </a:r>
            <a:endParaRPr lang="en-US" sz="1300" dirty="0"/>
          </a:p>
        </p:txBody>
      </p:sp>
      <p:sp>
        <p:nvSpPr>
          <p:cNvPr id="14" name="Shape 12"/>
          <p:cNvSpPr/>
          <p:nvPr/>
        </p:nvSpPr>
        <p:spPr>
          <a:xfrm>
            <a:off x="4318331" y="1773504"/>
            <a:ext cx="7057695" cy="3719909"/>
          </a:xfrm>
          <a:prstGeom prst="roundRect">
            <a:avLst>
              <a:gd name="adj" fmla="val 2646"/>
            </a:avLst>
          </a:prstGeom>
          <a:solidFill>
            <a:srgbClr val="FCFAF6"/>
          </a:solidFill>
          <a:ln w="6350">
            <a:solidFill>
              <a:srgbClr val="D9D3C4"/>
            </a:solidFill>
            <a:prstDash val="solid"/>
          </a:ln>
        </p:spPr>
        <p:txBody>
          <a:bodyPr/>
          <a:lstStyle/>
          <a:p>
            <a:endParaRPr lang="en-US"/>
          </a:p>
        </p:txBody>
      </p:sp>
      <p:sp>
        <p:nvSpPr>
          <p:cNvPr id="15" name="Text 13"/>
          <p:cNvSpPr/>
          <p:nvPr/>
        </p:nvSpPr>
        <p:spPr>
          <a:xfrm>
            <a:off x="4497189" y="1952361"/>
            <a:ext cx="6900977"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Reviews · 1,916,424 rows x 9 columns</a:t>
            </a:r>
            <a:endParaRPr lang="en-US" sz="1500" dirty="0"/>
          </a:p>
        </p:txBody>
      </p:sp>
      <p:sp>
        <p:nvSpPr>
          <p:cNvPr id="16" name="Text 14"/>
          <p:cNvSpPr/>
          <p:nvPr/>
        </p:nvSpPr>
        <p:spPr>
          <a:xfrm>
            <a:off x="4497189" y="2247636"/>
            <a:ext cx="6900977"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Rating distribution (1.41M true reviews)</a:t>
            </a:r>
            <a:endParaRPr lang="en-US" sz="1200" dirty="0"/>
          </a:p>
        </p:txBody>
      </p:sp>
      <p:sp>
        <p:nvSpPr>
          <p:cNvPr id="17" name="Text 15"/>
          <p:cNvSpPr/>
          <p:nvPr/>
        </p:nvSpPr>
        <p:spPr>
          <a:xfrm>
            <a:off x="4497189" y="2529551"/>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1 star</a:t>
            </a:r>
            <a:endParaRPr lang="en-US" sz="1200" dirty="0"/>
          </a:p>
        </p:txBody>
      </p:sp>
      <p:sp>
        <p:nvSpPr>
          <p:cNvPr id="18" name="Shape 16"/>
          <p:cNvSpPr/>
          <p:nvPr/>
        </p:nvSpPr>
        <p:spPr>
          <a:xfrm>
            <a:off x="5779889" y="2553627"/>
            <a:ext cx="3048000" cy="165100"/>
          </a:xfrm>
          <a:prstGeom prst="roundRect">
            <a:avLst>
              <a:gd name="adj" fmla="val 23077"/>
            </a:avLst>
          </a:prstGeom>
          <a:solidFill>
            <a:srgbClr val="E4DECE"/>
          </a:solidFill>
          <a:ln/>
        </p:spPr>
        <p:txBody>
          <a:bodyPr/>
          <a:lstStyle/>
          <a:p>
            <a:endParaRPr lang="en-US"/>
          </a:p>
        </p:txBody>
      </p:sp>
      <p:sp>
        <p:nvSpPr>
          <p:cNvPr id="19" name="Shape 17"/>
          <p:cNvSpPr/>
          <p:nvPr/>
        </p:nvSpPr>
        <p:spPr>
          <a:xfrm>
            <a:off x="5779889" y="2553627"/>
            <a:ext cx="44450" cy="165100"/>
          </a:xfrm>
          <a:prstGeom prst="roundRect">
            <a:avLst>
              <a:gd name="adj" fmla="val 50000"/>
            </a:avLst>
          </a:prstGeom>
          <a:solidFill>
            <a:srgbClr val="B2432A"/>
          </a:solidFill>
          <a:ln/>
        </p:spPr>
        <p:txBody>
          <a:bodyPr/>
          <a:lstStyle/>
          <a:p>
            <a:endParaRPr lang="en-US"/>
          </a:p>
        </p:txBody>
      </p:sp>
      <p:sp>
        <p:nvSpPr>
          <p:cNvPr id="20" name="Text 18"/>
          <p:cNvSpPr/>
          <p:nvPr/>
        </p:nvSpPr>
        <p:spPr>
          <a:xfrm>
            <a:off x="8904089" y="252955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1.2%</a:t>
            </a:r>
            <a:endParaRPr lang="en-US" sz="1200" dirty="0"/>
          </a:p>
        </p:txBody>
      </p:sp>
      <p:sp>
        <p:nvSpPr>
          <p:cNvPr id="21" name="Text 19"/>
          <p:cNvSpPr/>
          <p:nvPr/>
        </p:nvSpPr>
        <p:spPr>
          <a:xfrm>
            <a:off x="4497189" y="2793671"/>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2 stars</a:t>
            </a:r>
            <a:endParaRPr lang="en-US" sz="1200" dirty="0"/>
          </a:p>
        </p:txBody>
      </p:sp>
      <p:sp>
        <p:nvSpPr>
          <p:cNvPr id="22" name="Shape 20"/>
          <p:cNvSpPr/>
          <p:nvPr/>
        </p:nvSpPr>
        <p:spPr>
          <a:xfrm>
            <a:off x="5779889" y="2817747"/>
            <a:ext cx="3048000" cy="165100"/>
          </a:xfrm>
          <a:prstGeom prst="roundRect">
            <a:avLst>
              <a:gd name="adj" fmla="val 23077"/>
            </a:avLst>
          </a:prstGeom>
          <a:solidFill>
            <a:srgbClr val="E4DECE"/>
          </a:solidFill>
          <a:ln/>
        </p:spPr>
        <p:txBody>
          <a:bodyPr/>
          <a:lstStyle/>
          <a:p>
            <a:endParaRPr lang="en-US"/>
          </a:p>
        </p:txBody>
      </p:sp>
      <p:sp>
        <p:nvSpPr>
          <p:cNvPr id="23" name="Shape 21"/>
          <p:cNvSpPr/>
          <p:nvPr/>
        </p:nvSpPr>
        <p:spPr>
          <a:xfrm>
            <a:off x="5779889" y="2817747"/>
            <a:ext cx="50800" cy="165100"/>
          </a:xfrm>
          <a:prstGeom prst="roundRect">
            <a:avLst>
              <a:gd name="adj" fmla="val 50000"/>
            </a:avLst>
          </a:prstGeom>
          <a:solidFill>
            <a:srgbClr val="B2432A"/>
          </a:solidFill>
          <a:ln/>
        </p:spPr>
        <p:txBody>
          <a:bodyPr/>
          <a:lstStyle/>
          <a:p>
            <a:endParaRPr lang="en-US"/>
          </a:p>
        </p:txBody>
      </p:sp>
      <p:sp>
        <p:nvSpPr>
          <p:cNvPr id="24" name="Text 22"/>
          <p:cNvSpPr/>
          <p:nvPr/>
        </p:nvSpPr>
        <p:spPr>
          <a:xfrm>
            <a:off x="8904089" y="279367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1.3%</a:t>
            </a:r>
            <a:endParaRPr lang="en-US" sz="1200" dirty="0"/>
          </a:p>
        </p:txBody>
      </p:sp>
      <p:sp>
        <p:nvSpPr>
          <p:cNvPr id="25" name="Text 23"/>
          <p:cNvSpPr/>
          <p:nvPr/>
        </p:nvSpPr>
        <p:spPr>
          <a:xfrm>
            <a:off x="4497189" y="3057792"/>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2.5 stars*</a:t>
            </a:r>
            <a:endParaRPr lang="en-US" sz="1200" dirty="0"/>
          </a:p>
        </p:txBody>
      </p:sp>
      <p:sp>
        <p:nvSpPr>
          <p:cNvPr id="26" name="Shape 24"/>
          <p:cNvSpPr/>
          <p:nvPr/>
        </p:nvSpPr>
        <p:spPr>
          <a:xfrm>
            <a:off x="5779889" y="3081868"/>
            <a:ext cx="3048000" cy="165100"/>
          </a:xfrm>
          <a:prstGeom prst="roundRect">
            <a:avLst>
              <a:gd name="adj" fmla="val 23077"/>
            </a:avLst>
          </a:prstGeom>
          <a:solidFill>
            <a:srgbClr val="E4DECE"/>
          </a:solidFill>
          <a:ln/>
        </p:spPr>
        <p:txBody>
          <a:bodyPr/>
          <a:lstStyle/>
          <a:p>
            <a:endParaRPr lang="en-US"/>
          </a:p>
        </p:txBody>
      </p:sp>
      <p:sp>
        <p:nvSpPr>
          <p:cNvPr id="27" name="Shape 25"/>
          <p:cNvSpPr/>
          <p:nvPr/>
        </p:nvSpPr>
        <p:spPr>
          <a:xfrm>
            <a:off x="5779889" y="3081868"/>
            <a:ext cx="228600" cy="165100"/>
          </a:xfrm>
          <a:prstGeom prst="roundRect">
            <a:avLst>
              <a:gd name="adj" fmla="val 23077"/>
            </a:avLst>
          </a:prstGeom>
          <a:solidFill>
            <a:srgbClr val="B2432A"/>
          </a:solidFill>
          <a:ln/>
        </p:spPr>
        <p:txBody>
          <a:bodyPr/>
          <a:lstStyle/>
          <a:p>
            <a:endParaRPr lang="en-US"/>
          </a:p>
        </p:txBody>
      </p:sp>
      <p:sp>
        <p:nvSpPr>
          <p:cNvPr id="28" name="Text 26"/>
          <p:cNvSpPr/>
          <p:nvPr/>
        </p:nvSpPr>
        <p:spPr>
          <a:xfrm>
            <a:off x="8904089" y="305779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5.5%</a:t>
            </a:r>
            <a:endParaRPr lang="en-US" sz="1200" dirty="0"/>
          </a:p>
        </p:txBody>
      </p:sp>
      <p:sp>
        <p:nvSpPr>
          <p:cNvPr id="29" name="Text 27"/>
          <p:cNvSpPr/>
          <p:nvPr/>
        </p:nvSpPr>
        <p:spPr>
          <a:xfrm>
            <a:off x="4497189" y="3321912"/>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3 stars</a:t>
            </a:r>
            <a:endParaRPr lang="en-US" sz="1200" dirty="0"/>
          </a:p>
        </p:txBody>
      </p:sp>
      <p:sp>
        <p:nvSpPr>
          <p:cNvPr id="30" name="Shape 28"/>
          <p:cNvSpPr/>
          <p:nvPr/>
        </p:nvSpPr>
        <p:spPr>
          <a:xfrm>
            <a:off x="5779889" y="3345988"/>
            <a:ext cx="3048000" cy="165100"/>
          </a:xfrm>
          <a:prstGeom prst="roundRect">
            <a:avLst>
              <a:gd name="adj" fmla="val 23077"/>
            </a:avLst>
          </a:prstGeom>
          <a:solidFill>
            <a:srgbClr val="E4DECE"/>
          </a:solidFill>
          <a:ln/>
        </p:spPr>
        <p:txBody>
          <a:bodyPr/>
          <a:lstStyle/>
          <a:p>
            <a:endParaRPr lang="en-US"/>
          </a:p>
        </p:txBody>
      </p:sp>
      <p:sp>
        <p:nvSpPr>
          <p:cNvPr id="31" name="Shape 29"/>
          <p:cNvSpPr/>
          <p:nvPr/>
        </p:nvSpPr>
        <p:spPr>
          <a:xfrm>
            <a:off x="5779889" y="3345988"/>
            <a:ext cx="146050" cy="165100"/>
          </a:xfrm>
          <a:prstGeom prst="roundRect">
            <a:avLst>
              <a:gd name="adj" fmla="val 26087"/>
            </a:avLst>
          </a:prstGeom>
          <a:solidFill>
            <a:srgbClr val="B2432A"/>
          </a:solidFill>
          <a:ln/>
        </p:spPr>
        <p:txBody>
          <a:bodyPr/>
          <a:lstStyle/>
          <a:p>
            <a:endParaRPr lang="en-US"/>
          </a:p>
        </p:txBody>
      </p:sp>
      <p:sp>
        <p:nvSpPr>
          <p:cNvPr id="32" name="Text 30"/>
          <p:cNvSpPr/>
          <p:nvPr/>
        </p:nvSpPr>
        <p:spPr>
          <a:xfrm>
            <a:off x="8904089" y="332191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3.6%</a:t>
            </a:r>
            <a:endParaRPr lang="en-US" sz="1200" dirty="0"/>
          </a:p>
        </p:txBody>
      </p:sp>
      <p:sp>
        <p:nvSpPr>
          <p:cNvPr id="33" name="Text 31"/>
          <p:cNvSpPr/>
          <p:nvPr/>
        </p:nvSpPr>
        <p:spPr>
          <a:xfrm>
            <a:off x="4497189" y="3586032"/>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4 stars</a:t>
            </a:r>
            <a:endParaRPr lang="en-US" sz="1200" dirty="0"/>
          </a:p>
        </p:txBody>
      </p:sp>
      <p:sp>
        <p:nvSpPr>
          <p:cNvPr id="34" name="Shape 32"/>
          <p:cNvSpPr/>
          <p:nvPr/>
        </p:nvSpPr>
        <p:spPr>
          <a:xfrm>
            <a:off x="5779889" y="3610108"/>
            <a:ext cx="3048000" cy="165100"/>
          </a:xfrm>
          <a:prstGeom prst="roundRect">
            <a:avLst>
              <a:gd name="adj" fmla="val 23077"/>
            </a:avLst>
          </a:prstGeom>
          <a:solidFill>
            <a:srgbClr val="E4DECE"/>
          </a:solidFill>
          <a:ln/>
        </p:spPr>
        <p:txBody>
          <a:bodyPr/>
          <a:lstStyle/>
          <a:p>
            <a:endParaRPr lang="en-US"/>
          </a:p>
        </p:txBody>
      </p:sp>
      <p:sp>
        <p:nvSpPr>
          <p:cNvPr id="35" name="Shape 33"/>
          <p:cNvSpPr/>
          <p:nvPr/>
        </p:nvSpPr>
        <p:spPr>
          <a:xfrm>
            <a:off x="5779889" y="3610108"/>
            <a:ext cx="685800" cy="165100"/>
          </a:xfrm>
          <a:prstGeom prst="roundRect">
            <a:avLst>
              <a:gd name="adj" fmla="val 23077"/>
            </a:avLst>
          </a:prstGeom>
          <a:solidFill>
            <a:srgbClr val="B2432A"/>
          </a:solidFill>
          <a:ln/>
        </p:spPr>
        <p:txBody>
          <a:bodyPr/>
          <a:lstStyle/>
          <a:p>
            <a:endParaRPr lang="en-US"/>
          </a:p>
        </p:txBody>
      </p:sp>
      <p:sp>
        <p:nvSpPr>
          <p:cNvPr id="36" name="Text 34"/>
          <p:cNvSpPr/>
          <p:nvPr/>
        </p:nvSpPr>
        <p:spPr>
          <a:xfrm>
            <a:off x="8904089" y="358603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16.3%</a:t>
            </a:r>
            <a:endParaRPr lang="en-US" sz="1200" dirty="0"/>
          </a:p>
        </p:txBody>
      </p:sp>
      <p:sp>
        <p:nvSpPr>
          <p:cNvPr id="37" name="Text 35"/>
          <p:cNvSpPr/>
          <p:nvPr/>
        </p:nvSpPr>
        <p:spPr>
          <a:xfrm>
            <a:off x="4497189" y="3850153"/>
            <a:ext cx="1257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5 stars</a:t>
            </a:r>
            <a:endParaRPr lang="en-US" sz="1200" dirty="0"/>
          </a:p>
        </p:txBody>
      </p:sp>
      <p:sp>
        <p:nvSpPr>
          <p:cNvPr id="38" name="Shape 36"/>
          <p:cNvSpPr/>
          <p:nvPr/>
        </p:nvSpPr>
        <p:spPr>
          <a:xfrm>
            <a:off x="5779889" y="3874229"/>
            <a:ext cx="3048000" cy="165100"/>
          </a:xfrm>
          <a:prstGeom prst="roundRect">
            <a:avLst>
              <a:gd name="adj" fmla="val 23077"/>
            </a:avLst>
          </a:prstGeom>
          <a:solidFill>
            <a:srgbClr val="E4DECE"/>
          </a:solidFill>
          <a:ln/>
        </p:spPr>
        <p:txBody>
          <a:bodyPr/>
          <a:lstStyle/>
          <a:p>
            <a:endParaRPr lang="en-US"/>
          </a:p>
        </p:txBody>
      </p:sp>
      <p:sp>
        <p:nvSpPr>
          <p:cNvPr id="39" name="Shape 37"/>
          <p:cNvSpPr/>
          <p:nvPr/>
        </p:nvSpPr>
        <p:spPr>
          <a:xfrm>
            <a:off x="5779889" y="3874229"/>
            <a:ext cx="3048000" cy="165100"/>
          </a:xfrm>
          <a:prstGeom prst="roundRect">
            <a:avLst>
              <a:gd name="adj" fmla="val 23077"/>
            </a:avLst>
          </a:prstGeom>
          <a:solidFill>
            <a:srgbClr val="B2432A"/>
          </a:solidFill>
          <a:ln/>
        </p:spPr>
        <p:txBody>
          <a:bodyPr/>
          <a:lstStyle/>
          <a:p>
            <a:endParaRPr lang="en-US"/>
          </a:p>
        </p:txBody>
      </p:sp>
      <p:sp>
        <p:nvSpPr>
          <p:cNvPr id="40" name="Text 38"/>
          <p:cNvSpPr/>
          <p:nvPr/>
        </p:nvSpPr>
        <p:spPr>
          <a:xfrm>
            <a:off x="8904089" y="3850153"/>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72.2%</a:t>
            </a:r>
            <a:endParaRPr lang="en-US" sz="1200" dirty="0"/>
          </a:p>
        </p:txBody>
      </p:sp>
      <p:sp>
        <p:nvSpPr>
          <p:cNvPr id="41" name="Text 39"/>
          <p:cNvSpPr/>
          <p:nvPr/>
        </p:nvSpPr>
        <p:spPr>
          <a:xfrm>
            <a:off x="812800" y="5636289"/>
            <a:ext cx="10883392"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 2.5 = imputed "no stars", not a dislike. 506k "rating 6" rows are authorship, not reviews. Source: Notebook 1 EDA.</a:t>
            </a:r>
            <a:endParaRPr lang="en-US" sz="1200" dirty="0"/>
          </a:p>
        </p:txBody>
      </p:sp>
      <p:sp>
        <p:nvSpPr>
          <p:cNvPr id="42" name="Text 4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43" name="Text 41"/>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B2432A"/>
                </a:solidFill>
                <a:effectLst/>
                <a:uLnTx/>
                <a:uFillTx/>
                <a:latin typeface="IBM Plex Sans" pitchFamily="34" charset="0"/>
                <a:ea typeface="IBM Plex Sans" pitchFamily="34" charset="-122"/>
                <a:cs typeface="IBM Plex Sans" pitchFamily="34" charset="-120"/>
              </a:rPr>
              <a:t>TECHNOLOGIES</a:t>
            </a:r>
            <a:r>
              <a:rPr lang="en-US" sz="1300" b="1" kern="0" spc="100" dirty="0">
                <a:solidFill>
                  <a:srgbClr val="B2432A"/>
                </a:solidFill>
                <a:latin typeface="IBM Plex Sans" pitchFamily="34" charset="0"/>
                <a:ea typeface="IBM Plex Sans" pitchFamily="34" charset="-122"/>
                <a:cs typeface="IBM Plex Sans" pitchFamily="34" charset="-120"/>
              </a:rPr>
              <a:t> AND</a:t>
            </a:r>
            <a:r>
              <a:rPr kumimoji="0" lang="en-US" sz="1300" b="1" i="0" u="none" strike="noStrike" kern="0" cap="none" spc="100" normalizeH="0" baseline="0" noProof="0" dirty="0">
                <a:ln>
                  <a:noFill/>
                </a:ln>
                <a:solidFill>
                  <a:srgbClr val="B2432A"/>
                </a:solidFill>
                <a:effectLst/>
                <a:uLnTx/>
                <a:uFillTx/>
                <a:latin typeface="IBM Plex Sans" pitchFamily="34" charset="0"/>
                <a:ea typeface="IBM Plex Sans" pitchFamily="34" charset="-122"/>
                <a:cs typeface="IBM Plex Sans" pitchFamily="34" charset="-120"/>
              </a:rPr>
              <a:t> EXISTING TOOLS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3" name="Text 1"/>
          <p:cNvSpPr>
            <a:spLocks noGrp="1"/>
          </p:cNvSpPr>
          <p:nvPr>
            <p:ph type="title"/>
          </p:nvPr>
        </p:nvSpPr>
        <p:spPr>
          <a:xfrm>
            <a:off x="812800" y="12471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7242B"/>
                </a:solidFill>
                <a:latin typeface="EB Garamond" pitchFamily="18" charset="0"/>
                <a:ea typeface="EB Garamond" pitchFamily="18" charset="-122"/>
                <a:cs typeface="EB Garamond" pitchFamily="18" charset="-120"/>
              </a:rPr>
              <a:t>What we build on</a:t>
            </a:r>
            <a:endParaRPr lang="en-US" sz="3600" dirty="0"/>
          </a:p>
        </p:txBody>
      </p:sp>
      <p:sp>
        <p:nvSpPr>
          <p:cNvPr id="7" name="Shape 5"/>
          <p:cNvSpPr/>
          <p:nvPr/>
        </p:nvSpPr>
        <p:spPr>
          <a:xfrm>
            <a:off x="846474" y="1956395"/>
            <a:ext cx="4929175" cy="2093091"/>
          </a:xfrm>
          <a:prstGeom prst="roundRect">
            <a:avLst>
              <a:gd name="adj" fmla="val 4150"/>
            </a:avLst>
          </a:prstGeom>
          <a:solidFill>
            <a:srgbClr val="FCFAF6"/>
          </a:solidFill>
          <a:ln w="6350">
            <a:solidFill>
              <a:srgbClr val="D9D3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8" name="Text 6"/>
          <p:cNvSpPr/>
          <p:nvPr/>
        </p:nvSpPr>
        <p:spPr>
          <a:xfrm>
            <a:off x="1050732" y="2160656"/>
            <a:ext cx="427704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lang="en-US" sz="1600" b="1" dirty="0">
                <a:solidFill>
                  <a:srgbClr val="1F6F78"/>
                </a:solidFill>
                <a:latin typeface="IBM Plex Sans" pitchFamily="34" charset="0"/>
              </a:rPr>
              <a:t>Existing Tools: Python and Version Control</a:t>
            </a:r>
            <a:endParaRPr kumimoji="0" lang="en-US" sz="16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9" name="Text 7"/>
          <p:cNvSpPr/>
          <p:nvPr/>
        </p:nvSpPr>
        <p:spPr>
          <a:xfrm>
            <a:off x="1136076" y="2506067"/>
            <a:ext cx="4443629" cy="1643195"/>
          </a:xfrm>
          <a:prstGeom prst="rect">
            <a:avLst/>
          </a:prstGeom>
          <a:noFill/>
          <a:ln/>
        </p:spPr>
        <p:txBody>
          <a:bodyPr wrap="square" lIns="0" tIns="0" rIns="0" bIns="0" rtlCol="0" anchor="t">
            <a:normAutofit/>
          </a:bodyPr>
          <a:lstStyle/>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Python and Jupyter notebooks, one per pipeline step</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lang="en-US" sz="1300" dirty="0">
                <a:solidFill>
                  <a:srgbClr val="17242B"/>
                </a:solidFill>
                <a:latin typeface="IBM Plex Sans" pitchFamily="34" charset="0"/>
                <a:ea typeface="IBM Plex Sans" pitchFamily="34" charset="-122"/>
                <a:cs typeface="IBM Plex Sans" pitchFamily="34" charset="-120"/>
              </a:rPr>
              <a:t>P</a:t>
            </a:r>
            <a:r>
              <a:rPr kumimoji="0" lang="en-US" sz="1300" b="0" i="0" u="none" strike="noStrike" kern="1200" cap="none" spc="0" normalizeH="0" baseline="0" noProof="0" dirty="0" err="1">
                <a:ln>
                  <a:noFill/>
                </a:ln>
                <a:solidFill>
                  <a:srgbClr val="17242B"/>
                </a:solidFill>
                <a:effectLst/>
                <a:uLnTx/>
                <a:uFillTx/>
                <a:latin typeface="IBM Plex Sans" pitchFamily="34" charset="0"/>
                <a:ea typeface="IBM Plex Sans" pitchFamily="34" charset="-122"/>
                <a:cs typeface="IBM Plex Sans" pitchFamily="34" charset="-120"/>
              </a:rPr>
              <a:t>andas</a:t>
            </a: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 NumPy, SciPy, </a:t>
            </a:r>
            <a:r>
              <a:rPr kumimoji="0" lang="en-US" sz="1300" b="0" i="0" u="none" strike="noStrike" kern="1200" cap="none" spc="0" normalizeH="0" baseline="0" noProof="0" dirty="0" err="1">
                <a:ln>
                  <a:noFill/>
                </a:ln>
                <a:solidFill>
                  <a:srgbClr val="17242B"/>
                </a:solidFill>
                <a:effectLst/>
                <a:uLnTx/>
                <a:uFillTx/>
                <a:latin typeface="IBM Plex Sans" pitchFamily="34" charset="0"/>
                <a:ea typeface="IBM Plex Sans" pitchFamily="34" charset="-122"/>
                <a:cs typeface="IBM Plex Sans" pitchFamily="34" charset="-120"/>
              </a:rPr>
              <a:t>PyArrow</a:t>
            </a: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 Matplotlib, Seaborn</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Offline HTML and JavaScript annotation forms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GitHub and VS Code (any IDE)</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0" name="Shape 8"/>
          <p:cNvSpPr/>
          <p:nvPr/>
        </p:nvSpPr>
        <p:spPr>
          <a:xfrm>
            <a:off x="6021074" y="1956395"/>
            <a:ext cx="5120193" cy="2093091"/>
          </a:xfrm>
          <a:prstGeom prst="roundRect">
            <a:avLst>
              <a:gd name="adj" fmla="val 4150"/>
            </a:avLst>
          </a:prstGeom>
          <a:solidFill>
            <a:srgbClr val="FCFAF6"/>
          </a:solidFill>
          <a:ln w="6350">
            <a:solidFill>
              <a:srgbClr val="D9D3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FI"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1" name="Text 9"/>
          <p:cNvSpPr/>
          <p:nvPr/>
        </p:nvSpPr>
        <p:spPr>
          <a:xfrm>
            <a:off x="6225332" y="2160656"/>
            <a:ext cx="4092367" cy="2692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lang="en-US" sz="1600" b="1" dirty="0">
                <a:solidFill>
                  <a:srgbClr val="1F6F78"/>
                </a:solidFill>
                <a:latin typeface="IBM Plex Sans" pitchFamily="34" charset="0"/>
                <a:ea typeface="IBM Plex Sans" pitchFamily="34" charset="-122"/>
                <a:cs typeface="IBM Plex Sans" pitchFamily="34" charset="-120"/>
              </a:rPr>
              <a:t>Technologies: NLP and LLM</a:t>
            </a:r>
            <a:endParaRPr kumimoji="0" lang="en-US" sz="16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2" name="Text 10"/>
          <p:cNvSpPr/>
          <p:nvPr/>
        </p:nvSpPr>
        <p:spPr>
          <a:xfrm>
            <a:off x="6310676" y="2506067"/>
            <a:ext cx="4652793" cy="1643195"/>
          </a:xfrm>
          <a:prstGeom prst="rect">
            <a:avLst/>
          </a:prstGeom>
          <a:noFill/>
          <a:ln/>
        </p:spPr>
        <p:txBody>
          <a:bodyPr wrap="square" lIns="0" tIns="0" rIns="0" bIns="0" rtlCol="0" anchor="t">
            <a:normAutofit/>
          </a:bodyPr>
          <a:lstStyle/>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Ollama: local LLM server</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Llama 3.1 8B writes explanations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Qwen 2.5 14B audits claims and judges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marR="0" lvl="0" indent="-168656" algn="l" defTabSz="914400" rtl="0" eaLnBrk="1" fontAlgn="auto" latinLnBrk="0" hangingPunct="1">
              <a:lnSpc>
                <a:spcPts val="182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Gemma 2 9B and Phi-4 judge</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a:p>
            <a:pPr marL="168656" lvl="0" indent="-168656">
              <a:lnSpc>
                <a:spcPts val="1820"/>
              </a:lnSpc>
              <a:buSzPct val="100000"/>
              <a:buFontTx/>
              <a:buChar char="•"/>
            </a:pPr>
            <a:r>
              <a:rPr lang="en-US" sz="1300" dirty="0">
                <a:solidFill>
                  <a:srgbClr val="17242B"/>
                </a:solidFill>
                <a:latin typeface="IBM Plex Sans" pitchFamily="34" charset="0"/>
                <a:ea typeface="IBM Plex Sans" pitchFamily="34" charset="-122"/>
                <a:cs typeface="IBM Plex Sans" pitchFamily="34" charset="-120"/>
              </a:rPr>
              <a:t>Scikit-learn and </a:t>
            </a: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TF-IDF for recommendation</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The HUMMUS data is not redistributed: the repository holds code and derived files only.</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lang="en-US" sz="1200" dirty="0">
                <a:solidFill>
                  <a:srgbClr val="55606A"/>
                </a:solidFill>
                <a:latin typeface="IBM Plex Sans" pitchFamily="34" charset="0"/>
                <a:ea typeface="IBM Plex Sans" pitchFamily="34" charset="-122"/>
                <a:cs typeface="IBM Plex Sans" pitchFamily="34" charset="-120"/>
              </a:rPr>
              <a:t>7</a:t>
            </a: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 / </a:t>
            </a:r>
            <a:r>
              <a:rPr lang="en-US" sz="1200" dirty="0">
                <a:solidFill>
                  <a:srgbClr val="55606A"/>
                </a:solidFill>
                <a:latin typeface="IBM Plex Sans" pitchFamily="34" charset="0"/>
                <a:ea typeface="IBM Plex Sans" pitchFamily="34" charset="-122"/>
                <a:cs typeface="IBM Plex Sans" pitchFamily="34" charset="-120"/>
              </a:rPr>
              <a:t>20</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OVERVIEW</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From raw reviews to judge-vs-human results</a:t>
            </a:r>
            <a:endParaRPr lang="en-US" sz="3200" dirty="0"/>
          </a:p>
        </p:txBody>
      </p:sp>
      <p:sp>
        <p:nvSpPr>
          <p:cNvPr id="4" name="Shape 2"/>
          <p:cNvSpPr/>
          <p:nvPr/>
        </p:nvSpPr>
        <p:spPr>
          <a:xfrm>
            <a:off x="812800" y="1770329"/>
            <a:ext cx="1714500" cy="734020"/>
          </a:xfrm>
          <a:prstGeom prst="roundRect">
            <a:avLst>
              <a:gd name="adj" fmla="val 12111"/>
            </a:avLst>
          </a:prstGeom>
          <a:solidFill>
            <a:srgbClr val="17242B"/>
          </a:solidFill>
          <a:ln/>
        </p:spPr>
        <p:txBody>
          <a:bodyPr/>
          <a:lstStyle/>
          <a:p>
            <a:endParaRPr lang="en-US"/>
          </a:p>
        </p:txBody>
      </p:sp>
      <p:sp>
        <p:nvSpPr>
          <p:cNvPr id="5" name="Text 3"/>
          <p:cNvSpPr/>
          <p:nvPr/>
        </p:nvSpPr>
        <p:spPr>
          <a:xfrm>
            <a:off x="850900" y="1884629"/>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NB1</a:t>
            </a:r>
            <a:endParaRPr lang="en-US" sz="1500" dirty="0"/>
          </a:p>
        </p:txBody>
      </p:sp>
      <p:sp>
        <p:nvSpPr>
          <p:cNvPr id="6" name="Text 4"/>
          <p:cNvSpPr/>
          <p:nvPr/>
        </p:nvSpPr>
        <p:spPr>
          <a:xfrm>
            <a:off x="850900" y="2176729"/>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EDA and clean</a:t>
            </a:r>
            <a:endParaRPr lang="en-US" sz="1200" dirty="0"/>
          </a:p>
        </p:txBody>
      </p:sp>
      <p:sp>
        <p:nvSpPr>
          <p:cNvPr id="7" name="Text 5"/>
          <p:cNvSpPr/>
          <p:nvPr/>
        </p:nvSpPr>
        <p:spPr>
          <a:xfrm>
            <a:off x="2550160" y="1941779"/>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8" name="Shape 6"/>
          <p:cNvSpPr/>
          <p:nvPr/>
        </p:nvSpPr>
        <p:spPr>
          <a:xfrm>
            <a:off x="2908300" y="1770329"/>
            <a:ext cx="1714500" cy="734020"/>
          </a:xfrm>
          <a:prstGeom prst="roundRect">
            <a:avLst>
              <a:gd name="adj" fmla="val 12111"/>
            </a:avLst>
          </a:prstGeom>
          <a:solidFill>
            <a:srgbClr val="17242B"/>
          </a:solidFill>
          <a:ln/>
        </p:spPr>
        <p:txBody>
          <a:bodyPr/>
          <a:lstStyle/>
          <a:p>
            <a:endParaRPr lang="en-US"/>
          </a:p>
        </p:txBody>
      </p:sp>
      <p:sp>
        <p:nvSpPr>
          <p:cNvPr id="9" name="Text 7"/>
          <p:cNvSpPr/>
          <p:nvPr/>
        </p:nvSpPr>
        <p:spPr>
          <a:xfrm>
            <a:off x="2946400" y="1884629"/>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NB2</a:t>
            </a:r>
            <a:endParaRPr lang="en-US" sz="1500" dirty="0"/>
          </a:p>
        </p:txBody>
      </p:sp>
      <p:sp>
        <p:nvSpPr>
          <p:cNvPr id="10" name="Text 8"/>
          <p:cNvSpPr/>
          <p:nvPr/>
        </p:nvSpPr>
        <p:spPr>
          <a:xfrm>
            <a:off x="2946400" y="2176729"/>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Catalog</a:t>
            </a:r>
            <a:endParaRPr lang="en-US" sz="1200" dirty="0"/>
          </a:p>
        </p:txBody>
      </p:sp>
      <p:sp>
        <p:nvSpPr>
          <p:cNvPr id="11" name="Text 9"/>
          <p:cNvSpPr/>
          <p:nvPr/>
        </p:nvSpPr>
        <p:spPr>
          <a:xfrm>
            <a:off x="4645660" y="1941779"/>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12" name="Shape 10"/>
          <p:cNvSpPr/>
          <p:nvPr/>
        </p:nvSpPr>
        <p:spPr>
          <a:xfrm>
            <a:off x="5003800" y="1770329"/>
            <a:ext cx="1714500" cy="734020"/>
          </a:xfrm>
          <a:prstGeom prst="roundRect">
            <a:avLst>
              <a:gd name="adj" fmla="val 12111"/>
            </a:avLst>
          </a:prstGeom>
          <a:solidFill>
            <a:srgbClr val="17242B"/>
          </a:solidFill>
          <a:ln/>
        </p:spPr>
        <p:txBody>
          <a:bodyPr/>
          <a:lstStyle/>
          <a:p>
            <a:endParaRPr lang="en-US"/>
          </a:p>
        </p:txBody>
      </p:sp>
      <p:sp>
        <p:nvSpPr>
          <p:cNvPr id="13" name="Text 11"/>
          <p:cNvSpPr/>
          <p:nvPr/>
        </p:nvSpPr>
        <p:spPr>
          <a:xfrm>
            <a:off x="5041900" y="1884629"/>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NB3</a:t>
            </a:r>
            <a:endParaRPr lang="en-US" sz="1500" dirty="0"/>
          </a:p>
        </p:txBody>
      </p:sp>
      <p:sp>
        <p:nvSpPr>
          <p:cNvPr id="14" name="Text 12"/>
          <p:cNvSpPr/>
          <p:nvPr/>
        </p:nvSpPr>
        <p:spPr>
          <a:xfrm>
            <a:off x="5041900" y="2176729"/>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Profiles</a:t>
            </a:r>
            <a:endParaRPr lang="en-US" sz="1200" dirty="0"/>
          </a:p>
        </p:txBody>
      </p:sp>
      <p:sp>
        <p:nvSpPr>
          <p:cNvPr id="15" name="Text 13"/>
          <p:cNvSpPr/>
          <p:nvPr/>
        </p:nvSpPr>
        <p:spPr>
          <a:xfrm>
            <a:off x="6741160" y="1941779"/>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16" name="Shape 14"/>
          <p:cNvSpPr/>
          <p:nvPr/>
        </p:nvSpPr>
        <p:spPr>
          <a:xfrm>
            <a:off x="7099300" y="1770329"/>
            <a:ext cx="1714500" cy="734020"/>
          </a:xfrm>
          <a:prstGeom prst="roundRect">
            <a:avLst>
              <a:gd name="adj" fmla="val 12111"/>
            </a:avLst>
          </a:prstGeom>
          <a:solidFill>
            <a:srgbClr val="17242B"/>
          </a:solidFill>
          <a:ln/>
        </p:spPr>
        <p:txBody>
          <a:bodyPr/>
          <a:lstStyle/>
          <a:p>
            <a:endParaRPr lang="en-US"/>
          </a:p>
        </p:txBody>
      </p:sp>
      <p:sp>
        <p:nvSpPr>
          <p:cNvPr id="17" name="Text 15"/>
          <p:cNvSpPr/>
          <p:nvPr/>
        </p:nvSpPr>
        <p:spPr>
          <a:xfrm>
            <a:off x="7137400" y="1884629"/>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NB4</a:t>
            </a:r>
            <a:endParaRPr lang="en-US" sz="1500" dirty="0"/>
          </a:p>
        </p:txBody>
      </p:sp>
      <p:sp>
        <p:nvSpPr>
          <p:cNvPr id="18" name="Text 16"/>
          <p:cNvSpPr/>
          <p:nvPr/>
        </p:nvSpPr>
        <p:spPr>
          <a:xfrm>
            <a:off x="7137400" y="2176729"/>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Recs pool</a:t>
            </a:r>
            <a:endParaRPr lang="en-US" sz="1200" dirty="0"/>
          </a:p>
        </p:txBody>
      </p:sp>
      <p:sp>
        <p:nvSpPr>
          <p:cNvPr id="19" name="Text 17"/>
          <p:cNvSpPr/>
          <p:nvPr/>
        </p:nvSpPr>
        <p:spPr>
          <a:xfrm>
            <a:off x="8836660" y="1941779"/>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20" name="Shape 18"/>
          <p:cNvSpPr/>
          <p:nvPr/>
        </p:nvSpPr>
        <p:spPr>
          <a:xfrm>
            <a:off x="9194800" y="1770329"/>
            <a:ext cx="1714500" cy="734020"/>
          </a:xfrm>
          <a:prstGeom prst="roundRect">
            <a:avLst>
              <a:gd name="adj" fmla="val 12111"/>
            </a:avLst>
          </a:prstGeom>
          <a:solidFill>
            <a:srgbClr val="B2432A"/>
          </a:solidFill>
          <a:ln/>
        </p:spPr>
        <p:txBody>
          <a:bodyPr/>
          <a:lstStyle/>
          <a:p>
            <a:endParaRPr lang="en-US"/>
          </a:p>
        </p:txBody>
      </p:sp>
      <p:sp>
        <p:nvSpPr>
          <p:cNvPr id="21" name="Text 19"/>
          <p:cNvSpPr/>
          <p:nvPr/>
        </p:nvSpPr>
        <p:spPr>
          <a:xfrm>
            <a:off x="9232900" y="1884629"/>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NB5</a:t>
            </a:r>
            <a:endParaRPr lang="en-US" sz="1500" dirty="0"/>
          </a:p>
        </p:txBody>
      </p:sp>
      <p:sp>
        <p:nvSpPr>
          <p:cNvPr id="22" name="Text 20"/>
          <p:cNvSpPr/>
          <p:nvPr/>
        </p:nvSpPr>
        <p:spPr>
          <a:xfrm>
            <a:off x="9232900" y="2176729"/>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Explanations</a:t>
            </a:r>
            <a:endParaRPr lang="en-US" sz="1200" dirty="0"/>
          </a:p>
        </p:txBody>
      </p:sp>
      <p:sp>
        <p:nvSpPr>
          <p:cNvPr id="23" name="Text 21"/>
          <p:cNvSpPr/>
          <p:nvPr/>
        </p:nvSpPr>
        <p:spPr>
          <a:xfrm>
            <a:off x="654304" y="2593249"/>
            <a:ext cx="10883392" cy="333970"/>
          </a:xfrm>
          <a:prstGeom prst="rect">
            <a:avLst/>
          </a:prstGeom>
          <a:noFill/>
          <a:ln/>
        </p:spPr>
        <p:txBody>
          <a:bodyPr wrap="square" lIns="0" tIns="0" rIns="0" bIns="0" rtlCol="0" anchor="t">
            <a:normAutofit/>
          </a:bodyPr>
          <a:lstStyle/>
          <a:p>
            <a:pPr marL="0" indent="0" algn="ctr">
              <a:lnSpc>
                <a:spcPts val="2430"/>
              </a:lnSpc>
              <a:buNone/>
            </a:pPr>
            <a:r>
              <a:rPr lang="en-US" sz="1800" dirty="0">
                <a:solidFill>
                  <a:srgbClr val="55606A"/>
                </a:solidFill>
                <a:latin typeface="IBM Plex Sans" pitchFamily="34" charset="0"/>
                <a:ea typeface="IBM Plex Sans" pitchFamily="34" charset="-122"/>
                <a:cs typeface="IBM Plex Sans" pitchFamily="34" charset="-120"/>
              </a:rPr>
              <a:t>↓</a:t>
            </a:r>
            <a:endParaRPr lang="en-US" sz="1800" dirty="0"/>
          </a:p>
        </p:txBody>
      </p:sp>
      <p:sp>
        <p:nvSpPr>
          <p:cNvPr id="24" name="Shape 22"/>
          <p:cNvSpPr/>
          <p:nvPr/>
        </p:nvSpPr>
        <p:spPr>
          <a:xfrm>
            <a:off x="812800" y="2990720"/>
            <a:ext cx="1714500" cy="734020"/>
          </a:xfrm>
          <a:prstGeom prst="roundRect">
            <a:avLst>
              <a:gd name="adj" fmla="val 12111"/>
            </a:avLst>
          </a:prstGeom>
          <a:solidFill>
            <a:srgbClr val="17242B"/>
          </a:solidFill>
          <a:ln/>
        </p:spPr>
        <p:txBody>
          <a:bodyPr/>
          <a:lstStyle/>
          <a:p>
            <a:endParaRPr lang="en-US"/>
          </a:p>
        </p:txBody>
      </p:sp>
      <p:sp>
        <p:nvSpPr>
          <p:cNvPr id="25" name="Text 23"/>
          <p:cNvSpPr/>
          <p:nvPr/>
        </p:nvSpPr>
        <p:spPr>
          <a:xfrm>
            <a:off x="850900" y="3105020"/>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NB6</a:t>
            </a:r>
            <a:endParaRPr lang="en-US" sz="1500" dirty="0"/>
          </a:p>
        </p:txBody>
      </p:sp>
      <p:sp>
        <p:nvSpPr>
          <p:cNvPr id="26" name="Text 24"/>
          <p:cNvSpPr/>
          <p:nvPr/>
        </p:nvSpPr>
        <p:spPr>
          <a:xfrm>
            <a:off x="850900" y="3397120"/>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Cases, rubric</a:t>
            </a:r>
            <a:endParaRPr lang="en-US" sz="1200" dirty="0"/>
          </a:p>
        </p:txBody>
      </p:sp>
      <p:sp>
        <p:nvSpPr>
          <p:cNvPr id="27" name="Text 25"/>
          <p:cNvSpPr/>
          <p:nvPr/>
        </p:nvSpPr>
        <p:spPr>
          <a:xfrm>
            <a:off x="2550160" y="3162170"/>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28" name="Shape 26"/>
          <p:cNvSpPr/>
          <p:nvPr/>
        </p:nvSpPr>
        <p:spPr>
          <a:xfrm>
            <a:off x="2908300" y="2990720"/>
            <a:ext cx="1714500" cy="734020"/>
          </a:xfrm>
          <a:prstGeom prst="roundRect">
            <a:avLst>
              <a:gd name="adj" fmla="val 12111"/>
            </a:avLst>
          </a:prstGeom>
          <a:solidFill>
            <a:srgbClr val="B07A12"/>
          </a:solidFill>
          <a:ln/>
        </p:spPr>
        <p:txBody>
          <a:bodyPr/>
          <a:lstStyle/>
          <a:p>
            <a:endParaRPr lang="en-US"/>
          </a:p>
        </p:txBody>
      </p:sp>
      <p:sp>
        <p:nvSpPr>
          <p:cNvPr id="29" name="Text 27"/>
          <p:cNvSpPr/>
          <p:nvPr/>
        </p:nvSpPr>
        <p:spPr>
          <a:xfrm>
            <a:off x="2946400" y="3105020"/>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Humans</a:t>
            </a:r>
            <a:endParaRPr lang="en-US" sz="1500" dirty="0"/>
          </a:p>
        </p:txBody>
      </p:sp>
      <p:sp>
        <p:nvSpPr>
          <p:cNvPr id="30" name="Text 28"/>
          <p:cNvSpPr/>
          <p:nvPr/>
        </p:nvSpPr>
        <p:spPr>
          <a:xfrm>
            <a:off x="2946400" y="3397120"/>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Annotate</a:t>
            </a:r>
            <a:endParaRPr lang="en-US" sz="1200" dirty="0"/>
          </a:p>
        </p:txBody>
      </p:sp>
      <p:sp>
        <p:nvSpPr>
          <p:cNvPr id="31" name="Text 29"/>
          <p:cNvSpPr/>
          <p:nvPr/>
        </p:nvSpPr>
        <p:spPr>
          <a:xfrm>
            <a:off x="4645660" y="3162170"/>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32" name="Shape 30"/>
          <p:cNvSpPr/>
          <p:nvPr/>
        </p:nvSpPr>
        <p:spPr>
          <a:xfrm>
            <a:off x="5003800" y="2990720"/>
            <a:ext cx="1714500" cy="734020"/>
          </a:xfrm>
          <a:prstGeom prst="roundRect">
            <a:avLst>
              <a:gd name="adj" fmla="val 12111"/>
            </a:avLst>
          </a:prstGeom>
          <a:solidFill>
            <a:srgbClr val="B07A12"/>
          </a:solidFill>
          <a:ln/>
        </p:spPr>
        <p:txBody>
          <a:bodyPr/>
          <a:lstStyle/>
          <a:p>
            <a:endParaRPr lang="en-US"/>
          </a:p>
        </p:txBody>
      </p:sp>
      <p:sp>
        <p:nvSpPr>
          <p:cNvPr id="33" name="Text 31"/>
          <p:cNvSpPr/>
          <p:nvPr/>
        </p:nvSpPr>
        <p:spPr>
          <a:xfrm>
            <a:off x="5041900" y="3105020"/>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NB8</a:t>
            </a:r>
            <a:endParaRPr lang="en-US" sz="1500" dirty="0"/>
          </a:p>
        </p:txBody>
      </p:sp>
      <p:sp>
        <p:nvSpPr>
          <p:cNvPr id="34" name="Text 32"/>
          <p:cNvSpPr/>
          <p:nvPr/>
        </p:nvSpPr>
        <p:spPr>
          <a:xfrm>
            <a:off x="5041900" y="3397120"/>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Collect</a:t>
            </a:r>
            <a:endParaRPr lang="en-US" sz="1200" dirty="0"/>
          </a:p>
        </p:txBody>
      </p:sp>
      <p:sp>
        <p:nvSpPr>
          <p:cNvPr id="35" name="Text 33"/>
          <p:cNvSpPr/>
          <p:nvPr/>
        </p:nvSpPr>
        <p:spPr>
          <a:xfrm>
            <a:off x="6741160" y="3162170"/>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36" name="Shape 34"/>
          <p:cNvSpPr/>
          <p:nvPr/>
        </p:nvSpPr>
        <p:spPr>
          <a:xfrm>
            <a:off x="7099300" y="2990720"/>
            <a:ext cx="1714500" cy="734020"/>
          </a:xfrm>
          <a:prstGeom prst="roundRect">
            <a:avLst>
              <a:gd name="adj" fmla="val 12111"/>
            </a:avLst>
          </a:prstGeom>
          <a:solidFill>
            <a:srgbClr val="1F6F78"/>
          </a:solidFill>
          <a:ln/>
        </p:spPr>
        <p:txBody>
          <a:bodyPr/>
          <a:lstStyle/>
          <a:p>
            <a:endParaRPr lang="en-US"/>
          </a:p>
        </p:txBody>
      </p:sp>
      <p:sp>
        <p:nvSpPr>
          <p:cNvPr id="37" name="Text 35"/>
          <p:cNvSpPr/>
          <p:nvPr/>
        </p:nvSpPr>
        <p:spPr>
          <a:xfrm>
            <a:off x="7137400" y="3105020"/>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NB9</a:t>
            </a:r>
            <a:endParaRPr lang="en-US" sz="1500" dirty="0"/>
          </a:p>
        </p:txBody>
      </p:sp>
      <p:sp>
        <p:nvSpPr>
          <p:cNvPr id="38" name="Text 36"/>
          <p:cNvSpPr/>
          <p:nvPr/>
        </p:nvSpPr>
        <p:spPr>
          <a:xfrm>
            <a:off x="7137400" y="3397120"/>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LLM judge</a:t>
            </a:r>
            <a:endParaRPr lang="en-US" sz="1200" dirty="0"/>
          </a:p>
        </p:txBody>
      </p:sp>
      <p:sp>
        <p:nvSpPr>
          <p:cNvPr id="39" name="Text 37"/>
          <p:cNvSpPr/>
          <p:nvPr/>
        </p:nvSpPr>
        <p:spPr>
          <a:xfrm>
            <a:off x="8836660" y="3162170"/>
            <a:ext cx="335280" cy="41652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5606A"/>
                </a:solidFill>
                <a:latin typeface="IBM Plex Sans" pitchFamily="34" charset="0"/>
                <a:ea typeface="IBM Plex Sans" pitchFamily="34" charset="-122"/>
                <a:cs typeface="IBM Plex Sans" pitchFamily="34" charset="-120"/>
              </a:rPr>
              <a:t>→</a:t>
            </a:r>
            <a:endParaRPr lang="en-US" sz="2200" dirty="0"/>
          </a:p>
        </p:txBody>
      </p:sp>
      <p:sp>
        <p:nvSpPr>
          <p:cNvPr id="40" name="Shape 38"/>
          <p:cNvSpPr/>
          <p:nvPr/>
        </p:nvSpPr>
        <p:spPr>
          <a:xfrm>
            <a:off x="9194800" y="2990720"/>
            <a:ext cx="1714500" cy="734020"/>
          </a:xfrm>
          <a:prstGeom prst="roundRect">
            <a:avLst>
              <a:gd name="adj" fmla="val 12111"/>
            </a:avLst>
          </a:prstGeom>
          <a:solidFill>
            <a:srgbClr val="17242B"/>
          </a:solidFill>
          <a:ln/>
        </p:spPr>
        <p:txBody>
          <a:bodyPr/>
          <a:lstStyle/>
          <a:p>
            <a:endParaRPr lang="en-US"/>
          </a:p>
        </p:txBody>
      </p:sp>
      <p:sp>
        <p:nvSpPr>
          <p:cNvPr id="41" name="Text 39"/>
          <p:cNvSpPr/>
          <p:nvPr/>
        </p:nvSpPr>
        <p:spPr>
          <a:xfrm>
            <a:off x="9232900" y="3105020"/>
            <a:ext cx="16383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NB10</a:t>
            </a:r>
            <a:endParaRPr lang="en-US" sz="1500" dirty="0"/>
          </a:p>
        </p:txBody>
      </p:sp>
      <p:sp>
        <p:nvSpPr>
          <p:cNvPr id="42" name="Text 40"/>
          <p:cNvSpPr/>
          <p:nvPr/>
        </p:nvSpPr>
        <p:spPr>
          <a:xfrm>
            <a:off x="9232900" y="3397120"/>
            <a:ext cx="1638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3EC"/>
                </a:solidFill>
                <a:latin typeface="IBM Plex Sans" pitchFamily="34" charset="0"/>
                <a:ea typeface="IBM Plex Sans" pitchFamily="34" charset="-122"/>
                <a:cs typeface="IBM Plex Sans" pitchFamily="34" charset="-120"/>
              </a:rPr>
              <a:t>Analysis</a:t>
            </a:r>
            <a:endParaRPr lang="en-US" sz="1200" dirty="0"/>
          </a:p>
        </p:txBody>
      </p:sp>
      <p:sp>
        <p:nvSpPr>
          <p:cNvPr id="43" name="Text 41"/>
          <p:cNvSpPr/>
          <p:nvPr/>
        </p:nvSpPr>
        <p:spPr>
          <a:xfrm>
            <a:off x="812800" y="3813640"/>
            <a:ext cx="1391047" cy="314920"/>
          </a:xfrm>
          <a:prstGeom prst="roundRect">
            <a:avLst>
              <a:gd name="adj" fmla="val 48393"/>
            </a:avLst>
          </a:prstGeom>
          <a:solidFill>
            <a:srgbClr val="17242B"/>
          </a:solidFill>
          <a:ln/>
        </p:spPr>
        <p:txBody>
          <a:bodyPr wrap="none" lIns="0" tIns="0" rIns="0" bIns="0" rtlCol="0" anchor="ctr">
            <a:normAutofit/>
          </a:bodyPr>
          <a:lstStyle/>
          <a:p>
            <a:pPr marL="0" indent="0" algn="ctr">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Data and design</a:t>
            </a:r>
            <a:endParaRPr lang="en-US" sz="1200" dirty="0"/>
          </a:p>
        </p:txBody>
      </p:sp>
      <p:sp>
        <p:nvSpPr>
          <p:cNvPr id="44" name="Text 42"/>
          <p:cNvSpPr/>
          <p:nvPr/>
        </p:nvSpPr>
        <p:spPr>
          <a:xfrm>
            <a:off x="2280047" y="3813640"/>
            <a:ext cx="1974453" cy="314920"/>
          </a:xfrm>
          <a:prstGeom prst="roundRect">
            <a:avLst>
              <a:gd name="adj" fmla="val 48393"/>
            </a:avLst>
          </a:prstGeom>
          <a:solidFill>
            <a:srgbClr val="B2432A"/>
          </a:solidFill>
          <a:ln/>
        </p:spPr>
        <p:txBody>
          <a:bodyPr wrap="none" lIns="0" tIns="0" rIns="0" bIns="0" rtlCol="0" anchor="ctr">
            <a:normAutofit/>
          </a:bodyPr>
          <a:lstStyle/>
          <a:p>
            <a:pPr marL="0" indent="0" algn="ctr">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Generator: Llama 3.1 8B</a:t>
            </a:r>
            <a:endParaRPr lang="en-US" sz="1200" dirty="0"/>
          </a:p>
        </p:txBody>
      </p:sp>
      <p:sp>
        <p:nvSpPr>
          <p:cNvPr id="45" name="Text 43"/>
          <p:cNvSpPr/>
          <p:nvPr/>
        </p:nvSpPr>
        <p:spPr>
          <a:xfrm>
            <a:off x="4330700" y="3813640"/>
            <a:ext cx="2410553" cy="314920"/>
          </a:xfrm>
          <a:prstGeom prst="roundRect">
            <a:avLst>
              <a:gd name="adj" fmla="val 48393"/>
            </a:avLst>
          </a:prstGeom>
          <a:solidFill>
            <a:srgbClr val="7A5A9A"/>
          </a:solidFill>
          <a:ln/>
        </p:spPr>
        <p:txBody>
          <a:bodyPr wrap="none" lIns="0" tIns="0" rIns="0" bIns="0" rtlCol="0" anchor="ctr">
            <a:normAutofit/>
          </a:bodyPr>
          <a:lstStyle/>
          <a:p>
            <a:pPr marL="0" indent="0" algn="ctr">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Auditor + judge: Qwen 2.5 14B</a:t>
            </a:r>
            <a:endParaRPr lang="en-US" sz="1200" dirty="0"/>
          </a:p>
        </p:txBody>
      </p:sp>
      <p:sp>
        <p:nvSpPr>
          <p:cNvPr id="46" name="Text 44"/>
          <p:cNvSpPr/>
          <p:nvPr/>
        </p:nvSpPr>
        <p:spPr>
          <a:xfrm>
            <a:off x="6817453" y="3813640"/>
            <a:ext cx="2474450" cy="314920"/>
          </a:xfrm>
          <a:prstGeom prst="roundRect">
            <a:avLst>
              <a:gd name="adj" fmla="val 48393"/>
            </a:avLst>
          </a:prstGeom>
          <a:solidFill>
            <a:srgbClr val="1F6F78"/>
          </a:solidFill>
          <a:ln/>
        </p:spPr>
        <p:txBody>
          <a:bodyPr wrap="none" lIns="0" tIns="0" rIns="0" bIns="0" rtlCol="0" anchor="ctr">
            <a:normAutofit/>
          </a:bodyPr>
          <a:lstStyle/>
          <a:p>
            <a:pPr marL="0" indent="0" algn="ctr">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Judges: Gemma 2, Phi-4, Qwen</a:t>
            </a:r>
            <a:endParaRPr lang="en-US" sz="1200" dirty="0"/>
          </a:p>
        </p:txBody>
      </p:sp>
      <p:sp>
        <p:nvSpPr>
          <p:cNvPr id="47" name="Text 45"/>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 NOTEBOOKS 1-2</a:t>
            </a:r>
            <a:endParaRPr lang="en-US" sz="1300" dirty="0"/>
          </a:p>
        </p:txBody>
      </p:sp>
      <p:sp>
        <p:nvSpPr>
          <p:cNvPr id="3" name="Text 1"/>
          <p:cNvSpPr>
            <a:spLocks noGrp="1"/>
          </p:cNvSpPr>
          <p:nvPr>
            <p:ph type="title"/>
          </p:nvPr>
        </p:nvSpPr>
        <p:spPr>
          <a:xfrm>
            <a:off x="812800" y="1183615"/>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Raw data to audited catalog</a:t>
            </a:r>
            <a:endParaRPr lang="en-US" sz="3200" dirty="0"/>
          </a:p>
        </p:txBody>
      </p:sp>
      <p:sp>
        <p:nvSpPr>
          <p:cNvPr id="4" name="Text 2"/>
          <p:cNvSpPr/>
          <p:nvPr/>
        </p:nvSpPr>
        <p:spPr>
          <a:xfrm>
            <a:off x="812800" y="1770329"/>
            <a:ext cx="3471333" cy="871141"/>
          </a:xfrm>
          <a:prstGeom prst="roundRect">
            <a:avLst>
              <a:gd name="adj" fmla="val 8747"/>
            </a:avLst>
          </a:prstGeom>
          <a:solidFill>
            <a:srgbClr val="17242B"/>
          </a:solidFill>
          <a:ln/>
        </p:spPr>
        <p:txBody>
          <a:bodyPr wrap="square" lIns="91982" tIns="66582" rIns="0" bIns="41182" rtlCol="0" anchor="t">
            <a:normAutofit/>
          </a:bodyPr>
          <a:lstStyle/>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299,583 members</a:t>
            </a:r>
            <a:endParaRPr lang="en-US" sz="1300" dirty="0"/>
          </a:p>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1.92M reviews</a:t>
            </a:r>
            <a:endParaRPr lang="en-US" sz="1300" dirty="0"/>
          </a:p>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507,335 recipes</a:t>
            </a:r>
            <a:endParaRPr lang="en-US" sz="1300" dirty="0"/>
          </a:p>
        </p:txBody>
      </p:sp>
      <p:sp>
        <p:nvSpPr>
          <p:cNvPr id="5" name="Text 3"/>
          <p:cNvSpPr/>
          <p:nvPr/>
        </p:nvSpPr>
        <p:spPr>
          <a:xfrm>
            <a:off x="812800" y="2717670"/>
            <a:ext cx="3471333" cy="408914"/>
          </a:xfrm>
          <a:prstGeom prst="roundRect">
            <a:avLst>
              <a:gd name="adj" fmla="val 18635"/>
            </a:avLst>
          </a:prstGeom>
          <a:solidFill>
            <a:srgbClr val="B2432A"/>
          </a:solidFill>
          <a:ln/>
        </p:spPr>
        <p:txBody>
          <a:bodyPr wrap="square" lIns="91982" tIns="66582" rIns="0" bIns="41182" rtlCol="0" anchor="t">
            <a:normAutofit/>
          </a:bodyPr>
          <a:lstStyle/>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Audit: clean and flag</a:t>
            </a:r>
            <a:endParaRPr lang="en-US" sz="1300" dirty="0"/>
          </a:p>
        </p:txBody>
      </p:sp>
      <p:sp>
        <p:nvSpPr>
          <p:cNvPr id="6" name="Text 4"/>
          <p:cNvSpPr/>
          <p:nvPr/>
        </p:nvSpPr>
        <p:spPr>
          <a:xfrm>
            <a:off x="812800" y="3202781"/>
            <a:ext cx="3471333" cy="408914"/>
          </a:xfrm>
          <a:prstGeom prst="roundRect">
            <a:avLst>
              <a:gd name="adj" fmla="val 18635"/>
            </a:avLst>
          </a:prstGeom>
          <a:solidFill>
            <a:srgbClr val="1F6F78"/>
          </a:solidFill>
          <a:ln/>
        </p:spPr>
        <p:txBody>
          <a:bodyPr wrap="square" lIns="91982" tIns="66582" rIns="0" bIns="41182" rtlCol="0" anchor="t">
            <a:normAutofit/>
          </a:bodyPr>
          <a:lstStyle/>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7,353 eligible users</a:t>
            </a:r>
            <a:endParaRPr lang="en-US" sz="1300" dirty="0"/>
          </a:p>
        </p:txBody>
      </p:sp>
      <p:sp>
        <p:nvSpPr>
          <p:cNvPr id="7" name="Text 5"/>
          <p:cNvSpPr/>
          <p:nvPr/>
        </p:nvSpPr>
        <p:spPr>
          <a:xfrm>
            <a:off x="812800" y="3687896"/>
            <a:ext cx="3471333" cy="640027"/>
          </a:xfrm>
          <a:prstGeom prst="roundRect">
            <a:avLst>
              <a:gd name="adj" fmla="val 11906"/>
            </a:avLst>
          </a:prstGeom>
          <a:solidFill>
            <a:srgbClr val="1F6F78"/>
          </a:solidFill>
          <a:ln/>
        </p:spPr>
        <p:txBody>
          <a:bodyPr wrap="square" lIns="91982" tIns="66582" rIns="0" bIns="41182" rtlCol="0" anchor="t">
            <a:normAutofit/>
          </a:bodyPr>
          <a:lstStyle/>
          <a:p>
            <a:pPr marL="0" indent="0" algn="l">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448,652 good recipes → 102,317 with 3+ reviews → 6,522 catalog</a:t>
            </a:r>
            <a:endParaRPr lang="en-US" sz="1300" dirty="0"/>
          </a:p>
        </p:txBody>
      </p:sp>
      <p:sp>
        <p:nvSpPr>
          <p:cNvPr id="8" name="Shape 6"/>
          <p:cNvSpPr/>
          <p:nvPr/>
        </p:nvSpPr>
        <p:spPr>
          <a:xfrm>
            <a:off x="4439708" y="1773504"/>
            <a:ext cx="6936317" cy="1447469"/>
          </a:xfrm>
          <a:prstGeom prst="roundRect">
            <a:avLst>
              <a:gd name="adj" fmla="val 6800"/>
            </a:avLst>
          </a:prstGeom>
          <a:solidFill>
            <a:srgbClr val="FCFAF6"/>
          </a:solidFill>
          <a:ln w="6350">
            <a:solidFill>
              <a:srgbClr val="D9D3C4"/>
            </a:solidFill>
            <a:prstDash val="solid"/>
          </a:ln>
        </p:spPr>
        <p:txBody>
          <a:bodyPr/>
          <a:lstStyle/>
          <a:p>
            <a:endParaRPr lang="en-US"/>
          </a:p>
        </p:txBody>
      </p:sp>
      <p:sp>
        <p:nvSpPr>
          <p:cNvPr id="9" name="Text 7"/>
          <p:cNvSpPr/>
          <p:nvPr/>
        </p:nvSpPr>
        <p:spPr>
          <a:xfrm>
            <a:off x="4618567" y="1952361"/>
            <a:ext cx="6775958" cy="235876"/>
          </a:xfrm>
          <a:prstGeom prst="rect">
            <a:avLst/>
          </a:prstGeom>
          <a:noFill/>
          <a:ln/>
        </p:spPr>
        <p:txBody>
          <a:bodyPr wrap="square" lIns="0" tIns="0" rIns="0" bIns="0" rtlCol="0" anchor="t">
            <a:normAutofit/>
          </a:bodyPr>
          <a:lstStyle/>
          <a:p>
            <a:pPr marL="0" indent="0" algn="l">
              <a:lnSpc>
                <a:spcPts val="1673"/>
              </a:lnSpc>
              <a:buNone/>
            </a:pPr>
            <a:r>
              <a:rPr lang="en-US" sz="1455" b="1" dirty="0">
                <a:solidFill>
                  <a:srgbClr val="1F6F78"/>
                </a:solidFill>
                <a:latin typeface="IBM Plex Sans" pitchFamily="34" charset="0"/>
                <a:ea typeface="IBM Plex Sans" pitchFamily="34" charset="-122"/>
                <a:cs typeface="IBM Plex Sans" pitchFamily="34" charset="-120"/>
              </a:rPr>
              <a:t>NB1 · What the audit changed</a:t>
            </a:r>
            <a:endParaRPr lang="en-US" sz="1455" dirty="0"/>
          </a:p>
        </p:txBody>
      </p:sp>
      <p:sp>
        <p:nvSpPr>
          <p:cNvPr id="10" name="Text 8"/>
          <p:cNvSpPr/>
          <p:nvPr/>
        </p:nvSpPr>
        <p:spPr>
          <a:xfrm>
            <a:off x="4717602" y="2239039"/>
            <a:ext cx="6669303" cy="828477"/>
          </a:xfrm>
          <a:prstGeom prst="rect">
            <a:avLst/>
          </a:prstGeom>
          <a:noFill/>
          <a:ln/>
        </p:spPr>
        <p:txBody>
          <a:bodyPr wrap="square" lIns="0" tIns="0" rIns="0" bIns="0" rtlCol="0" anchor="t">
            <a:normAutofit/>
          </a:bodyPr>
          <a:lstStyle/>
          <a:p>
            <a:pPr marL="154965" indent="-154965" algn="l">
              <a:lnSpc>
                <a:spcPts val="1580"/>
              </a:lnSpc>
              <a:buSzPct val="100000"/>
              <a:buChar char="•"/>
            </a:pPr>
            <a:r>
              <a:rPr lang="en-US" sz="1170" dirty="0">
                <a:solidFill>
                  <a:srgbClr val="17242B"/>
                </a:solidFill>
                <a:latin typeface="IBM Plex Sans" pitchFamily="34" charset="0"/>
                <a:ea typeface="IBM Plex Sans" pitchFamily="34" charset="-122"/>
                <a:cs typeface="IBM Plex Sans" pitchFamily="34" charset="-120"/>
              </a:rPr>
              <a:t>"Rating 6" = 506,510 authorship rows, dropped</a:t>
            </a:r>
            <a:endParaRPr lang="en-US" sz="1170" dirty="0"/>
          </a:p>
          <a:p>
            <a:pPr marL="154965" indent="-154965" algn="l">
              <a:lnSpc>
                <a:spcPts val="1580"/>
              </a:lnSpc>
              <a:buSzPct val="100000"/>
              <a:buChar char="•"/>
            </a:pPr>
            <a:r>
              <a:rPr lang="en-US" sz="1170" dirty="0">
                <a:solidFill>
                  <a:srgbClr val="17242B"/>
                </a:solidFill>
                <a:latin typeface="IBM Plex Sans" pitchFamily="34" charset="0"/>
                <a:ea typeface="IBM Plex Sans" pitchFamily="34" charset="-122"/>
                <a:cs typeface="IBM Plex Sans" pitchFamily="34" charset="-120"/>
              </a:rPr>
              <a:t>"2.5 stars" = unrated, not a dislike</a:t>
            </a:r>
            <a:endParaRPr lang="en-US" sz="1170" dirty="0"/>
          </a:p>
          <a:p>
            <a:pPr marL="154965" indent="-154965" algn="l">
              <a:lnSpc>
                <a:spcPts val="1580"/>
              </a:lnSpc>
              <a:buSzPct val="100000"/>
              <a:buChar char="•"/>
            </a:pPr>
            <a:r>
              <a:rPr lang="en-US" sz="1170" dirty="0">
                <a:solidFill>
                  <a:srgbClr val="17242B"/>
                </a:solidFill>
                <a:latin typeface="IBM Plex Sans" pitchFamily="34" charset="0"/>
                <a:ea typeface="IBM Plex Sans" pitchFamily="34" charset="-122"/>
                <a:cs typeface="IBM Plex Sans" pitchFamily="34" charset="-120"/>
              </a:rPr>
              <a:t>72% are 5 stars: use review text, not ratings</a:t>
            </a:r>
            <a:endParaRPr lang="en-US" sz="1170" dirty="0"/>
          </a:p>
          <a:p>
            <a:pPr marL="154965" indent="-154965" algn="l">
              <a:lnSpc>
                <a:spcPts val="1580"/>
              </a:lnSpc>
              <a:buSzPct val="100000"/>
              <a:buChar char="•"/>
            </a:pPr>
            <a:r>
              <a:rPr lang="en-US" sz="1170" dirty="0">
                <a:solidFill>
                  <a:srgbClr val="17242B"/>
                </a:solidFill>
                <a:latin typeface="IBM Plex Sans" pitchFamily="34" charset="0"/>
                <a:ea typeface="IBM Plex Sans" pitchFamily="34" charset="-122"/>
                <a:cs typeface="IBM Plex Sans" pitchFamily="34" charset="-120"/>
              </a:rPr>
              <a:t>45% of recipes have usable tags</a:t>
            </a:r>
            <a:endParaRPr lang="en-US" sz="1170" dirty="0"/>
          </a:p>
        </p:txBody>
      </p:sp>
      <p:sp>
        <p:nvSpPr>
          <p:cNvPr id="11" name="Shape 9"/>
          <p:cNvSpPr/>
          <p:nvPr/>
        </p:nvSpPr>
        <p:spPr>
          <a:xfrm>
            <a:off x="4439708" y="3354322"/>
            <a:ext cx="6936317" cy="1447535"/>
          </a:xfrm>
          <a:prstGeom prst="roundRect">
            <a:avLst>
              <a:gd name="adj" fmla="val 6799"/>
            </a:avLst>
          </a:prstGeom>
          <a:solidFill>
            <a:srgbClr val="FCFAF6"/>
          </a:solidFill>
          <a:ln w="6350">
            <a:solidFill>
              <a:srgbClr val="D9D3C4"/>
            </a:solidFill>
            <a:prstDash val="solid"/>
          </a:ln>
        </p:spPr>
        <p:txBody>
          <a:bodyPr/>
          <a:lstStyle/>
          <a:p>
            <a:endParaRPr lang="en-US"/>
          </a:p>
        </p:txBody>
      </p:sp>
      <p:sp>
        <p:nvSpPr>
          <p:cNvPr id="12" name="Text 10"/>
          <p:cNvSpPr/>
          <p:nvPr/>
        </p:nvSpPr>
        <p:spPr>
          <a:xfrm>
            <a:off x="4618567" y="3533180"/>
            <a:ext cx="6775958"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NB2 · Catalog criteria</a:t>
            </a:r>
            <a:endParaRPr lang="en-US" sz="1600" dirty="0"/>
          </a:p>
        </p:txBody>
      </p:sp>
      <p:sp>
        <p:nvSpPr>
          <p:cNvPr id="13" name="Text 11"/>
          <p:cNvSpPr/>
          <p:nvPr/>
        </p:nvSpPr>
        <p:spPr>
          <a:xfrm>
            <a:off x="4703911" y="3843009"/>
            <a:ext cx="6682994" cy="693936"/>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Users: 20-300 reviews, 10+ with text, 10+ liked, 1+ year</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Recipes: clean nutrition and time, no duplicates, 3+ reviews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Diet labels from keyword rules (84-96% match to tags)</a:t>
            </a:r>
            <a:endParaRPr lang="en-US" sz="1300" dirty="0"/>
          </a:p>
        </p:txBody>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 NOTEBOOKS 3-4</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60 profiles and their recipes</a:t>
            </a:r>
            <a:endParaRPr lang="en-US" sz="3200" dirty="0"/>
          </a:p>
        </p:txBody>
      </p:sp>
      <p:sp>
        <p:nvSpPr>
          <p:cNvPr id="4" name="Shape 2"/>
          <p:cNvSpPr/>
          <p:nvPr/>
        </p:nvSpPr>
        <p:spPr>
          <a:xfrm>
            <a:off x="815975" y="1773504"/>
            <a:ext cx="3414183" cy="1781770"/>
          </a:xfrm>
          <a:prstGeom prst="roundRect">
            <a:avLst>
              <a:gd name="adj" fmla="val 5524"/>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5"/>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Historical (inferred) · 30</a:t>
            </a:r>
            <a:endParaRPr lang="en-US" sz="1600" dirty="0"/>
          </a:p>
        </p:txBody>
      </p:sp>
      <p:sp>
        <p:nvSpPr>
          <p:cNvPr id="6" name="Text 4"/>
          <p:cNvSpPr/>
          <p:nvPr/>
        </p:nvSpPr>
        <p:spPr>
          <a:xfrm>
            <a:off x="1080177" y="2262188"/>
            <a:ext cx="305519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From real reviews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8 rich + 8 sparse with health hints; 7 + 7 without</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Every claim has a status and its evidence</a:t>
            </a:r>
            <a:endParaRPr lang="en-US" sz="1300" dirty="0"/>
          </a:p>
        </p:txBody>
      </p:sp>
      <p:sp>
        <p:nvSpPr>
          <p:cNvPr id="7" name="Shape 5"/>
          <p:cNvSpPr/>
          <p:nvPr/>
        </p:nvSpPr>
        <p:spPr>
          <a:xfrm>
            <a:off x="4388908" y="1773504"/>
            <a:ext cx="3414183" cy="1781770"/>
          </a:xfrm>
          <a:prstGeom prst="roundRect">
            <a:avLst>
              <a:gd name="adj" fmla="val 5524"/>
            </a:avLst>
          </a:prstGeom>
          <a:solidFill>
            <a:srgbClr val="FCFAF6"/>
          </a:solidFill>
          <a:ln w="6350">
            <a:solidFill>
              <a:srgbClr val="D9D3C4"/>
            </a:solidFill>
            <a:prstDash val="solid"/>
          </a:ln>
        </p:spPr>
        <p:txBody>
          <a:bodyPr/>
          <a:lstStyle/>
          <a:p>
            <a:endParaRPr lang="en-US"/>
          </a:p>
        </p:txBody>
      </p:sp>
      <p:sp>
        <p:nvSpPr>
          <p:cNvPr id="8" name="Text 6"/>
          <p:cNvSpPr/>
          <p:nvPr/>
        </p:nvSpPr>
        <p:spPr>
          <a:xfrm>
            <a:off x="4567767" y="1952365"/>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Synthetic (stated) · 30</a:t>
            </a:r>
            <a:endParaRPr lang="en-US" sz="1600" dirty="0"/>
          </a:p>
        </p:txBody>
      </p:sp>
      <p:sp>
        <p:nvSpPr>
          <p:cNvPr id="9" name="Text 7"/>
          <p:cNvSpPr/>
          <p:nvPr/>
        </p:nvSpPr>
        <p:spPr>
          <a:xfrm>
            <a:off x="4653111" y="2262188"/>
            <a:ext cx="3055197" cy="916781"/>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14 standard, 8 conflicting goals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6 missing information, 2 no restrictions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Diet, time limit, likes, health goal</a:t>
            </a:r>
            <a:endParaRPr lang="en-US" sz="1300" dirty="0"/>
          </a:p>
        </p:txBody>
      </p:sp>
      <p:sp>
        <p:nvSpPr>
          <p:cNvPr id="10" name="Shape 8"/>
          <p:cNvSpPr/>
          <p:nvPr/>
        </p:nvSpPr>
        <p:spPr>
          <a:xfrm>
            <a:off x="7961842" y="1773504"/>
            <a:ext cx="3414183" cy="1781770"/>
          </a:xfrm>
          <a:prstGeom prst="roundRect">
            <a:avLst>
              <a:gd name="adj" fmla="val 5524"/>
            </a:avLst>
          </a:prstGeom>
          <a:solidFill>
            <a:srgbClr val="FCFAF6"/>
          </a:solidFill>
          <a:ln w="6350">
            <a:solidFill>
              <a:srgbClr val="D9D3C4"/>
            </a:solidFill>
            <a:prstDash val="solid"/>
          </a:ln>
        </p:spPr>
        <p:txBody>
          <a:bodyPr/>
          <a:lstStyle/>
          <a:p>
            <a:endParaRPr lang="en-US"/>
          </a:p>
        </p:txBody>
      </p:sp>
      <p:sp>
        <p:nvSpPr>
          <p:cNvPr id="11" name="Text 9"/>
          <p:cNvSpPr/>
          <p:nvPr/>
        </p:nvSpPr>
        <p:spPr>
          <a:xfrm>
            <a:off x="8140700" y="1952365"/>
            <a:ext cx="314816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Recommendation pool (NB4)</a:t>
            </a:r>
            <a:endParaRPr lang="en-US" sz="1600" dirty="0"/>
          </a:p>
        </p:txBody>
      </p:sp>
      <p:sp>
        <p:nvSpPr>
          <p:cNvPr id="12" name="Text 10"/>
          <p:cNvSpPr/>
          <p:nvPr/>
        </p:nvSpPr>
        <p:spPr>
          <a:xfrm>
            <a:off x="8226044" y="2262188"/>
            <a:ext cx="3055197" cy="916781"/>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TF-IDF content-based scoring</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5 candidates per profile: 3 strong, 2 weak</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2 chosen per profile: 120 pairs</a:t>
            </a:r>
            <a:endParaRPr lang="en-US" sz="1300" dirty="0"/>
          </a:p>
        </p:txBody>
      </p:sp>
      <p:sp>
        <p:nvSpPr>
          <p:cNvPr id="13" name="Text 11"/>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 NOTEBOOK 5</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Four ways to write an explanation</a:t>
            </a:r>
            <a:endParaRPr lang="en-US" sz="3200" dirty="0"/>
          </a:p>
        </p:txBody>
      </p:sp>
      <p:sp>
        <p:nvSpPr>
          <p:cNvPr id="4" name="Shape 2"/>
          <p:cNvSpPr/>
          <p:nvPr/>
        </p:nvSpPr>
        <p:spPr>
          <a:xfrm>
            <a:off x="815975" y="1773504"/>
            <a:ext cx="2520950" cy="1607211"/>
          </a:xfrm>
          <a:prstGeom prst="roundRect">
            <a:avLst>
              <a:gd name="adj" fmla="val 6124"/>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5"/>
            <a:ext cx="2228130"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Technique 1</a:t>
            </a:r>
            <a:endParaRPr lang="en-US" sz="1200" dirty="0"/>
          </a:p>
        </p:txBody>
      </p:sp>
      <p:sp>
        <p:nvSpPr>
          <p:cNvPr id="6" name="Text 4"/>
          <p:cNvSpPr/>
          <p:nvPr/>
        </p:nvSpPr>
        <p:spPr>
          <a:xfrm>
            <a:off x="994833" y="2221576"/>
            <a:ext cx="222813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17242B"/>
                </a:solidFill>
                <a:latin typeface="IBM Plex Sans" pitchFamily="34" charset="0"/>
                <a:ea typeface="IBM Plex Sans" pitchFamily="34" charset="-122"/>
                <a:cs typeface="IBM Plex Sans" pitchFamily="34" charset="-120"/>
              </a:rPr>
              <a:t>Template</a:t>
            </a:r>
            <a:endParaRPr lang="en-US" sz="1700" dirty="0"/>
          </a:p>
        </p:txBody>
      </p:sp>
      <p:sp>
        <p:nvSpPr>
          <p:cNvPr id="7" name="Text 5"/>
          <p:cNvSpPr/>
          <p:nvPr/>
        </p:nvSpPr>
        <p:spPr>
          <a:xfrm>
            <a:off x="994833" y="2533321"/>
            <a:ext cx="222813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Fixed sentences filled from facts. No LLM.</a:t>
            </a:r>
            <a:endParaRPr lang="en-US" sz="1300" dirty="0"/>
          </a:p>
        </p:txBody>
      </p:sp>
      <p:sp>
        <p:nvSpPr>
          <p:cNvPr id="8" name="Shape 6"/>
          <p:cNvSpPr/>
          <p:nvPr/>
        </p:nvSpPr>
        <p:spPr>
          <a:xfrm>
            <a:off x="3495675" y="1773504"/>
            <a:ext cx="2520950" cy="1607211"/>
          </a:xfrm>
          <a:prstGeom prst="roundRect">
            <a:avLst>
              <a:gd name="adj" fmla="val 6124"/>
            </a:avLst>
          </a:prstGeom>
          <a:solidFill>
            <a:srgbClr val="FCFAF6"/>
          </a:solidFill>
          <a:ln w="6350">
            <a:solidFill>
              <a:srgbClr val="D9D3C4"/>
            </a:solidFill>
            <a:prstDash val="solid"/>
          </a:ln>
        </p:spPr>
        <p:txBody>
          <a:bodyPr/>
          <a:lstStyle/>
          <a:p>
            <a:endParaRPr lang="en-US"/>
          </a:p>
        </p:txBody>
      </p:sp>
      <p:sp>
        <p:nvSpPr>
          <p:cNvPr id="9" name="Text 7"/>
          <p:cNvSpPr/>
          <p:nvPr/>
        </p:nvSpPr>
        <p:spPr>
          <a:xfrm>
            <a:off x="3674533" y="1952365"/>
            <a:ext cx="2228130"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Technique 2</a:t>
            </a:r>
            <a:endParaRPr lang="en-US" sz="1200" dirty="0"/>
          </a:p>
        </p:txBody>
      </p:sp>
      <p:sp>
        <p:nvSpPr>
          <p:cNvPr id="10" name="Text 8"/>
          <p:cNvSpPr/>
          <p:nvPr/>
        </p:nvSpPr>
        <p:spPr>
          <a:xfrm>
            <a:off x="3674533" y="2221576"/>
            <a:ext cx="222813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B2432A"/>
                </a:solidFill>
                <a:latin typeface="IBM Plex Sans" pitchFamily="34" charset="0"/>
                <a:ea typeface="IBM Plex Sans" pitchFamily="34" charset="-122"/>
                <a:cs typeface="IBM Plex Sans" pitchFamily="34" charset="-120"/>
              </a:rPr>
              <a:t>Direct LLM</a:t>
            </a:r>
            <a:endParaRPr lang="en-US" sz="1700" dirty="0"/>
          </a:p>
        </p:txBody>
      </p:sp>
      <p:sp>
        <p:nvSpPr>
          <p:cNvPr id="11" name="Text 9"/>
          <p:cNvSpPr/>
          <p:nvPr/>
        </p:nvSpPr>
        <p:spPr>
          <a:xfrm>
            <a:off x="3674533" y="2533321"/>
            <a:ext cx="22281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Llama writes freely from profile and recipe. Can invent.</a:t>
            </a:r>
            <a:endParaRPr lang="en-US" sz="1300" dirty="0"/>
          </a:p>
        </p:txBody>
      </p:sp>
      <p:sp>
        <p:nvSpPr>
          <p:cNvPr id="12" name="Shape 10"/>
          <p:cNvSpPr/>
          <p:nvPr/>
        </p:nvSpPr>
        <p:spPr>
          <a:xfrm>
            <a:off x="6175375" y="1773504"/>
            <a:ext cx="2520950" cy="1607211"/>
          </a:xfrm>
          <a:prstGeom prst="roundRect">
            <a:avLst>
              <a:gd name="adj" fmla="val 6124"/>
            </a:avLst>
          </a:prstGeom>
          <a:solidFill>
            <a:srgbClr val="FCFAF6"/>
          </a:solidFill>
          <a:ln w="6350">
            <a:solidFill>
              <a:srgbClr val="D9D3C4"/>
            </a:solidFill>
            <a:prstDash val="solid"/>
          </a:ln>
        </p:spPr>
        <p:txBody>
          <a:bodyPr/>
          <a:lstStyle/>
          <a:p>
            <a:endParaRPr lang="en-US"/>
          </a:p>
        </p:txBody>
      </p:sp>
      <p:sp>
        <p:nvSpPr>
          <p:cNvPr id="13" name="Text 11"/>
          <p:cNvSpPr/>
          <p:nvPr/>
        </p:nvSpPr>
        <p:spPr>
          <a:xfrm>
            <a:off x="6354233" y="1952365"/>
            <a:ext cx="2228130"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Technique 3</a:t>
            </a:r>
            <a:endParaRPr lang="en-US" sz="1200" dirty="0"/>
          </a:p>
        </p:txBody>
      </p:sp>
      <p:sp>
        <p:nvSpPr>
          <p:cNvPr id="14" name="Text 12"/>
          <p:cNvSpPr/>
          <p:nvPr/>
        </p:nvSpPr>
        <p:spPr>
          <a:xfrm>
            <a:off x="6354233" y="2221576"/>
            <a:ext cx="222813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B2432A"/>
                </a:solidFill>
                <a:latin typeface="IBM Plex Sans" pitchFamily="34" charset="0"/>
                <a:ea typeface="IBM Plex Sans" pitchFamily="34" charset="-122"/>
                <a:cs typeface="IBM Plex Sans" pitchFamily="34" charset="-120"/>
              </a:rPr>
              <a:t>Grounded LLM</a:t>
            </a:r>
            <a:endParaRPr lang="en-US" sz="1700" dirty="0"/>
          </a:p>
        </p:txBody>
      </p:sp>
      <p:sp>
        <p:nvSpPr>
          <p:cNvPr id="15" name="Text 13"/>
          <p:cNvSpPr/>
          <p:nvPr/>
        </p:nvSpPr>
        <p:spPr>
          <a:xfrm>
            <a:off x="6354233" y="2533321"/>
            <a:ext cx="22281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Llama gets numbered facts, must cite them and name trade-offs.</a:t>
            </a:r>
            <a:endParaRPr lang="en-US" sz="1300" dirty="0"/>
          </a:p>
        </p:txBody>
      </p:sp>
      <p:sp>
        <p:nvSpPr>
          <p:cNvPr id="16" name="Shape 14"/>
          <p:cNvSpPr/>
          <p:nvPr/>
        </p:nvSpPr>
        <p:spPr>
          <a:xfrm>
            <a:off x="8855075" y="1773504"/>
            <a:ext cx="2520950" cy="1607211"/>
          </a:xfrm>
          <a:prstGeom prst="roundRect">
            <a:avLst>
              <a:gd name="adj" fmla="val 6124"/>
            </a:avLst>
          </a:prstGeom>
          <a:solidFill>
            <a:srgbClr val="FCFAF6"/>
          </a:solidFill>
          <a:ln w="6350">
            <a:solidFill>
              <a:srgbClr val="D9D3C4"/>
            </a:solidFill>
            <a:prstDash val="solid"/>
          </a:ln>
        </p:spPr>
        <p:txBody>
          <a:bodyPr/>
          <a:lstStyle/>
          <a:p>
            <a:endParaRPr lang="en-US"/>
          </a:p>
        </p:txBody>
      </p:sp>
      <p:sp>
        <p:nvSpPr>
          <p:cNvPr id="17" name="Text 15"/>
          <p:cNvSpPr/>
          <p:nvPr/>
        </p:nvSpPr>
        <p:spPr>
          <a:xfrm>
            <a:off x="9033934" y="1952365"/>
            <a:ext cx="2228130"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Technique 4</a:t>
            </a:r>
            <a:endParaRPr lang="en-US" sz="1200" dirty="0"/>
          </a:p>
        </p:txBody>
      </p:sp>
      <p:sp>
        <p:nvSpPr>
          <p:cNvPr id="18" name="Text 16"/>
          <p:cNvSpPr/>
          <p:nvPr/>
        </p:nvSpPr>
        <p:spPr>
          <a:xfrm>
            <a:off x="9033934" y="2221576"/>
            <a:ext cx="2228130"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7A5A9A"/>
                </a:solidFill>
                <a:latin typeface="IBM Plex Sans" pitchFamily="34" charset="0"/>
                <a:ea typeface="IBM Plex Sans" pitchFamily="34" charset="-122"/>
                <a:cs typeface="IBM Plex Sans" pitchFamily="34" charset="-120"/>
              </a:rPr>
              <a:t>Grounded + check</a:t>
            </a:r>
            <a:endParaRPr lang="en-US" sz="1700" dirty="0"/>
          </a:p>
        </p:txBody>
      </p:sp>
      <p:sp>
        <p:nvSpPr>
          <p:cNvPr id="19" name="Text 17"/>
          <p:cNvSpPr/>
          <p:nvPr/>
        </p:nvSpPr>
        <p:spPr>
          <a:xfrm>
            <a:off x="9033934" y="2533321"/>
            <a:ext cx="222813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Qwen checks every claim; Llama revises up to 2 times.</a:t>
            </a:r>
            <a:endParaRPr lang="en-US" sz="1300" dirty="0"/>
          </a:p>
        </p:txBody>
      </p:sp>
      <p:sp>
        <p:nvSpPr>
          <p:cNvPr id="20" name="Text 18"/>
          <p:cNvSpPr/>
          <p:nvPr/>
        </p:nvSpPr>
        <p:spPr>
          <a:xfrm>
            <a:off x="812800" y="3523593"/>
            <a:ext cx="1088339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A"/>
                </a:solidFill>
                <a:latin typeface="IBM Plex Sans" pitchFamily="34" charset="0"/>
                <a:ea typeface="IBM Plex Sans" pitchFamily="34" charset="-122"/>
                <a:cs typeface="IBM Plex Sans" pitchFamily="34" charset="-120"/>
              </a:rPr>
              <a:t>More control over facts means fewer invented claims.</a:t>
            </a:r>
            <a:endParaRPr lang="en-US" sz="1400" dirty="0"/>
          </a:p>
        </p:txBody>
      </p:sp>
      <p:sp>
        <p:nvSpPr>
          <p:cNvPr id="21" name="Text 19"/>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 NOTEBOOK 6</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Cases, rubric and annotation</a:t>
            </a:r>
            <a:endParaRPr lang="en-US" sz="3200" dirty="0"/>
          </a:p>
        </p:txBody>
      </p:sp>
      <p:sp>
        <p:nvSpPr>
          <p:cNvPr id="4" name="Shape 2"/>
          <p:cNvSpPr/>
          <p:nvPr/>
        </p:nvSpPr>
        <p:spPr>
          <a:xfrm>
            <a:off x="815975" y="1773504"/>
            <a:ext cx="5200650" cy="1781770"/>
          </a:xfrm>
          <a:prstGeom prst="roundRect">
            <a:avLst>
              <a:gd name="adj" fmla="val 5524"/>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952365"/>
            <a:ext cx="498822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What is annotated</a:t>
            </a:r>
            <a:endParaRPr lang="en-US" sz="1600" dirty="0"/>
          </a:p>
        </p:txBody>
      </p:sp>
      <p:sp>
        <p:nvSpPr>
          <p:cNvPr id="6" name="Text 4"/>
          <p:cNvSpPr/>
          <p:nvPr/>
        </p:nvSpPr>
        <p:spPr>
          <a:xfrm>
            <a:off x="1080177" y="2262188"/>
            <a:ext cx="489525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480 cases (60 x 2 x 4)</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15 diagnostics with one planted error</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15 pairs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510 items per annotator, 3 annotators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Pilot: 10 items</a:t>
            </a:r>
            <a:endParaRPr lang="en-US" sz="1300" dirty="0"/>
          </a:p>
        </p:txBody>
      </p:sp>
      <p:sp>
        <p:nvSpPr>
          <p:cNvPr id="7" name="Shape 5"/>
          <p:cNvSpPr/>
          <p:nvPr/>
        </p:nvSpPr>
        <p:spPr>
          <a:xfrm>
            <a:off x="6175375" y="1773504"/>
            <a:ext cx="5200650" cy="1781770"/>
          </a:xfrm>
          <a:prstGeom prst="roundRect">
            <a:avLst>
              <a:gd name="adj" fmla="val 5524"/>
            </a:avLst>
          </a:prstGeom>
          <a:solidFill>
            <a:srgbClr val="FCFAF6"/>
          </a:solidFill>
          <a:ln w="6350">
            <a:solidFill>
              <a:srgbClr val="D9D3C4"/>
            </a:solidFill>
            <a:prstDash val="solid"/>
          </a:ln>
        </p:spPr>
        <p:txBody>
          <a:bodyPr/>
          <a:lstStyle/>
          <a:p>
            <a:endParaRPr lang="en-US"/>
          </a:p>
        </p:txBody>
      </p:sp>
      <p:sp>
        <p:nvSpPr>
          <p:cNvPr id="8" name="Text 6"/>
          <p:cNvSpPr/>
          <p:nvPr/>
        </p:nvSpPr>
        <p:spPr>
          <a:xfrm>
            <a:off x="6354233" y="1952365"/>
            <a:ext cx="498822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Rubric: 10 questions</a:t>
            </a:r>
            <a:endParaRPr lang="en-US" sz="1600" dirty="0"/>
          </a:p>
        </p:txBody>
      </p:sp>
      <p:sp>
        <p:nvSpPr>
          <p:cNvPr id="9" name="Text 7"/>
          <p:cNvSpPr/>
          <p:nvPr/>
        </p:nvSpPr>
        <p:spPr>
          <a:xfrm>
            <a:off x="6354233" y="2262188"/>
            <a:ext cx="498822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Yes / no / n.a.: ignored constraint, factual error, invented personalization, unsupported claim, overstated certainty</a:t>
            </a:r>
            <a:endParaRPr lang="en-US" sz="1300" dirty="0"/>
          </a:p>
        </p:txBody>
      </p:sp>
      <p:sp>
        <p:nvSpPr>
          <p:cNvPr id="10" name="Text 8"/>
          <p:cNvSpPr/>
          <p:nvPr/>
        </p:nvSpPr>
        <p:spPr>
          <a:xfrm>
            <a:off x="6354233" y="2784078"/>
            <a:ext cx="4988221"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Scores 1-5: clarity, profile fit, goal alignment, trade-off, overall</a:t>
            </a:r>
            <a:endParaRPr lang="en-US" sz="1300" dirty="0"/>
          </a:p>
        </p:txBody>
      </p:sp>
      <p:sp>
        <p:nvSpPr>
          <p:cNvPr id="11" name="Text 9"/>
          <p:cNvSpPr/>
          <p:nvPr/>
        </p:nvSpPr>
        <p:spPr>
          <a:xfrm>
            <a:off x="812800" y="3698149"/>
            <a:ext cx="108833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A"/>
                </a:solidFill>
                <a:latin typeface="IBM Plex Sans" pitchFamily="34" charset="0"/>
                <a:ea typeface="IBM Plex Sans" pitchFamily="34" charset="-122"/>
                <a:cs typeface="IBM Plex Sans" pitchFamily="34" charset="-120"/>
              </a:rPr>
              <a:t>Annotation form: offline HTML, one item per page.</a:t>
            </a:r>
            <a:endParaRPr lang="en-US" sz="1300" dirty="0"/>
          </a:p>
        </p:txBody>
      </p:sp>
      <p:sp>
        <p:nvSpPr>
          <p:cNvPr id="12" name="Text 1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IMPLEMENTATION · NOTEBOOK 9</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3 judges x 3 setups</a:t>
            </a:r>
            <a:endParaRPr lang="en-US" sz="3200" dirty="0"/>
          </a:p>
        </p:txBody>
      </p:sp>
      <p:sp>
        <p:nvSpPr>
          <p:cNvPr id="4" name="Shape 2"/>
          <p:cNvSpPr/>
          <p:nvPr/>
        </p:nvSpPr>
        <p:spPr>
          <a:xfrm>
            <a:off x="815975" y="1773504"/>
            <a:ext cx="3414183" cy="814189"/>
          </a:xfrm>
          <a:prstGeom prst="roundRect">
            <a:avLst>
              <a:gd name="adj" fmla="val 12089"/>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56733" y="1914265"/>
            <a:ext cx="3226647"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Gemma 2 9B</a:t>
            </a:r>
            <a:endParaRPr lang="en-US" sz="1600" dirty="0"/>
          </a:p>
        </p:txBody>
      </p:sp>
      <p:sp>
        <p:nvSpPr>
          <p:cNvPr id="6" name="Text 4"/>
          <p:cNvSpPr/>
          <p:nvPr/>
        </p:nvSpPr>
        <p:spPr>
          <a:xfrm>
            <a:off x="956733" y="2224088"/>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Judge</a:t>
            </a:r>
            <a:endParaRPr lang="en-US" sz="1300" dirty="0"/>
          </a:p>
        </p:txBody>
      </p:sp>
      <p:sp>
        <p:nvSpPr>
          <p:cNvPr id="7" name="Shape 5"/>
          <p:cNvSpPr/>
          <p:nvPr/>
        </p:nvSpPr>
        <p:spPr>
          <a:xfrm>
            <a:off x="4388908" y="1773504"/>
            <a:ext cx="3414183" cy="814189"/>
          </a:xfrm>
          <a:prstGeom prst="roundRect">
            <a:avLst>
              <a:gd name="adj" fmla="val 12089"/>
            </a:avLst>
          </a:prstGeom>
          <a:solidFill>
            <a:srgbClr val="FCFAF6"/>
          </a:solidFill>
          <a:ln w="6350">
            <a:solidFill>
              <a:srgbClr val="D9D3C4"/>
            </a:solidFill>
            <a:prstDash val="solid"/>
          </a:ln>
        </p:spPr>
        <p:txBody>
          <a:bodyPr/>
          <a:lstStyle/>
          <a:p>
            <a:endParaRPr lang="en-US"/>
          </a:p>
        </p:txBody>
      </p:sp>
      <p:sp>
        <p:nvSpPr>
          <p:cNvPr id="8" name="Text 6"/>
          <p:cNvSpPr/>
          <p:nvPr/>
        </p:nvSpPr>
        <p:spPr>
          <a:xfrm>
            <a:off x="4529667" y="1914265"/>
            <a:ext cx="3226647"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Phi-4</a:t>
            </a:r>
            <a:endParaRPr lang="en-US" sz="1600" dirty="0"/>
          </a:p>
        </p:txBody>
      </p:sp>
      <p:sp>
        <p:nvSpPr>
          <p:cNvPr id="9" name="Text 7"/>
          <p:cNvSpPr/>
          <p:nvPr/>
        </p:nvSpPr>
        <p:spPr>
          <a:xfrm>
            <a:off x="4529667" y="2224088"/>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Judge</a:t>
            </a:r>
            <a:endParaRPr lang="en-US" sz="1300" dirty="0"/>
          </a:p>
        </p:txBody>
      </p:sp>
      <p:sp>
        <p:nvSpPr>
          <p:cNvPr id="10" name="Shape 8"/>
          <p:cNvSpPr/>
          <p:nvPr/>
        </p:nvSpPr>
        <p:spPr>
          <a:xfrm>
            <a:off x="7961842" y="1773504"/>
            <a:ext cx="3414183" cy="814189"/>
          </a:xfrm>
          <a:prstGeom prst="roundRect">
            <a:avLst>
              <a:gd name="adj" fmla="val 12089"/>
            </a:avLst>
          </a:prstGeom>
          <a:solidFill>
            <a:srgbClr val="FCFAF6"/>
          </a:solidFill>
          <a:ln w="6350">
            <a:solidFill>
              <a:srgbClr val="D9D3C4"/>
            </a:solidFill>
            <a:prstDash val="solid"/>
          </a:ln>
        </p:spPr>
        <p:txBody>
          <a:bodyPr/>
          <a:lstStyle/>
          <a:p>
            <a:endParaRPr lang="en-US"/>
          </a:p>
        </p:txBody>
      </p:sp>
      <p:sp>
        <p:nvSpPr>
          <p:cNvPr id="11" name="Text 9"/>
          <p:cNvSpPr/>
          <p:nvPr/>
        </p:nvSpPr>
        <p:spPr>
          <a:xfrm>
            <a:off x="8102600" y="1914265"/>
            <a:ext cx="3226647"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7A5A9A"/>
                </a:solidFill>
                <a:latin typeface="IBM Plex Sans" pitchFamily="34" charset="0"/>
                <a:ea typeface="IBM Plex Sans" pitchFamily="34" charset="-122"/>
                <a:cs typeface="IBM Plex Sans" pitchFamily="34" charset="-120"/>
              </a:rPr>
              <a:t>Qwen 2.5 14B</a:t>
            </a:r>
            <a:endParaRPr lang="en-US" sz="1600" dirty="0"/>
          </a:p>
        </p:txBody>
      </p:sp>
      <p:sp>
        <p:nvSpPr>
          <p:cNvPr id="12" name="Text 10"/>
          <p:cNvSpPr/>
          <p:nvPr/>
        </p:nvSpPr>
        <p:spPr>
          <a:xfrm>
            <a:off x="8102600" y="2224088"/>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Judge (also audits technique 4)</a:t>
            </a:r>
            <a:endParaRPr lang="en-US" sz="1300" dirty="0"/>
          </a:p>
        </p:txBody>
      </p:sp>
      <p:sp>
        <p:nvSpPr>
          <p:cNvPr id="13" name="Shape 11"/>
          <p:cNvSpPr/>
          <p:nvPr/>
        </p:nvSpPr>
        <p:spPr>
          <a:xfrm>
            <a:off x="815975" y="2721043"/>
            <a:ext cx="3414183" cy="799637"/>
          </a:xfrm>
          <a:prstGeom prst="roundRect">
            <a:avLst>
              <a:gd name="adj" fmla="val 12309"/>
            </a:avLst>
          </a:prstGeom>
          <a:solidFill>
            <a:srgbClr val="FCFAF6"/>
          </a:solidFill>
          <a:ln w="6350">
            <a:solidFill>
              <a:srgbClr val="D9D3C4"/>
            </a:solidFill>
            <a:prstDash val="solid"/>
          </a:ln>
        </p:spPr>
        <p:txBody>
          <a:bodyPr/>
          <a:lstStyle/>
          <a:p>
            <a:endParaRPr lang="en-US"/>
          </a:p>
        </p:txBody>
      </p:sp>
      <p:sp>
        <p:nvSpPr>
          <p:cNvPr id="14" name="Text 12"/>
          <p:cNvSpPr/>
          <p:nvPr/>
        </p:nvSpPr>
        <p:spPr>
          <a:xfrm>
            <a:off x="956733" y="2861804"/>
            <a:ext cx="3226647"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rubric_facts</a:t>
            </a:r>
            <a:endParaRPr lang="en-US" sz="1500" dirty="0"/>
          </a:p>
        </p:txBody>
      </p:sp>
      <p:sp>
        <p:nvSpPr>
          <p:cNvPr id="15" name="Text 13"/>
          <p:cNvSpPr/>
          <p:nvPr/>
        </p:nvSpPr>
        <p:spPr>
          <a:xfrm>
            <a:off x="956733" y="3157079"/>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Human rubric plus checked facts</a:t>
            </a:r>
            <a:endParaRPr lang="en-US" sz="1300" dirty="0"/>
          </a:p>
        </p:txBody>
      </p:sp>
      <p:sp>
        <p:nvSpPr>
          <p:cNvPr id="16" name="Shape 14"/>
          <p:cNvSpPr/>
          <p:nvPr/>
        </p:nvSpPr>
        <p:spPr>
          <a:xfrm>
            <a:off x="4388908" y="2721043"/>
            <a:ext cx="3414183" cy="799637"/>
          </a:xfrm>
          <a:prstGeom prst="roundRect">
            <a:avLst>
              <a:gd name="adj" fmla="val 12309"/>
            </a:avLst>
          </a:prstGeom>
          <a:solidFill>
            <a:srgbClr val="FCFAF6"/>
          </a:solidFill>
          <a:ln w="6350">
            <a:solidFill>
              <a:srgbClr val="D9D3C4"/>
            </a:solidFill>
            <a:prstDash val="solid"/>
          </a:ln>
        </p:spPr>
        <p:txBody>
          <a:bodyPr/>
          <a:lstStyle/>
          <a:p>
            <a:endParaRPr lang="en-US"/>
          </a:p>
        </p:txBody>
      </p:sp>
      <p:sp>
        <p:nvSpPr>
          <p:cNvPr id="17" name="Text 15"/>
          <p:cNvSpPr/>
          <p:nvPr/>
        </p:nvSpPr>
        <p:spPr>
          <a:xfrm>
            <a:off x="4529667" y="2861804"/>
            <a:ext cx="3226647"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rubric_nofacts</a:t>
            </a:r>
            <a:endParaRPr lang="en-US" sz="1500" dirty="0"/>
          </a:p>
        </p:txBody>
      </p:sp>
      <p:sp>
        <p:nvSpPr>
          <p:cNvPr id="18" name="Text 16"/>
          <p:cNvSpPr/>
          <p:nvPr/>
        </p:nvSpPr>
        <p:spPr>
          <a:xfrm>
            <a:off x="4529667" y="3157079"/>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Same, without facts (ablation)</a:t>
            </a:r>
            <a:endParaRPr lang="en-US" sz="1300" dirty="0"/>
          </a:p>
        </p:txBody>
      </p:sp>
      <p:sp>
        <p:nvSpPr>
          <p:cNvPr id="19" name="Shape 17"/>
          <p:cNvSpPr/>
          <p:nvPr/>
        </p:nvSpPr>
        <p:spPr>
          <a:xfrm>
            <a:off x="7961842" y="2721043"/>
            <a:ext cx="3414183" cy="799637"/>
          </a:xfrm>
          <a:prstGeom prst="roundRect">
            <a:avLst>
              <a:gd name="adj" fmla="val 12309"/>
            </a:avLst>
          </a:prstGeom>
          <a:solidFill>
            <a:srgbClr val="FCFAF6"/>
          </a:solidFill>
          <a:ln w="6350">
            <a:solidFill>
              <a:srgbClr val="D9D3C4"/>
            </a:solidFill>
            <a:prstDash val="solid"/>
          </a:ln>
        </p:spPr>
        <p:txBody>
          <a:bodyPr/>
          <a:lstStyle/>
          <a:p>
            <a:endParaRPr lang="en-US"/>
          </a:p>
        </p:txBody>
      </p:sp>
      <p:sp>
        <p:nvSpPr>
          <p:cNvPr id="20" name="Text 18"/>
          <p:cNvSpPr/>
          <p:nvPr/>
        </p:nvSpPr>
        <p:spPr>
          <a:xfrm>
            <a:off x="8102600" y="2861804"/>
            <a:ext cx="3226647"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checklist</a:t>
            </a:r>
            <a:endParaRPr lang="en-US" sz="1500" dirty="0"/>
          </a:p>
        </p:txBody>
      </p:sp>
      <p:sp>
        <p:nvSpPr>
          <p:cNvPr id="21" name="Text 19"/>
          <p:cNvSpPr/>
          <p:nvPr/>
        </p:nvSpPr>
        <p:spPr>
          <a:xfrm>
            <a:off x="8102600" y="3157079"/>
            <a:ext cx="322664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7242B"/>
                </a:solidFill>
                <a:latin typeface="IBM Plex Sans" pitchFamily="34" charset="0"/>
                <a:ea typeface="IBM Plex Sans" pitchFamily="34" charset="-122"/>
                <a:cs typeface="IBM Plex Sans" pitchFamily="34" charset="-120"/>
              </a:rPr>
              <a:t>Judge lists and checks claims first</a:t>
            </a:r>
            <a:endParaRPr lang="en-US" sz="1300" dirty="0"/>
          </a:p>
        </p:txBody>
      </p:sp>
      <p:sp>
        <p:nvSpPr>
          <p:cNvPr id="22" name="Text 20"/>
          <p:cNvSpPr/>
          <p:nvPr/>
        </p:nvSpPr>
        <p:spPr>
          <a:xfrm>
            <a:off x="812800" y="3663553"/>
            <a:ext cx="108833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A"/>
                </a:solidFill>
                <a:latin typeface="IBM Plex Sans" pitchFamily="34" charset="0"/>
                <a:ea typeface="IBM Plex Sans" pitchFamily="34" charset="-122"/>
                <a:cs typeface="IBM Plex Sans" pitchFamily="34" charset="-120"/>
              </a:rPr>
              <a:t>Temperature 0.1, seed 42. Judges never from the generator's family.</a:t>
            </a:r>
            <a:endParaRPr lang="en-US" sz="1300" dirty="0"/>
          </a:p>
        </p:txBody>
      </p:sp>
      <p:sp>
        <p:nvSpPr>
          <p:cNvPr id="23" name="Text 21"/>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13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RESULTS · HUMAN ANNOTATION</a:t>
            </a:r>
            <a:endParaRPr lang="en-US" sz="1300" dirty="0"/>
          </a:p>
        </p:txBody>
      </p:sp>
      <p:sp>
        <p:nvSpPr>
          <p:cNvPr id="3" name="Text 1"/>
          <p:cNvSpPr>
            <a:spLocks noGrp="1"/>
          </p:cNvSpPr>
          <p:nvPr>
            <p:ph type="title"/>
          </p:nvPr>
        </p:nvSpPr>
        <p:spPr>
          <a:xfrm>
            <a:off x="812800" y="11455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Humans agree moderately, and unevenly</a:t>
            </a:r>
            <a:endParaRPr lang="en-US" sz="3200" dirty="0"/>
          </a:p>
        </p:txBody>
      </p:sp>
      <p:sp>
        <p:nvSpPr>
          <p:cNvPr id="4" name="Shape 2"/>
          <p:cNvSpPr/>
          <p:nvPr/>
        </p:nvSpPr>
        <p:spPr>
          <a:xfrm>
            <a:off x="815975" y="1697304"/>
            <a:ext cx="6169223" cy="3368477"/>
          </a:xfrm>
          <a:prstGeom prst="roundRect">
            <a:avLst>
              <a:gd name="adj" fmla="val 2922"/>
            </a:avLst>
          </a:prstGeom>
          <a:solidFill>
            <a:srgbClr val="FCFAF6"/>
          </a:solidFill>
          <a:ln w="6350">
            <a:solidFill>
              <a:srgbClr val="D9D3C4"/>
            </a:solidFill>
            <a:prstDash val="solid"/>
          </a:ln>
        </p:spPr>
        <p:txBody>
          <a:bodyPr/>
          <a:lstStyle/>
          <a:p>
            <a:endParaRPr lang="en-US"/>
          </a:p>
        </p:txBody>
      </p:sp>
      <p:sp>
        <p:nvSpPr>
          <p:cNvPr id="5" name="Text 3"/>
          <p:cNvSpPr/>
          <p:nvPr/>
        </p:nvSpPr>
        <p:spPr>
          <a:xfrm>
            <a:off x="994833" y="1876165"/>
            <a:ext cx="5985852"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Krippendorff alpha between 3 humans</a:t>
            </a:r>
            <a:endParaRPr lang="en-US" sz="1500" dirty="0"/>
          </a:p>
        </p:txBody>
      </p:sp>
      <p:sp>
        <p:nvSpPr>
          <p:cNvPr id="6" name="Text 4"/>
          <p:cNvSpPr/>
          <p:nvPr/>
        </p:nvSpPr>
        <p:spPr>
          <a:xfrm>
            <a:off x="994833" y="2158740"/>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ignored_constraint</a:t>
            </a:r>
            <a:endParaRPr lang="en-US" sz="1200" dirty="0"/>
          </a:p>
        </p:txBody>
      </p:sp>
      <p:sp>
        <p:nvSpPr>
          <p:cNvPr id="7" name="Shape 5"/>
          <p:cNvSpPr/>
          <p:nvPr/>
        </p:nvSpPr>
        <p:spPr>
          <a:xfrm>
            <a:off x="3293533" y="2182813"/>
            <a:ext cx="2540000" cy="165100"/>
          </a:xfrm>
          <a:prstGeom prst="roundRect">
            <a:avLst>
              <a:gd name="adj" fmla="val 23077"/>
            </a:avLst>
          </a:prstGeom>
          <a:solidFill>
            <a:srgbClr val="E4DECE"/>
          </a:solidFill>
          <a:ln/>
        </p:spPr>
        <p:txBody>
          <a:bodyPr/>
          <a:lstStyle/>
          <a:p>
            <a:endParaRPr lang="en-US"/>
          </a:p>
        </p:txBody>
      </p:sp>
      <p:sp>
        <p:nvSpPr>
          <p:cNvPr id="8" name="Shape 6"/>
          <p:cNvSpPr/>
          <p:nvPr/>
        </p:nvSpPr>
        <p:spPr>
          <a:xfrm>
            <a:off x="3293533" y="2182813"/>
            <a:ext cx="254000" cy="165100"/>
          </a:xfrm>
          <a:prstGeom prst="roundRect">
            <a:avLst>
              <a:gd name="adj" fmla="val 23077"/>
            </a:avLst>
          </a:prstGeom>
          <a:solidFill>
            <a:srgbClr val="B2432A"/>
          </a:solidFill>
          <a:ln/>
        </p:spPr>
        <p:txBody>
          <a:bodyPr/>
          <a:lstStyle/>
          <a:p>
            <a:endParaRPr lang="en-US"/>
          </a:p>
        </p:txBody>
      </p:sp>
      <p:sp>
        <p:nvSpPr>
          <p:cNvPr id="9" name="Text 7"/>
          <p:cNvSpPr/>
          <p:nvPr/>
        </p:nvSpPr>
        <p:spPr>
          <a:xfrm>
            <a:off x="5909733" y="2158740"/>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0.10</a:t>
            </a:r>
            <a:endParaRPr lang="en-US" sz="1200" dirty="0"/>
          </a:p>
        </p:txBody>
      </p:sp>
      <p:sp>
        <p:nvSpPr>
          <p:cNvPr id="10" name="Text 8"/>
          <p:cNvSpPr/>
          <p:nvPr/>
        </p:nvSpPr>
        <p:spPr>
          <a:xfrm>
            <a:off x="994833" y="2410160"/>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factual_error</a:t>
            </a:r>
            <a:endParaRPr lang="en-US" sz="1200" dirty="0"/>
          </a:p>
        </p:txBody>
      </p:sp>
      <p:sp>
        <p:nvSpPr>
          <p:cNvPr id="11" name="Shape 9"/>
          <p:cNvSpPr/>
          <p:nvPr/>
        </p:nvSpPr>
        <p:spPr>
          <a:xfrm>
            <a:off x="3293533" y="2434233"/>
            <a:ext cx="2540000" cy="165100"/>
          </a:xfrm>
          <a:prstGeom prst="roundRect">
            <a:avLst>
              <a:gd name="adj" fmla="val 23077"/>
            </a:avLst>
          </a:prstGeom>
          <a:solidFill>
            <a:srgbClr val="E4DECE"/>
          </a:solidFill>
          <a:ln/>
        </p:spPr>
        <p:txBody>
          <a:bodyPr/>
          <a:lstStyle/>
          <a:p>
            <a:endParaRPr lang="en-US"/>
          </a:p>
        </p:txBody>
      </p:sp>
      <p:sp>
        <p:nvSpPr>
          <p:cNvPr id="12" name="Shape 10"/>
          <p:cNvSpPr/>
          <p:nvPr/>
        </p:nvSpPr>
        <p:spPr>
          <a:xfrm>
            <a:off x="3293533" y="2434233"/>
            <a:ext cx="990600" cy="165100"/>
          </a:xfrm>
          <a:prstGeom prst="roundRect">
            <a:avLst>
              <a:gd name="adj" fmla="val 23077"/>
            </a:avLst>
          </a:prstGeom>
          <a:solidFill>
            <a:srgbClr val="B2432A"/>
          </a:solidFill>
          <a:ln/>
        </p:spPr>
        <p:txBody>
          <a:bodyPr/>
          <a:lstStyle/>
          <a:p>
            <a:endParaRPr lang="en-US"/>
          </a:p>
        </p:txBody>
      </p:sp>
      <p:sp>
        <p:nvSpPr>
          <p:cNvPr id="13" name="Text 11"/>
          <p:cNvSpPr/>
          <p:nvPr/>
        </p:nvSpPr>
        <p:spPr>
          <a:xfrm>
            <a:off x="5909733" y="2410160"/>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0.39</a:t>
            </a:r>
            <a:endParaRPr lang="en-US" sz="1200" dirty="0"/>
          </a:p>
        </p:txBody>
      </p:sp>
      <p:sp>
        <p:nvSpPr>
          <p:cNvPr id="14" name="Text 12"/>
          <p:cNvSpPr/>
          <p:nvPr/>
        </p:nvSpPr>
        <p:spPr>
          <a:xfrm>
            <a:off x="994833" y="2661580"/>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invented_personalization</a:t>
            </a:r>
            <a:endParaRPr lang="en-US" sz="1200" dirty="0"/>
          </a:p>
        </p:txBody>
      </p:sp>
      <p:sp>
        <p:nvSpPr>
          <p:cNvPr id="15" name="Shape 13"/>
          <p:cNvSpPr/>
          <p:nvPr/>
        </p:nvSpPr>
        <p:spPr>
          <a:xfrm>
            <a:off x="3293533" y="2685653"/>
            <a:ext cx="2540000" cy="165100"/>
          </a:xfrm>
          <a:prstGeom prst="roundRect">
            <a:avLst>
              <a:gd name="adj" fmla="val 23077"/>
            </a:avLst>
          </a:prstGeom>
          <a:solidFill>
            <a:srgbClr val="E4DECE"/>
          </a:solidFill>
          <a:ln/>
        </p:spPr>
        <p:txBody>
          <a:bodyPr/>
          <a:lstStyle/>
          <a:p>
            <a:endParaRPr lang="en-US"/>
          </a:p>
        </p:txBody>
      </p:sp>
      <p:sp>
        <p:nvSpPr>
          <p:cNvPr id="16" name="Shape 14"/>
          <p:cNvSpPr/>
          <p:nvPr/>
        </p:nvSpPr>
        <p:spPr>
          <a:xfrm>
            <a:off x="3293533" y="2685653"/>
            <a:ext cx="1219200" cy="165100"/>
          </a:xfrm>
          <a:prstGeom prst="roundRect">
            <a:avLst>
              <a:gd name="adj" fmla="val 23077"/>
            </a:avLst>
          </a:prstGeom>
          <a:solidFill>
            <a:srgbClr val="B07A12"/>
          </a:solidFill>
          <a:ln/>
        </p:spPr>
        <p:txBody>
          <a:bodyPr/>
          <a:lstStyle/>
          <a:p>
            <a:endParaRPr lang="en-US"/>
          </a:p>
        </p:txBody>
      </p:sp>
      <p:sp>
        <p:nvSpPr>
          <p:cNvPr id="17" name="Text 15"/>
          <p:cNvSpPr/>
          <p:nvPr/>
        </p:nvSpPr>
        <p:spPr>
          <a:xfrm>
            <a:off x="5909733" y="2661580"/>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0.48</a:t>
            </a:r>
            <a:endParaRPr lang="en-US" sz="1200" dirty="0"/>
          </a:p>
        </p:txBody>
      </p:sp>
      <p:sp>
        <p:nvSpPr>
          <p:cNvPr id="18" name="Text 16"/>
          <p:cNvSpPr/>
          <p:nvPr/>
        </p:nvSpPr>
        <p:spPr>
          <a:xfrm>
            <a:off x="994833" y="2913000"/>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unsupported_claim</a:t>
            </a:r>
            <a:endParaRPr lang="en-US" sz="1200" dirty="0"/>
          </a:p>
        </p:txBody>
      </p:sp>
      <p:sp>
        <p:nvSpPr>
          <p:cNvPr id="19" name="Shape 17"/>
          <p:cNvSpPr/>
          <p:nvPr/>
        </p:nvSpPr>
        <p:spPr>
          <a:xfrm>
            <a:off x="3293533" y="2937073"/>
            <a:ext cx="2540000" cy="165100"/>
          </a:xfrm>
          <a:prstGeom prst="roundRect">
            <a:avLst>
              <a:gd name="adj" fmla="val 23077"/>
            </a:avLst>
          </a:prstGeom>
          <a:solidFill>
            <a:srgbClr val="E4DECE"/>
          </a:solidFill>
          <a:ln/>
        </p:spPr>
        <p:txBody>
          <a:bodyPr/>
          <a:lstStyle/>
          <a:p>
            <a:endParaRPr lang="en-US"/>
          </a:p>
        </p:txBody>
      </p:sp>
      <p:sp>
        <p:nvSpPr>
          <p:cNvPr id="20" name="Shape 18"/>
          <p:cNvSpPr/>
          <p:nvPr/>
        </p:nvSpPr>
        <p:spPr>
          <a:xfrm>
            <a:off x="3293533" y="2937073"/>
            <a:ext cx="711200" cy="165100"/>
          </a:xfrm>
          <a:prstGeom prst="roundRect">
            <a:avLst>
              <a:gd name="adj" fmla="val 23077"/>
            </a:avLst>
          </a:prstGeom>
          <a:solidFill>
            <a:srgbClr val="B2432A"/>
          </a:solidFill>
          <a:ln/>
        </p:spPr>
        <p:txBody>
          <a:bodyPr/>
          <a:lstStyle/>
          <a:p>
            <a:endParaRPr lang="en-US"/>
          </a:p>
        </p:txBody>
      </p:sp>
      <p:sp>
        <p:nvSpPr>
          <p:cNvPr id="21" name="Text 19"/>
          <p:cNvSpPr/>
          <p:nvPr/>
        </p:nvSpPr>
        <p:spPr>
          <a:xfrm>
            <a:off x="5909733" y="2913000"/>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0.28</a:t>
            </a:r>
            <a:endParaRPr lang="en-US" sz="1200" dirty="0"/>
          </a:p>
        </p:txBody>
      </p:sp>
      <p:sp>
        <p:nvSpPr>
          <p:cNvPr id="22" name="Text 20"/>
          <p:cNvSpPr/>
          <p:nvPr/>
        </p:nvSpPr>
        <p:spPr>
          <a:xfrm>
            <a:off x="994833" y="3164421"/>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overstated_certainty</a:t>
            </a:r>
            <a:endParaRPr lang="en-US" sz="1200" dirty="0"/>
          </a:p>
        </p:txBody>
      </p:sp>
      <p:sp>
        <p:nvSpPr>
          <p:cNvPr id="23" name="Shape 21"/>
          <p:cNvSpPr/>
          <p:nvPr/>
        </p:nvSpPr>
        <p:spPr>
          <a:xfrm>
            <a:off x="3293533" y="3188494"/>
            <a:ext cx="2540000" cy="165100"/>
          </a:xfrm>
          <a:prstGeom prst="roundRect">
            <a:avLst>
              <a:gd name="adj" fmla="val 23077"/>
            </a:avLst>
          </a:prstGeom>
          <a:solidFill>
            <a:srgbClr val="E4DECE"/>
          </a:solidFill>
          <a:ln/>
        </p:spPr>
        <p:txBody>
          <a:bodyPr/>
          <a:lstStyle/>
          <a:p>
            <a:endParaRPr lang="en-US"/>
          </a:p>
        </p:txBody>
      </p:sp>
      <p:sp>
        <p:nvSpPr>
          <p:cNvPr id="24" name="Shape 22"/>
          <p:cNvSpPr/>
          <p:nvPr/>
        </p:nvSpPr>
        <p:spPr>
          <a:xfrm>
            <a:off x="3293533" y="3188494"/>
            <a:ext cx="863600" cy="165100"/>
          </a:xfrm>
          <a:prstGeom prst="roundRect">
            <a:avLst>
              <a:gd name="adj" fmla="val 23077"/>
            </a:avLst>
          </a:prstGeom>
          <a:solidFill>
            <a:srgbClr val="B2432A"/>
          </a:solidFill>
          <a:ln/>
        </p:spPr>
        <p:txBody>
          <a:bodyPr/>
          <a:lstStyle/>
          <a:p>
            <a:endParaRPr lang="en-US"/>
          </a:p>
        </p:txBody>
      </p:sp>
      <p:sp>
        <p:nvSpPr>
          <p:cNvPr id="25" name="Text 23"/>
          <p:cNvSpPr/>
          <p:nvPr/>
        </p:nvSpPr>
        <p:spPr>
          <a:xfrm>
            <a:off x="5909733" y="316442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0.34</a:t>
            </a:r>
            <a:endParaRPr lang="en-US" sz="1200" dirty="0"/>
          </a:p>
        </p:txBody>
      </p:sp>
      <p:sp>
        <p:nvSpPr>
          <p:cNvPr id="26" name="Text 24"/>
          <p:cNvSpPr/>
          <p:nvPr/>
        </p:nvSpPr>
        <p:spPr>
          <a:xfrm>
            <a:off x="994833" y="3415841"/>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clarity</a:t>
            </a:r>
            <a:endParaRPr lang="en-US" sz="1200" dirty="0"/>
          </a:p>
        </p:txBody>
      </p:sp>
      <p:sp>
        <p:nvSpPr>
          <p:cNvPr id="27" name="Shape 25"/>
          <p:cNvSpPr/>
          <p:nvPr/>
        </p:nvSpPr>
        <p:spPr>
          <a:xfrm>
            <a:off x="3293533" y="3439914"/>
            <a:ext cx="2540000" cy="165100"/>
          </a:xfrm>
          <a:prstGeom prst="roundRect">
            <a:avLst>
              <a:gd name="adj" fmla="val 23077"/>
            </a:avLst>
          </a:prstGeom>
          <a:solidFill>
            <a:srgbClr val="E4DECE"/>
          </a:solidFill>
          <a:ln/>
        </p:spPr>
        <p:txBody>
          <a:bodyPr/>
          <a:lstStyle/>
          <a:p>
            <a:endParaRPr lang="en-US"/>
          </a:p>
        </p:txBody>
      </p:sp>
      <p:sp>
        <p:nvSpPr>
          <p:cNvPr id="28" name="Shape 26"/>
          <p:cNvSpPr/>
          <p:nvPr/>
        </p:nvSpPr>
        <p:spPr>
          <a:xfrm>
            <a:off x="3293533" y="3439914"/>
            <a:ext cx="730250" cy="165100"/>
          </a:xfrm>
          <a:prstGeom prst="roundRect">
            <a:avLst>
              <a:gd name="adj" fmla="val 23077"/>
            </a:avLst>
          </a:prstGeom>
          <a:solidFill>
            <a:srgbClr val="B2432A"/>
          </a:solidFill>
          <a:ln/>
        </p:spPr>
        <p:txBody>
          <a:bodyPr/>
          <a:lstStyle/>
          <a:p>
            <a:endParaRPr lang="en-US"/>
          </a:p>
        </p:txBody>
      </p:sp>
      <p:sp>
        <p:nvSpPr>
          <p:cNvPr id="29" name="Text 27"/>
          <p:cNvSpPr/>
          <p:nvPr/>
        </p:nvSpPr>
        <p:spPr>
          <a:xfrm>
            <a:off x="5909733" y="341584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0.29</a:t>
            </a:r>
            <a:endParaRPr lang="en-US" sz="1200" dirty="0"/>
          </a:p>
        </p:txBody>
      </p:sp>
      <p:sp>
        <p:nvSpPr>
          <p:cNvPr id="30" name="Text 28"/>
          <p:cNvSpPr/>
          <p:nvPr/>
        </p:nvSpPr>
        <p:spPr>
          <a:xfrm>
            <a:off x="994833" y="3667261"/>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profile_fit</a:t>
            </a:r>
            <a:endParaRPr lang="en-US" sz="1200" dirty="0"/>
          </a:p>
        </p:txBody>
      </p:sp>
      <p:sp>
        <p:nvSpPr>
          <p:cNvPr id="31" name="Shape 29"/>
          <p:cNvSpPr/>
          <p:nvPr/>
        </p:nvSpPr>
        <p:spPr>
          <a:xfrm>
            <a:off x="3293533" y="3691334"/>
            <a:ext cx="2540000" cy="165100"/>
          </a:xfrm>
          <a:prstGeom prst="roundRect">
            <a:avLst>
              <a:gd name="adj" fmla="val 23077"/>
            </a:avLst>
          </a:prstGeom>
          <a:solidFill>
            <a:srgbClr val="E4DECE"/>
          </a:solidFill>
          <a:ln/>
        </p:spPr>
        <p:txBody>
          <a:bodyPr/>
          <a:lstStyle/>
          <a:p>
            <a:endParaRPr lang="en-US"/>
          </a:p>
        </p:txBody>
      </p:sp>
      <p:sp>
        <p:nvSpPr>
          <p:cNvPr id="32" name="Shape 30"/>
          <p:cNvSpPr/>
          <p:nvPr/>
        </p:nvSpPr>
        <p:spPr>
          <a:xfrm>
            <a:off x="3293533" y="3691334"/>
            <a:ext cx="1219200" cy="165100"/>
          </a:xfrm>
          <a:prstGeom prst="roundRect">
            <a:avLst>
              <a:gd name="adj" fmla="val 23077"/>
            </a:avLst>
          </a:prstGeom>
          <a:solidFill>
            <a:srgbClr val="B07A12"/>
          </a:solidFill>
          <a:ln/>
        </p:spPr>
        <p:txBody>
          <a:bodyPr/>
          <a:lstStyle/>
          <a:p>
            <a:endParaRPr lang="en-US"/>
          </a:p>
        </p:txBody>
      </p:sp>
      <p:sp>
        <p:nvSpPr>
          <p:cNvPr id="33" name="Text 31"/>
          <p:cNvSpPr/>
          <p:nvPr/>
        </p:nvSpPr>
        <p:spPr>
          <a:xfrm>
            <a:off x="5909733" y="366726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0.48</a:t>
            </a:r>
            <a:endParaRPr lang="en-US" sz="1200" dirty="0"/>
          </a:p>
        </p:txBody>
      </p:sp>
      <p:sp>
        <p:nvSpPr>
          <p:cNvPr id="34" name="Text 32"/>
          <p:cNvSpPr/>
          <p:nvPr/>
        </p:nvSpPr>
        <p:spPr>
          <a:xfrm>
            <a:off x="994833" y="3918682"/>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goal_alignment</a:t>
            </a:r>
            <a:endParaRPr lang="en-US" sz="1200" dirty="0"/>
          </a:p>
        </p:txBody>
      </p:sp>
      <p:sp>
        <p:nvSpPr>
          <p:cNvPr id="35" name="Shape 33"/>
          <p:cNvSpPr/>
          <p:nvPr/>
        </p:nvSpPr>
        <p:spPr>
          <a:xfrm>
            <a:off x="3293533" y="3942755"/>
            <a:ext cx="2540000" cy="165100"/>
          </a:xfrm>
          <a:prstGeom prst="roundRect">
            <a:avLst>
              <a:gd name="adj" fmla="val 23077"/>
            </a:avLst>
          </a:prstGeom>
          <a:solidFill>
            <a:srgbClr val="E4DECE"/>
          </a:solidFill>
          <a:ln/>
        </p:spPr>
        <p:txBody>
          <a:bodyPr/>
          <a:lstStyle/>
          <a:p>
            <a:endParaRPr lang="en-US"/>
          </a:p>
        </p:txBody>
      </p:sp>
      <p:sp>
        <p:nvSpPr>
          <p:cNvPr id="36" name="Shape 34"/>
          <p:cNvSpPr/>
          <p:nvPr/>
        </p:nvSpPr>
        <p:spPr>
          <a:xfrm>
            <a:off x="3293533" y="3942755"/>
            <a:ext cx="19050" cy="165100"/>
          </a:xfrm>
          <a:prstGeom prst="roundRect">
            <a:avLst>
              <a:gd name="adj" fmla="val 50000"/>
            </a:avLst>
          </a:prstGeom>
          <a:solidFill>
            <a:srgbClr val="B2432A"/>
          </a:solidFill>
          <a:ln/>
        </p:spPr>
        <p:txBody>
          <a:bodyPr/>
          <a:lstStyle/>
          <a:p>
            <a:endParaRPr lang="en-US"/>
          </a:p>
        </p:txBody>
      </p:sp>
      <p:sp>
        <p:nvSpPr>
          <p:cNvPr id="37" name="Text 35"/>
          <p:cNvSpPr/>
          <p:nvPr/>
        </p:nvSpPr>
        <p:spPr>
          <a:xfrm>
            <a:off x="5909733" y="391868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0.00</a:t>
            </a:r>
            <a:endParaRPr lang="en-US" sz="1200" dirty="0"/>
          </a:p>
        </p:txBody>
      </p:sp>
      <p:sp>
        <p:nvSpPr>
          <p:cNvPr id="38" name="Text 36"/>
          <p:cNvSpPr/>
          <p:nvPr/>
        </p:nvSpPr>
        <p:spPr>
          <a:xfrm>
            <a:off x="994833" y="4170102"/>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tradeoff</a:t>
            </a:r>
            <a:endParaRPr lang="en-US" sz="1200" dirty="0"/>
          </a:p>
        </p:txBody>
      </p:sp>
      <p:sp>
        <p:nvSpPr>
          <p:cNvPr id="39" name="Shape 37"/>
          <p:cNvSpPr/>
          <p:nvPr/>
        </p:nvSpPr>
        <p:spPr>
          <a:xfrm>
            <a:off x="3293533" y="4194175"/>
            <a:ext cx="2540000" cy="165100"/>
          </a:xfrm>
          <a:prstGeom prst="roundRect">
            <a:avLst>
              <a:gd name="adj" fmla="val 23077"/>
            </a:avLst>
          </a:prstGeom>
          <a:solidFill>
            <a:srgbClr val="E4DECE"/>
          </a:solidFill>
          <a:ln/>
        </p:spPr>
        <p:txBody>
          <a:bodyPr/>
          <a:lstStyle/>
          <a:p>
            <a:endParaRPr lang="en-US"/>
          </a:p>
        </p:txBody>
      </p:sp>
      <p:sp>
        <p:nvSpPr>
          <p:cNvPr id="40" name="Shape 38"/>
          <p:cNvSpPr/>
          <p:nvPr/>
        </p:nvSpPr>
        <p:spPr>
          <a:xfrm>
            <a:off x="3293533" y="4194175"/>
            <a:ext cx="1701800" cy="165100"/>
          </a:xfrm>
          <a:prstGeom prst="roundRect">
            <a:avLst>
              <a:gd name="adj" fmla="val 23077"/>
            </a:avLst>
          </a:prstGeom>
          <a:solidFill>
            <a:srgbClr val="1F6F78"/>
          </a:solidFill>
          <a:ln/>
        </p:spPr>
        <p:txBody>
          <a:bodyPr/>
          <a:lstStyle/>
          <a:p>
            <a:endParaRPr lang="en-US"/>
          </a:p>
        </p:txBody>
      </p:sp>
      <p:sp>
        <p:nvSpPr>
          <p:cNvPr id="41" name="Text 39"/>
          <p:cNvSpPr/>
          <p:nvPr/>
        </p:nvSpPr>
        <p:spPr>
          <a:xfrm>
            <a:off x="5909733" y="417010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0.67</a:t>
            </a:r>
            <a:endParaRPr lang="en-US" sz="1200" dirty="0"/>
          </a:p>
        </p:txBody>
      </p:sp>
      <p:sp>
        <p:nvSpPr>
          <p:cNvPr id="42" name="Text 40"/>
          <p:cNvSpPr/>
          <p:nvPr/>
        </p:nvSpPr>
        <p:spPr>
          <a:xfrm>
            <a:off x="994833" y="4421522"/>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overall</a:t>
            </a:r>
            <a:endParaRPr lang="en-US" sz="1200" dirty="0"/>
          </a:p>
        </p:txBody>
      </p:sp>
      <p:sp>
        <p:nvSpPr>
          <p:cNvPr id="43" name="Shape 41"/>
          <p:cNvSpPr/>
          <p:nvPr/>
        </p:nvSpPr>
        <p:spPr>
          <a:xfrm>
            <a:off x="3293533" y="4445595"/>
            <a:ext cx="2540000" cy="165100"/>
          </a:xfrm>
          <a:prstGeom prst="roundRect">
            <a:avLst>
              <a:gd name="adj" fmla="val 23077"/>
            </a:avLst>
          </a:prstGeom>
          <a:solidFill>
            <a:srgbClr val="E4DECE"/>
          </a:solidFill>
          <a:ln/>
        </p:spPr>
        <p:txBody>
          <a:bodyPr/>
          <a:lstStyle/>
          <a:p>
            <a:endParaRPr lang="en-US"/>
          </a:p>
        </p:txBody>
      </p:sp>
      <p:sp>
        <p:nvSpPr>
          <p:cNvPr id="44" name="Shape 42"/>
          <p:cNvSpPr/>
          <p:nvPr/>
        </p:nvSpPr>
        <p:spPr>
          <a:xfrm>
            <a:off x="3293533" y="4445595"/>
            <a:ext cx="1549400" cy="165100"/>
          </a:xfrm>
          <a:prstGeom prst="roundRect">
            <a:avLst>
              <a:gd name="adj" fmla="val 23077"/>
            </a:avLst>
          </a:prstGeom>
          <a:solidFill>
            <a:srgbClr val="1F6F78"/>
          </a:solidFill>
          <a:ln/>
        </p:spPr>
        <p:txBody>
          <a:bodyPr/>
          <a:lstStyle/>
          <a:p>
            <a:endParaRPr lang="en-US"/>
          </a:p>
        </p:txBody>
      </p:sp>
      <p:sp>
        <p:nvSpPr>
          <p:cNvPr id="45" name="Text 43"/>
          <p:cNvSpPr/>
          <p:nvPr/>
        </p:nvSpPr>
        <p:spPr>
          <a:xfrm>
            <a:off x="5909733" y="442152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0.61</a:t>
            </a:r>
            <a:endParaRPr lang="en-US" sz="1200" dirty="0"/>
          </a:p>
        </p:txBody>
      </p:sp>
      <p:sp>
        <p:nvSpPr>
          <p:cNvPr id="46" name="Text 44"/>
          <p:cNvSpPr/>
          <p:nvPr/>
        </p:nvSpPr>
        <p:spPr>
          <a:xfrm>
            <a:off x="994833" y="4698343"/>
            <a:ext cx="5985852" cy="213982"/>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5606A"/>
                </a:solidFill>
                <a:latin typeface="IBM Plex Sans" pitchFamily="34" charset="0"/>
                <a:ea typeface="IBM Plex Sans" pitchFamily="34" charset="-122"/>
                <a:cs typeface="IBM Plex Sans" pitchFamily="34" charset="-120"/>
              </a:rPr>
              <a:t>Teal 0.6+ good · ochre 0.4-0.6 moderate · red under 0.4 weak</a:t>
            </a:r>
            <a:endParaRPr lang="en-US" sz="1100" dirty="0"/>
          </a:p>
        </p:txBody>
      </p:sp>
      <p:sp>
        <p:nvSpPr>
          <p:cNvPr id="47" name="Shape 45"/>
          <p:cNvSpPr/>
          <p:nvPr/>
        </p:nvSpPr>
        <p:spPr>
          <a:xfrm>
            <a:off x="7143948" y="1697304"/>
            <a:ext cx="4232077" cy="3368477"/>
          </a:xfrm>
          <a:prstGeom prst="roundRect">
            <a:avLst>
              <a:gd name="adj" fmla="val 2922"/>
            </a:avLst>
          </a:prstGeom>
          <a:solidFill>
            <a:srgbClr val="FCFAF6"/>
          </a:solidFill>
          <a:ln w="6350">
            <a:solidFill>
              <a:srgbClr val="D9D3C4"/>
            </a:solidFill>
            <a:prstDash val="solid"/>
          </a:ln>
        </p:spPr>
        <p:txBody>
          <a:bodyPr/>
          <a:lstStyle/>
          <a:p>
            <a:endParaRPr lang="en-US"/>
          </a:p>
        </p:txBody>
      </p:sp>
      <p:sp>
        <p:nvSpPr>
          <p:cNvPr id="48" name="Text 46"/>
          <p:cNvSpPr/>
          <p:nvPr/>
        </p:nvSpPr>
        <p:spPr>
          <a:xfrm>
            <a:off x="7322807" y="1876165"/>
            <a:ext cx="399059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How to read it</a:t>
            </a:r>
            <a:endParaRPr lang="en-US" sz="1600" dirty="0"/>
          </a:p>
        </p:txBody>
      </p:sp>
      <p:sp>
        <p:nvSpPr>
          <p:cNvPr id="49" name="Text 47"/>
          <p:cNvSpPr/>
          <p:nvPr/>
        </p:nvSpPr>
        <p:spPr>
          <a:xfrm>
            <a:off x="7408151" y="2185988"/>
            <a:ext cx="3897627" cy="916781"/>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Alpha = agreement beyond chance</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1 = perfect, 0 = no better than guessing</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Rare problems read low even when people mostly agree</a:t>
            </a:r>
            <a:endParaRPr lang="en-US" sz="1300" dirty="0"/>
          </a:p>
        </p:txBody>
      </p:sp>
      <p:sp>
        <p:nvSpPr>
          <p:cNvPr id="50" name="Text 4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51" name="Text 49"/>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RESULTS · RQ1</a:t>
            </a:r>
            <a:endParaRPr lang="en-US" sz="1300" dirty="0"/>
          </a:p>
        </p:txBody>
      </p:sp>
      <p:sp>
        <p:nvSpPr>
          <p:cNvPr id="3" name="Text 1"/>
          <p:cNvSpPr>
            <a:spLocks noGrp="1"/>
          </p:cNvSpPr>
          <p:nvPr>
            <p:ph type="title"/>
          </p:nvPr>
        </p:nvSpPr>
        <p:spPr>
          <a:xfrm>
            <a:off x="812800" y="11201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Judges match humans on scores, not yet on flags</a:t>
            </a:r>
            <a:endParaRPr lang="en-US" sz="3200" dirty="0"/>
          </a:p>
        </p:txBody>
      </p:sp>
      <p:sp>
        <p:nvSpPr>
          <p:cNvPr id="4" name="Text 2"/>
          <p:cNvSpPr/>
          <p:nvPr/>
        </p:nvSpPr>
        <p:spPr>
          <a:xfrm>
            <a:off x="815975" y="1646504"/>
            <a:ext cx="10560050" cy="598951"/>
          </a:xfrm>
          <a:prstGeom prst="roundRect">
            <a:avLst>
              <a:gd name="adj" fmla="val 16433"/>
            </a:avLst>
          </a:prstGeom>
          <a:solidFill>
            <a:srgbClr val="ECE6D8"/>
          </a:solidFill>
          <a:ln w="6350">
            <a:solidFill>
              <a:srgbClr val="D9D3C4"/>
            </a:solidFill>
            <a:prstDash val="solid"/>
          </a:ln>
        </p:spPr>
        <p:txBody>
          <a:bodyPr wrap="square" lIns="99231" tIns="99231" rIns="0" bIns="99231" rtlCol="0" anchor="t">
            <a:normAutofit/>
          </a:bodyPr>
          <a:lstStyle/>
          <a:p>
            <a:pPr marL="0" indent="0" algn="l">
              <a:lnSpc>
                <a:spcPts val="1890"/>
              </a:lnSpc>
              <a:buNone/>
            </a:pPr>
            <a:r>
              <a:rPr lang="en-US" sz="1400" b="1" dirty="0">
                <a:solidFill>
                  <a:srgbClr val="17242B"/>
                </a:solidFill>
                <a:latin typeface="IBM Plex Sans" pitchFamily="34" charset="0"/>
                <a:ea typeface="IBM Plex Sans" pitchFamily="34" charset="-122"/>
                <a:cs typeface="IBM Plex Sans" pitchFamily="34" charset="-120"/>
              </a:rPr>
              <a:t>RQ1</a:t>
            </a:r>
            <a:r>
              <a:rPr lang="en-US" sz="1400" dirty="0">
                <a:solidFill>
                  <a:srgbClr val="17242B"/>
                </a:solidFill>
                <a:latin typeface="IBM Plex Sans" pitchFamily="34" charset="0"/>
                <a:ea typeface="IBM Plex Sans" pitchFamily="34" charset="-122"/>
                <a:cs typeface="IBM Plex Sans" pitchFamily="34" charset="-120"/>
              </a:rPr>
              <a:t> · How well do LLM judges agree with humans, compared with human-vs-human?</a:t>
            </a:r>
            <a:endParaRPr lang="en-US" sz="1400" dirty="0"/>
          </a:p>
        </p:txBody>
      </p:sp>
      <p:sp>
        <p:nvSpPr>
          <p:cNvPr id="5" name="Shape 3"/>
          <p:cNvSpPr/>
          <p:nvPr/>
        </p:nvSpPr>
        <p:spPr>
          <a:xfrm>
            <a:off x="815975" y="2353407"/>
            <a:ext cx="5200650" cy="2204707"/>
          </a:xfrm>
          <a:prstGeom prst="roundRect">
            <a:avLst>
              <a:gd name="adj" fmla="val 4464"/>
            </a:avLst>
          </a:prstGeom>
          <a:solidFill>
            <a:srgbClr val="FCFAF6"/>
          </a:solidFill>
          <a:ln w="6350">
            <a:solidFill>
              <a:srgbClr val="D9D3C4"/>
            </a:solidFill>
            <a:prstDash val="solid"/>
          </a:ln>
        </p:spPr>
        <p:txBody>
          <a:bodyPr/>
          <a:lstStyle/>
          <a:p>
            <a:endParaRPr lang="en-US"/>
          </a:p>
        </p:txBody>
      </p:sp>
      <p:sp>
        <p:nvSpPr>
          <p:cNvPr id="6" name="Text 4"/>
          <p:cNvSpPr/>
          <p:nvPr/>
        </p:nvSpPr>
        <p:spPr>
          <a:xfrm>
            <a:off x="994833" y="2532261"/>
            <a:ext cx="4988221"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Scores 1-5: within 1 point</a:t>
            </a:r>
            <a:endParaRPr lang="en-US" sz="1500" dirty="0"/>
          </a:p>
        </p:txBody>
      </p:sp>
      <p:sp>
        <p:nvSpPr>
          <p:cNvPr id="7" name="Text 5"/>
          <p:cNvSpPr/>
          <p:nvPr/>
        </p:nvSpPr>
        <p:spPr>
          <a:xfrm>
            <a:off x="994833" y="2827536"/>
            <a:ext cx="4988221"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Share of ratings that differ by at most 1</a:t>
            </a:r>
            <a:endParaRPr lang="en-US" sz="1200" dirty="0"/>
          </a:p>
        </p:txBody>
      </p:sp>
      <p:sp>
        <p:nvSpPr>
          <p:cNvPr id="8" name="Text 6"/>
          <p:cNvSpPr/>
          <p:nvPr/>
        </p:nvSpPr>
        <p:spPr>
          <a:xfrm>
            <a:off x="994833" y="310945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Human vs human</a:t>
            </a:r>
            <a:endParaRPr lang="en-US" sz="1200" dirty="0"/>
          </a:p>
        </p:txBody>
      </p:sp>
      <p:sp>
        <p:nvSpPr>
          <p:cNvPr id="9" name="Shape 7"/>
          <p:cNvSpPr/>
          <p:nvPr/>
        </p:nvSpPr>
        <p:spPr>
          <a:xfrm>
            <a:off x="2595033" y="3127177"/>
            <a:ext cx="1651000" cy="177800"/>
          </a:xfrm>
          <a:prstGeom prst="roundRect">
            <a:avLst>
              <a:gd name="adj" fmla="val 21429"/>
            </a:avLst>
          </a:prstGeom>
          <a:solidFill>
            <a:srgbClr val="E4DECE"/>
          </a:solidFill>
          <a:ln/>
        </p:spPr>
        <p:txBody>
          <a:bodyPr/>
          <a:lstStyle/>
          <a:p>
            <a:endParaRPr lang="en-US"/>
          </a:p>
        </p:txBody>
      </p:sp>
      <p:sp>
        <p:nvSpPr>
          <p:cNvPr id="10" name="Shape 8"/>
          <p:cNvSpPr/>
          <p:nvPr/>
        </p:nvSpPr>
        <p:spPr>
          <a:xfrm>
            <a:off x="2595033" y="3127177"/>
            <a:ext cx="1447800" cy="177800"/>
          </a:xfrm>
          <a:prstGeom prst="roundRect">
            <a:avLst>
              <a:gd name="adj" fmla="val 21429"/>
            </a:avLst>
          </a:prstGeom>
          <a:solidFill>
            <a:srgbClr val="17242B"/>
          </a:solidFill>
          <a:ln/>
        </p:spPr>
        <p:txBody>
          <a:bodyPr/>
          <a:lstStyle/>
          <a:p>
            <a:endParaRPr lang="en-US"/>
          </a:p>
        </p:txBody>
      </p:sp>
      <p:sp>
        <p:nvSpPr>
          <p:cNvPr id="11" name="Text 9"/>
          <p:cNvSpPr/>
          <p:nvPr/>
        </p:nvSpPr>
        <p:spPr>
          <a:xfrm>
            <a:off x="4322233" y="310945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0.88</a:t>
            </a:r>
            <a:endParaRPr lang="en-US" sz="1200" dirty="0"/>
          </a:p>
        </p:txBody>
      </p:sp>
      <p:sp>
        <p:nvSpPr>
          <p:cNvPr id="12" name="Text 10"/>
          <p:cNvSpPr/>
          <p:nvPr/>
        </p:nvSpPr>
        <p:spPr>
          <a:xfrm>
            <a:off x="994833" y="337357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checklist</a:t>
            </a:r>
            <a:endParaRPr lang="en-US" sz="1200" dirty="0"/>
          </a:p>
        </p:txBody>
      </p:sp>
      <p:sp>
        <p:nvSpPr>
          <p:cNvPr id="13" name="Shape 11"/>
          <p:cNvSpPr/>
          <p:nvPr/>
        </p:nvSpPr>
        <p:spPr>
          <a:xfrm>
            <a:off x="2595033" y="3391297"/>
            <a:ext cx="1651000" cy="177800"/>
          </a:xfrm>
          <a:prstGeom prst="roundRect">
            <a:avLst>
              <a:gd name="adj" fmla="val 21429"/>
            </a:avLst>
          </a:prstGeom>
          <a:solidFill>
            <a:srgbClr val="E4DECE"/>
          </a:solidFill>
          <a:ln/>
        </p:spPr>
        <p:txBody>
          <a:bodyPr/>
          <a:lstStyle/>
          <a:p>
            <a:endParaRPr lang="en-US"/>
          </a:p>
        </p:txBody>
      </p:sp>
      <p:sp>
        <p:nvSpPr>
          <p:cNvPr id="14" name="Shape 12"/>
          <p:cNvSpPr/>
          <p:nvPr/>
        </p:nvSpPr>
        <p:spPr>
          <a:xfrm>
            <a:off x="2595033" y="3391297"/>
            <a:ext cx="1365250" cy="177800"/>
          </a:xfrm>
          <a:prstGeom prst="roundRect">
            <a:avLst>
              <a:gd name="adj" fmla="val 21429"/>
            </a:avLst>
          </a:prstGeom>
          <a:solidFill>
            <a:srgbClr val="1F6F78"/>
          </a:solidFill>
          <a:ln/>
        </p:spPr>
        <p:txBody>
          <a:bodyPr/>
          <a:lstStyle/>
          <a:p>
            <a:endParaRPr lang="en-US"/>
          </a:p>
        </p:txBody>
      </p:sp>
      <p:sp>
        <p:nvSpPr>
          <p:cNvPr id="15" name="Text 13"/>
          <p:cNvSpPr/>
          <p:nvPr/>
        </p:nvSpPr>
        <p:spPr>
          <a:xfrm>
            <a:off x="4322233" y="337357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0.83</a:t>
            </a:r>
            <a:endParaRPr lang="en-US" sz="1200" dirty="0"/>
          </a:p>
        </p:txBody>
      </p:sp>
      <p:sp>
        <p:nvSpPr>
          <p:cNvPr id="16" name="Text 14"/>
          <p:cNvSpPr/>
          <p:nvPr/>
        </p:nvSpPr>
        <p:spPr>
          <a:xfrm>
            <a:off x="994833" y="363769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Phi-4 facts</a:t>
            </a:r>
            <a:endParaRPr lang="en-US" sz="1200" dirty="0"/>
          </a:p>
        </p:txBody>
      </p:sp>
      <p:sp>
        <p:nvSpPr>
          <p:cNvPr id="17" name="Shape 15"/>
          <p:cNvSpPr/>
          <p:nvPr/>
        </p:nvSpPr>
        <p:spPr>
          <a:xfrm>
            <a:off x="2595033" y="3655417"/>
            <a:ext cx="1651000" cy="177800"/>
          </a:xfrm>
          <a:prstGeom prst="roundRect">
            <a:avLst>
              <a:gd name="adj" fmla="val 21429"/>
            </a:avLst>
          </a:prstGeom>
          <a:solidFill>
            <a:srgbClr val="E4DECE"/>
          </a:solidFill>
          <a:ln/>
        </p:spPr>
        <p:txBody>
          <a:bodyPr/>
          <a:lstStyle/>
          <a:p>
            <a:endParaRPr lang="en-US"/>
          </a:p>
        </p:txBody>
      </p:sp>
      <p:sp>
        <p:nvSpPr>
          <p:cNvPr id="18" name="Shape 16"/>
          <p:cNvSpPr/>
          <p:nvPr/>
        </p:nvSpPr>
        <p:spPr>
          <a:xfrm>
            <a:off x="2595033" y="3655417"/>
            <a:ext cx="1403350" cy="177800"/>
          </a:xfrm>
          <a:prstGeom prst="roundRect">
            <a:avLst>
              <a:gd name="adj" fmla="val 21429"/>
            </a:avLst>
          </a:prstGeom>
          <a:solidFill>
            <a:srgbClr val="1F6F78"/>
          </a:solidFill>
          <a:ln/>
        </p:spPr>
        <p:txBody>
          <a:bodyPr/>
          <a:lstStyle/>
          <a:p>
            <a:endParaRPr lang="en-US"/>
          </a:p>
        </p:txBody>
      </p:sp>
      <p:sp>
        <p:nvSpPr>
          <p:cNvPr id="19" name="Text 17"/>
          <p:cNvSpPr/>
          <p:nvPr/>
        </p:nvSpPr>
        <p:spPr>
          <a:xfrm>
            <a:off x="4322233" y="363769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0.85</a:t>
            </a:r>
            <a:endParaRPr lang="en-US" sz="1200" dirty="0"/>
          </a:p>
        </p:txBody>
      </p:sp>
      <p:sp>
        <p:nvSpPr>
          <p:cNvPr id="20" name="Text 18"/>
          <p:cNvSpPr/>
          <p:nvPr/>
        </p:nvSpPr>
        <p:spPr>
          <a:xfrm>
            <a:off x="994833" y="3901815"/>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checklist</a:t>
            </a:r>
            <a:endParaRPr lang="en-US" sz="1200" dirty="0"/>
          </a:p>
        </p:txBody>
      </p:sp>
      <p:sp>
        <p:nvSpPr>
          <p:cNvPr id="21" name="Shape 19"/>
          <p:cNvSpPr/>
          <p:nvPr/>
        </p:nvSpPr>
        <p:spPr>
          <a:xfrm>
            <a:off x="2595033" y="3919537"/>
            <a:ext cx="1651000" cy="177800"/>
          </a:xfrm>
          <a:prstGeom prst="roundRect">
            <a:avLst>
              <a:gd name="adj" fmla="val 21429"/>
            </a:avLst>
          </a:prstGeom>
          <a:solidFill>
            <a:srgbClr val="E4DECE"/>
          </a:solidFill>
          <a:ln/>
        </p:spPr>
        <p:txBody>
          <a:bodyPr/>
          <a:lstStyle/>
          <a:p>
            <a:endParaRPr lang="en-US"/>
          </a:p>
        </p:txBody>
      </p:sp>
      <p:sp>
        <p:nvSpPr>
          <p:cNvPr id="22" name="Shape 20"/>
          <p:cNvSpPr/>
          <p:nvPr/>
        </p:nvSpPr>
        <p:spPr>
          <a:xfrm>
            <a:off x="2595033" y="3919537"/>
            <a:ext cx="1517650" cy="177800"/>
          </a:xfrm>
          <a:prstGeom prst="roundRect">
            <a:avLst>
              <a:gd name="adj" fmla="val 21429"/>
            </a:avLst>
          </a:prstGeom>
          <a:solidFill>
            <a:srgbClr val="7A5A9A"/>
          </a:solidFill>
          <a:ln/>
        </p:spPr>
        <p:txBody>
          <a:bodyPr/>
          <a:lstStyle/>
          <a:p>
            <a:endParaRPr lang="en-US"/>
          </a:p>
        </p:txBody>
      </p:sp>
      <p:sp>
        <p:nvSpPr>
          <p:cNvPr id="23" name="Text 21"/>
          <p:cNvSpPr/>
          <p:nvPr/>
        </p:nvSpPr>
        <p:spPr>
          <a:xfrm>
            <a:off x="4322233" y="3901815"/>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0.92</a:t>
            </a:r>
            <a:endParaRPr lang="en-US" sz="1200" dirty="0"/>
          </a:p>
        </p:txBody>
      </p:sp>
      <p:sp>
        <p:nvSpPr>
          <p:cNvPr id="24" name="Text 22"/>
          <p:cNvSpPr/>
          <p:nvPr/>
        </p:nvSpPr>
        <p:spPr>
          <a:xfrm>
            <a:off x="994833" y="4165935"/>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no facts</a:t>
            </a:r>
            <a:endParaRPr lang="en-US" sz="1200" dirty="0"/>
          </a:p>
        </p:txBody>
      </p:sp>
      <p:sp>
        <p:nvSpPr>
          <p:cNvPr id="25" name="Shape 23"/>
          <p:cNvSpPr/>
          <p:nvPr/>
        </p:nvSpPr>
        <p:spPr>
          <a:xfrm>
            <a:off x="2595033" y="4183658"/>
            <a:ext cx="1651000" cy="177800"/>
          </a:xfrm>
          <a:prstGeom prst="roundRect">
            <a:avLst>
              <a:gd name="adj" fmla="val 21429"/>
            </a:avLst>
          </a:prstGeom>
          <a:solidFill>
            <a:srgbClr val="E4DECE"/>
          </a:solidFill>
          <a:ln/>
        </p:spPr>
        <p:txBody>
          <a:bodyPr/>
          <a:lstStyle/>
          <a:p>
            <a:endParaRPr lang="en-US"/>
          </a:p>
        </p:txBody>
      </p:sp>
      <p:sp>
        <p:nvSpPr>
          <p:cNvPr id="26" name="Shape 24"/>
          <p:cNvSpPr/>
          <p:nvPr/>
        </p:nvSpPr>
        <p:spPr>
          <a:xfrm>
            <a:off x="2595033" y="4183658"/>
            <a:ext cx="1022350" cy="177800"/>
          </a:xfrm>
          <a:prstGeom prst="roundRect">
            <a:avLst>
              <a:gd name="adj" fmla="val 21429"/>
            </a:avLst>
          </a:prstGeom>
          <a:solidFill>
            <a:srgbClr val="B2432A"/>
          </a:solidFill>
          <a:ln/>
        </p:spPr>
        <p:txBody>
          <a:bodyPr/>
          <a:lstStyle/>
          <a:p>
            <a:endParaRPr lang="en-US"/>
          </a:p>
        </p:txBody>
      </p:sp>
      <p:sp>
        <p:nvSpPr>
          <p:cNvPr id="27" name="Text 25"/>
          <p:cNvSpPr/>
          <p:nvPr/>
        </p:nvSpPr>
        <p:spPr>
          <a:xfrm>
            <a:off x="4322233" y="4165935"/>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0.62</a:t>
            </a:r>
            <a:endParaRPr lang="en-US" sz="1200" dirty="0"/>
          </a:p>
        </p:txBody>
      </p:sp>
      <p:sp>
        <p:nvSpPr>
          <p:cNvPr id="28" name="Shape 26"/>
          <p:cNvSpPr/>
          <p:nvPr/>
        </p:nvSpPr>
        <p:spPr>
          <a:xfrm>
            <a:off x="6175375" y="2353407"/>
            <a:ext cx="5200650" cy="2204707"/>
          </a:xfrm>
          <a:prstGeom prst="roundRect">
            <a:avLst>
              <a:gd name="adj" fmla="val 4464"/>
            </a:avLst>
          </a:prstGeom>
          <a:solidFill>
            <a:srgbClr val="FCFAF6"/>
          </a:solidFill>
          <a:ln w="6350">
            <a:solidFill>
              <a:srgbClr val="D9D3C4"/>
            </a:solidFill>
            <a:prstDash val="solid"/>
          </a:ln>
        </p:spPr>
        <p:txBody>
          <a:bodyPr/>
          <a:lstStyle/>
          <a:p>
            <a:endParaRPr lang="en-US"/>
          </a:p>
        </p:txBody>
      </p:sp>
      <p:sp>
        <p:nvSpPr>
          <p:cNvPr id="29" name="Text 27"/>
          <p:cNvSpPr/>
          <p:nvPr/>
        </p:nvSpPr>
        <p:spPr>
          <a:xfrm>
            <a:off x="6354233" y="2532261"/>
            <a:ext cx="4988221"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Yes/no flags: kappa</a:t>
            </a:r>
            <a:endParaRPr lang="en-US" sz="1500" dirty="0"/>
          </a:p>
        </p:txBody>
      </p:sp>
      <p:sp>
        <p:nvSpPr>
          <p:cNvPr id="30" name="Text 28"/>
          <p:cNvSpPr/>
          <p:nvPr/>
        </p:nvSpPr>
        <p:spPr>
          <a:xfrm>
            <a:off x="6354233" y="2827536"/>
            <a:ext cx="4988221"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6A"/>
                </a:solidFill>
                <a:latin typeface="IBM Plex Sans" pitchFamily="34" charset="0"/>
                <a:ea typeface="IBM Plex Sans" pitchFamily="34" charset="-122"/>
                <a:cs typeface="IBM Plex Sans" pitchFamily="34" charset="-120"/>
              </a:rPr>
              <a:t>Agreement beyond chance, 0 = chance</a:t>
            </a:r>
            <a:endParaRPr lang="en-US" sz="1200" dirty="0"/>
          </a:p>
        </p:txBody>
      </p:sp>
      <p:sp>
        <p:nvSpPr>
          <p:cNvPr id="31" name="Text 29"/>
          <p:cNvSpPr/>
          <p:nvPr/>
        </p:nvSpPr>
        <p:spPr>
          <a:xfrm>
            <a:off x="6354233" y="310945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Human vs human</a:t>
            </a:r>
            <a:endParaRPr lang="en-US" sz="1200" dirty="0"/>
          </a:p>
        </p:txBody>
      </p:sp>
      <p:sp>
        <p:nvSpPr>
          <p:cNvPr id="32" name="Shape 30"/>
          <p:cNvSpPr/>
          <p:nvPr/>
        </p:nvSpPr>
        <p:spPr>
          <a:xfrm>
            <a:off x="7954434" y="3127177"/>
            <a:ext cx="1651000" cy="177800"/>
          </a:xfrm>
          <a:prstGeom prst="roundRect">
            <a:avLst>
              <a:gd name="adj" fmla="val 21429"/>
            </a:avLst>
          </a:prstGeom>
          <a:solidFill>
            <a:srgbClr val="E4DECE"/>
          </a:solidFill>
          <a:ln/>
        </p:spPr>
        <p:txBody>
          <a:bodyPr/>
          <a:lstStyle/>
          <a:p>
            <a:endParaRPr lang="en-US"/>
          </a:p>
        </p:txBody>
      </p:sp>
      <p:sp>
        <p:nvSpPr>
          <p:cNvPr id="33" name="Shape 31"/>
          <p:cNvSpPr/>
          <p:nvPr/>
        </p:nvSpPr>
        <p:spPr>
          <a:xfrm>
            <a:off x="7954434" y="3127177"/>
            <a:ext cx="361950" cy="177800"/>
          </a:xfrm>
          <a:prstGeom prst="roundRect">
            <a:avLst>
              <a:gd name="adj" fmla="val 21429"/>
            </a:avLst>
          </a:prstGeom>
          <a:solidFill>
            <a:srgbClr val="17242B"/>
          </a:solidFill>
          <a:ln/>
        </p:spPr>
        <p:txBody>
          <a:bodyPr/>
          <a:lstStyle/>
          <a:p>
            <a:endParaRPr lang="en-US"/>
          </a:p>
        </p:txBody>
      </p:sp>
      <p:sp>
        <p:nvSpPr>
          <p:cNvPr id="34" name="Text 32"/>
          <p:cNvSpPr/>
          <p:nvPr/>
        </p:nvSpPr>
        <p:spPr>
          <a:xfrm>
            <a:off x="9681634" y="310945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0.22</a:t>
            </a:r>
            <a:endParaRPr lang="en-US" sz="1200" dirty="0"/>
          </a:p>
        </p:txBody>
      </p:sp>
      <p:sp>
        <p:nvSpPr>
          <p:cNvPr id="35" name="Text 33"/>
          <p:cNvSpPr/>
          <p:nvPr/>
        </p:nvSpPr>
        <p:spPr>
          <a:xfrm>
            <a:off x="6354233" y="337357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checklist</a:t>
            </a:r>
            <a:endParaRPr lang="en-US" sz="1200" dirty="0"/>
          </a:p>
        </p:txBody>
      </p:sp>
      <p:sp>
        <p:nvSpPr>
          <p:cNvPr id="36" name="Shape 34"/>
          <p:cNvSpPr/>
          <p:nvPr/>
        </p:nvSpPr>
        <p:spPr>
          <a:xfrm>
            <a:off x="7954434" y="3391297"/>
            <a:ext cx="1651000" cy="177800"/>
          </a:xfrm>
          <a:prstGeom prst="roundRect">
            <a:avLst>
              <a:gd name="adj" fmla="val 21429"/>
            </a:avLst>
          </a:prstGeom>
          <a:solidFill>
            <a:srgbClr val="E4DECE"/>
          </a:solidFill>
          <a:ln/>
        </p:spPr>
        <p:txBody>
          <a:bodyPr/>
          <a:lstStyle/>
          <a:p>
            <a:endParaRPr lang="en-US"/>
          </a:p>
        </p:txBody>
      </p:sp>
      <p:sp>
        <p:nvSpPr>
          <p:cNvPr id="37" name="Shape 35"/>
          <p:cNvSpPr/>
          <p:nvPr/>
        </p:nvSpPr>
        <p:spPr>
          <a:xfrm>
            <a:off x="7954434" y="3391297"/>
            <a:ext cx="196850" cy="177800"/>
          </a:xfrm>
          <a:prstGeom prst="roundRect">
            <a:avLst>
              <a:gd name="adj" fmla="val 21429"/>
            </a:avLst>
          </a:prstGeom>
          <a:solidFill>
            <a:srgbClr val="1F6F78"/>
          </a:solidFill>
          <a:ln/>
        </p:spPr>
        <p:txBody>
          <a:bodyPr/>
          <a:lstStyle/>
          <a:p>
            <a:endParaRPr lang="en-US"/>
          </a:p>
        </p:txBody>
      </p:sp>
      <p:sp>
        <p:nvSpPr>
          <p:cNvPr id="38" name="Text 36"/>
          <p:cNvSpPr/>
          <p:nvPr/>
        </p:nvSpPr>
        <p:spPr>
          <a:xfrm>
            <a:off x="9681634" y="337357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0.12</a:t>
            </a:r>
            <a:endParaRPr lang="en-US" sz="1200" dirty="0"/>
          </a:p>
        </p:txBody>
      </p:sp>
      <p:sp>
        <p:nvSpPr>
          <p:cNvPr id="39" name="Text 37"/>
          <p:cNvSpPr/>
          <p:nvPr/>
        </p:nvSpPr>
        <p:spPr>
          <a:xfrm>
            <a:off x="6354233" y="3637694"/>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Phi-4 facts</a:t>
            </a:r>
            <a:endParaRPr lang="en-US" sz="1200" dirty="0"/>
          </a:p>
        </p:txBody>
      </p:sp>
      <p:sp>
        <p:nvSpPr>
          <p:cNvPr id="40" name="Shape 38"/>
          <p:cNvSpPr/>
          <p:nvPr/>
        </p:nvSpPr>
        <p:spPr>
          <a:xfrm>
            <a:off x="7954434" y="3655417"/>
            <a:ext cx="1651000" cy="177800"/>
          </a:xfrm>
          <a:prstGeom prst="roundRect">
            <a:avLst>
              <a:gd name="adj" fmla="val 21429"/>
            </a:avLst>
          </a:prstGeom>
          <a:solidFill>
            <a:srgbClr val="E4DECE"/>
          </a:solidFill>
          <a:ln/>
        </p:spPr>
        <p:txBody>
          <a:bodyPr/>
          <a:lstStyle/>
          <a:p>
            <a:endParaRPr lang="en-US"/>
          </a:p>
        </p:txBody>
      </p:sp>
      <p:sp>
        <p:nvSpPr>
          <p:cNvPr id="41" name="Shape 39"/>
          <p:cNvSpPr/>
          <p:nvPr/>
        </p:nvSpPr>
        <p:spPr>
          <a:xfrm>
            <a:off x="7954434" y="3655417"/>
            <a:ext cx="457200" cy="177800"/>
          </a:xfrm>
          <a:prstGeom prst="roundRect">
            <a:avLst>
              <a:gd name="adj" fmla="val 21429"/>
            </a:avLst>
          </a:prstGeom>
          <a:solidFill>
            <a:srgbClr val="1F6F78"/>
          </a:solidFill>
          <a:ln/>
        </p:spPr>
        <p:txBody>
          <a:bodyPr/>
          <a:lstStyle/>
          <a:p>
            <a:endParaRPr lang="en-US"/>
          </a:p>
        </p:txBody>
      </p:sp>
      <p:sp>
        <p:nvSpPr>
          <p:cNvPr id="42" name="Text 40"/>
          <p:cNvSpPr/>
          <p:nvPr/>
        </p:nvSpPr>
        <p:spPr>
          <a:xfrm>
            <a:off x="9681634" y="363769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0.28</a:t>
            </a:r>
            <a:endParaRPr lang="en-US" sz="1200" dirty="0"/>
          </a:p>
        </p:txBody>
      </p:sp>
      <p:sp>
        <p:nvSpPr>
          <p:cNvPr id="43" name="Text 41"/>
          <p:cNvSpPr/>
          <p:nvPr/>
        </p:nvSpPr>
        <p:spPr>
          <a:xfrm>
            <a:off x="6354233" y="3901815"/>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checklist</a:t>
            </a:r>
            <a:endParaRPr lang="en-US" sz="1200" dirty="0"/>
          </a:p>
        </p:txBody>
      </p:sp>
      <p:sp>
        <p:nvSpPr>
          <p:cNvPr id="44" name="Shape 42"/>
          <p:cNvSpPr/>
          <p:nvPr/>
        </p:nvSpPr>
        <p:spPr>
          <a:xfrm>
            <a:off x="7954434" y="3919537"/>
            <a:ext cx="1651000" cy="177800"/>
          </a:xfrm>
          <a:prstGeom prst="roundRect">
            <a:avLst>
              <a:gd name="adj" fmla="val 21429"/>
            </a:avLst>
          </a:prstGeom>
          <a:solidFill>
            <a:srgbClr val="E4DECE"/>
          </a:solidFill>
          <a:ln/>
        </p:spPr>
        <p:txBody>
          <a:bodyPr/>
          <a:lstStyle/>
          <a:p>
            <a:endParaRPr lang="en-US"/>
          </a:p>
        </p:txBody>
      </p:sp>
      <p:sp>
        <p:nvSpPr>
          <p:cNvPr id="45" name="Shape 43"/>
          <p:cNvSpPr/>
          <p:nvPr/>
        </p:nvSpPr>
        <p:spPr>
          <a:xfrm>
            <a:off x="7954434" y="3919537"/>
            <a:ext cx="508000" cy="177800"/>
          </a:xfrm>
          <a:prstGeom prst="roundRect">
            <a:avLst>
              <a:gd name="adj" fmla="val 21429"/>
            </a:avLst>
          </a:prstGeom>
          <a:solidFill>
            <a:srgbClr val="7A5A9A"/>
          </a:solidFill>
          <a:ln/>
        </p:spPr>
        <p:txBody>
          <a:bodyPr/>
          <a:lstStyle/>
          <a:p>
            <a:endParaRPr lang="en-US"/>
          </a:p>
        </p:txBody>
      </p:sp>
      <p:sp>
        <p:nvSpPr>
          <p:cNvPr id="46" name="Text 44"/>
          <p:cNvSpPr/>
          <p:nvPr/>
        </p:nvSpPr>
        <p:spPr>
          <a:xfrm>
            <a:off x="9681634" y="3901815"/>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0.31</a:t>
            </a:r>
            <a:endParaRPr lang="en-US" sz="1200" dirty="0"/>
          </a:p>
        </p:txBody>
      </p:sp>
      <p:sp>
        <p:nvSpPr>
          <p:cNvPr id="47" name="Text 45"/>
          <p:cNvSpPr/>
          <p:nvPr/>
        </p:nvSpPr>
        <p:spPr>
          <a:xfrm>
            <a:off x="6354233" y="4165935"/>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no facts</a:t>
            </a:r>
            <a:endParaRPr lang="en-US" sz="1200" dirty="0"/>
          </a:p>
        </p:txBody>
      </p:sp>
      <p:sp>
        <p:nvSpPr>
          <p:cNvPr id="48" name="Shape 46"/>
          <p:cNvSpPr/>
          <p:nvPr/>
        </p:nvSpPr>
        <p:spPr>
          <a:xfrm>
            <a:off x="7954434" y="4183658"/>
            <a:ext cx="1651000" cy="177800"/>
          </a:xfrm>
          <a:prstGeom prst="roundRect">
            <a:avLst>
              <a:gd name="adj" fmla="val 21429"/>
            </a:avLst>
          </a:prstGeom>
          <a:solidFill>
            <a:srgbClr val="E4DECE"/>
          </a:solidFill>
          <a:ln/>
        </p:spPr>
        <p:txBody>
          <a:bodyPr/>
          <a:lstStyle/>
          <a:p>
            <a:endParaRPr lang="en-US"/>
          </a:p>
        </p:txBody>
      </p:sp>
      <p:sp>
        <p:nvSpPr>
          <p:cNvPr id="49" name="Shape 47"/>
          <p:cNvSpPr/>
          <p:nvPr/>
        </p:nvSpPr>
        <p:spPr>
          <a:xfrm>
            <a:off x="7954434" y="4183658"/>
            <a:ext cx="342900" cy="177800"/>
          </a:xfrm>
          <a:prstGeom prst="roundRect">
            <a:avLst>
              <a:gd name="adj" fmla="val 21429"/>
            </a:avLst>
          </a:prstGeom>
          <a:solidFill>
            <a:srgbClr val="B2432A"/>
          </a:solidFill>
          <a:ln/>
        </p:spPr>
        <p:txBody>
          <a:bodyPr/>
          <a:lstStyle/>
          <a:p>
            <a:endParaRPr lang="en-US"/>
          </a:p>
        </p:txBody>
      </p:sp>
      <p:sp>
        <p:nvSpPr>
          <p:cNvPr id="50" name="Text 48"/>
          <p:cNvSpPr/>
          <p:nvPr/>
        </p:nvSpPr>
        <p:spPr>
          <a:xfrm>
            <a:off x="9681634" y="4165935"/>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0.21</a:t>
            </a:r>
            <a:endParaRPr lang="en-US" sz="1200" dirty="0"/>
          </a:p>
        </p:txBody>
      </p:sp>
      <p:sp>
        <p:nvSpPr>
          <p:cNvPr id="51" name="Text 49"/>
          <p:cNvSpPr/>
          <p:nvPr/>
        </p:nvSpPr>
        <p:spPr>
          <a:xfrm>
            <a:off x="815975" y="4666059"/>
            <a:ext cx="10560050" cy="598951"/>
          </a:xfrm>
          <a:prstGeom prst="roundRect">
            <a:avLst>
              <a:gd name="adj" fmla="val 16433"/>
            </a:avLst>
          </a:prstGeom>
          <a:solidFill>
            <a:srgbClr val="ECE6D8"/>
          </a:solidFill>
          <a:ln w="6350">
            <a:solidFill>
              <a:srgbClr val="D9D3C4"/>
            </a:solidFill>
            <a:prstDash val="solid"/>
          </a:ln>
        </p:spPr>
        <p:txBody>
          <a:bodyPr wrap="square" lIns="99231" tIns="99231" rIns="0" bIns="73831" rtlCol="0" anchor="t">
            <a:normAutofit/>
          </a:bodyPr>
          <a:lstStyle/>
          <a:p>
            <a:pPr marL="0" indent="0" algn="l">
              <a:lnSpc>
                <a:spcPts val="1360"/>
              </a:lnSpc>
              <a:buNone/>
            </a:pPr>
            <a:r>
              <a:rPr lang="en-US" sz="1008" b="1" dirty="0">
                <a:solidFill>
                  <a:srgbClr val="17242B"/>
                </a:solidFill>
                <a:latin typeface="IBM Plex Sans" pitchFamily="34" charset="0"/>
                <a:ea typeface="IBM Plex Sans" pitchFamily="34" charset="-122"/>
                <a:cs typeface="IBM Plex Sans" pitchFamily="34" charset="-120"/>
              </a:rPr>
              <a:t>Meaning:</a:t>
            </a:r>
            <a:r>
              <a:rPr lang="en-US" sz="1008" dirty="0">
                <a:solidFill>
                  <a:srgbClr val="17242B"/>
                </a:solidFill>
                <a:latin typeface="IBM Plex Sans" pitchFamily="34" charset="0"/>
                <a:ea typeface="IBM Plex Sans" pitchFamily="34" charset="-122"/>
                <a:cs typeface="IBM Plex Sans" pitchFamily="34" charset="-120"/>
              </a:rPr>
              <a:t> on 1-5 scores the best judge (0.92) is as consistent with a human as humans are with each other (0.88). On flags, everyone is low (0.31 vs 0.22), and intervals overlap. </a:t>
            </a:r>
          </a:p>
          <a:p>
            <a:pPr marL="0" indent="0" algn="l">
              <a:lnSpc>
                <a:spcPts val="1360"/>
              </a:lnSpc>
              <a:buNone/>
            </a:pPr>
            <a:r>
              <a:rPr lang="en-US" sz="1008" b="1" dirty="0">
                <a:solidFill>
                  <a:srgbClr val="17242B"/>
                </a:solidFill>
                <a:latin typeface="IBM Plex Sans" pitchFamily="34" charset="0"/>
                <a:ea typeface="IBM Plex Sans" pitchFamily="34" charset="-122"/>
                <a:cs typeface="IBM Plex Sans" pitchFamily="34" charset="-120"/>
              </a:rPr>
              <a:t>Facts matter:</a:t>
            </a:r>
            <a:r>
              <a:rPr lang="en-US" sz="1008" dirty="0">
                <a:solidFill>
                  <a:srgbClr val="17242B"/>
                </a:solidFill>
                <a:latin typeface="IBM Plex Sans" pitchFamily="34" charset="0"/>
                <a:ea typeface="IBM Plex Sans" pitchFamily="34" charset="-122"/>
                <a:cs typeface="IBM Plex Sans" pitchFamily="34" charset="-120"/>
              </a:rPr>
              <a:t> removing them drops Qwen's rubric score from 0.78 to 0.62.</a:t>
            </a:r>
            <a:endParaRPr lang="en-US" sz="1008" dirty="0"/>
          </a:p>
        </p:txBody>
      </p:sp>
      <p:sp>
        <p:nvSpPr>
          <p:cNvPr id="52" name="Text 5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53" name="Text 51"/>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RESULTS · RQ2</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Stated profiles are easier to judge</a:t>
            </a:r>
            <a:endParaRPr lang="en-US" sz="3200" dirty="0"/>
          </a:p>
        </p:txBody>
      </p:sp>
      <p:sp>
        <p:nvSpPr>
          <p:cNvPr id="4" name="Text 2"/>
          <p:cNvSpPr/>
          <p:nvPr/>
        </p:nvSpPr>
        <p:spPr>
          <a:xfrm>
            <a:off x="815975" y="1773504"/>
            <a:ext cx="10560050" cy="496094"/>
          </a:xfrm>
          <a:prstGeom prst="roundRect">
            <a:avLst>
              <a:gd name="adj" fmla="val 19840"/>
            </a:avLst>
          </a:prstGeom>
          <a:solidFill>
            <a:srgbClr val="ECE6D8"/>
          </a:solidFill>
          <a:ln w="6350">
            <a:solidFill>
              <a:srgbClr val="D9D3C4"/>
            </a:solidFill>
            <a:prstDash val="solid"/>
          </a:ln>
        </p:spPr>
        <p:txBody>
          <a:bodyPr wrap="square" lIns="99231" tIns="99231" rIns="0" bIns="73831" rtlCol="0" anchor="t">
            <a:normAutofit/>
          </a:bodyPr>
          <a:lstStyle/>
          <a:p>
            <a:pPr marL="0" indent="0" algn="l">
              <a:lnSpc>
                <a:spcPts val="1890"/>
              </a:lnSpc>
              <a:buNone/>
            </a:pPr>
            <a:r>
              <a:rPr lang="en-US" sz="1400" b="1" dirty="0">
                <a:solidFill>
                  <a:srgbClr val="17242B"/>
                </a:solidFill>
                <a:latin typeface="IBM Plex Sans" pitchFamily="34" charset="0"/>
                <a:ea typeface="IBM Plex Sans" pitchFamily="34" charset="-122"/>
                <a:cs typeface="IBM Plex Sans" pitchFamily="34" charset="-120"/>
              </a:rPr>
              <a:t>RQ2</a:t>
            </a:r>
            <a:r>
              <a:rPr lang="en-US" sz="1400" dirty="0">
                <a:solidFill>
                  <a:srgbClr val="17242B"/>
                </a:solidFill>
                <a:latin typeface="IBM Plex Sans" pitchFamily="34" charset="0"/>
                <a:ea typeface="IBM Plex Sans" pitchFamily="34" charset="-122"/>
                <a:cs typeface="IBM Plex Sans" pitchFamily="34" charset="-120"/>
              </a:rPr>
              <a:t> · Is judging harder when the profile is inferred from past reviews than when stated?</a:t>
            </a:r>
            <a:endParaRPr lang="en-US" sz="1400" dirty="0"/>
          </a:p>
        </p:txBody>
      </p:sp>
      <p:sp>
        <p:nvSpPr>
          <p:cNvPr id="5" name="Shape 3"/>
          <p:cNvSpPr/>
          <p:nvPr/>
        </p:nvSpPr>
        <p:spPr>
          <a:xfrm>
            <a:off x="815975" y="2390248"/>
            <a:ext cx="6169223" cy="2004616"/>
          </a:xfrm>
          <a:prstGeom prst="roundRect">
            <a:avLst>
              <a:gd name="adj" fmla="val 4910"/>
            </a:avLst>
          </a:prstGeom>
          <a:solidFill>
            <a:srgbClr val="FCFAF6"/>
          </a:solidFill>
          <a:ln w="6350">
            <a:solidFill>
              <a:srgbClr val="D9D3C4"/>
            </a:solidFill>
            <a:prstDash val="solid"/>
          </a:ln>
        </p:spPr>
        <p:txBody>
          <a:bodyPr/>
          <a:lstStyle/>
          <a:p>
            <a:endParaRPr lang="en-US"/>
          </a:p>
        </p:txBody>
      </p:sp>
      <p:sp>
        <p:nvSpPr>
          <p:cNvPr id="6" name="Text 4"/>
          <p:cNvSpPr/>
          <p:nvPr/>
        </p:nvSpPr>
        <p:spPr>
          <a:xfrm>
            <a:off x="994833" y="2569108"/>
            <a:ext cx="5985852"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Human agreement, 1-5 scores (within 1 point)</a:t>
            </a:r>
            <a:endParaRPr lang="en-US" sz="1500" dirty="0"/>
          </a:p>
        </p:txBody>
      </p:sp>
      <p:sp>
        <p:nvSpPr>
          <p:cNvPr id="7" name="Text 5"/>
          <p:cNvSpPr/>
          <p:nvPr/>
        </p:nvSpPr>
        <p:spPr>
          <a:xfrm>
            <a:off x="994833" y="2902483"/>
            <a:ext cx="16383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2B"/>
                </a:solidFill>
                <a:latin typeface="IBM Plex Sans" pitchFamily="34" charset="0"/>
                <a:ea typeface="IBM Plex Sans" pitchFamily="34" charset="-122"/>
                <a:cs typeface="IBM Plex Sans" pitchFamily="34" charset="-120"/>
              </a:rPr>
              <a:t>Inferred profiles</a:t>
            </a:r>
            <a:endParaRPr lang="en-US" sz="1300" dirty="0"/>
          </a:p>
        </p:txBody>
      </p:sp>
      <p:sp>
        <p:nvSpPr>
          <p:cNvPr id="8" name="Shape 6"/>
          <p:cNvSpPr/>
          <p:nvPr/>
        </p:nvSpPr>
        <p:spPr>
          <a:xfrm>
            <a:off x="2658533" y="2903736"/>
            <a:ext cx="2667000" cy="228600"/>
          </a:xfrm>
          <a:prstGeom prst="roundRect">
            <a:avLst>
              <a:gd name="adj" fmla="val 16667"/>
            </a:avLst>
          </a:prstGeom>
          <a:solidFill>
            <a:srgbClr val="E4DECE"/>
          </a:solidFill>
          <a:ln/>
        </p:spPr>
        <p:txBody>
          <a:bodyPr/>
          <a:lstStyle/>
          <a:p>
            <a:endParaRPr lang="en-US"/>
          </a:p>
        </p:txBody>
      </p:sp>
      <p:sp>
        <p:nvSpPr>
          <p:cNvPr id="9" name="Shape 7"/>
          <p:cNvSpPr/>
          <p:nvPr/>
        </p:nvSpPr>
        <p:spPr>
          <a:xfrm>
            <a:off x="2658533" y="2903736"/>
            <a:ext cx="2197100" cy="228600"/>
          </a:xfrm>
          <a:prstGeom prst="roundRect">
            <a:avLst>
              <a:gd name="adj" fmla="val 16667"/>
            </a:avLst>
          </a:prstGeom>
          <a:solidFill>
            <a:srgbClr val="B2432A"/>
          </a:solidFill>
          <a:ln/>
        </p:spPr>
        <p:txBody>
          <a:bodyPr/>
          <a:lstStyle/>
          <a:p>
            <a:endParaRPr lang="en-US"/>
          </a:p>
        </p:txBody>
      </p:sp>
      <p:sp>
        <p:nvSpPr>
          <p:cNvPr id="10" name="Text 8"/>
          <p:cNvSpPr/>
          <p:nvPr/>
        </p:nvSpPr>
        <p:spPr>
          <a:xfrm>
            <a:off x="5401733" y="2902483"/>
            <a:ext cx="7493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42B"/>
                </a:solidFill>
                <a:latin typeface="IBM Plex Sans" pitchFamily="34" charset="0"/>
                <a:ea typeface="IBM Plex Sans" pitchFamily="34" charset="-122"/>
                <a:cs typeface="IBM Plex Sans" pitchFamily="34" charset="-120"/>
              </a:rPr>
              <a:t>0.83</a:t>
            </a:r>
            <a:endParaRPr lang="en-US" sz="1300" dirty="0"/>
          </a:p>
        </p:txBody>
      </p:sp>
      <p:sp>
        <p:nvSpPr>
          <p:cNvPr id="11" name="Text 9"/>
          <p:cNvSpPr/>
          <p:nvPr/>
        </p:nvSpPr>
        <p:spPr>
          <a:xfrm>
            <a:off x="994833" y="3247895"/>
            <a:ext cx="16383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42B"/>
                </a:solidFill>
                <a:latin typeface="IBM Plex Sans" pitchFamily="34" charset="0"/>
                <a:ea typeface="IBM Plex Sans" pitchFamily="34" charset="-122"/>
                <a:cs typeface="IBM Plex Sans" pitchFamily="34" charset="-120"/>
              </a:rPr>
              <a:t>Stated profiles</a:t>
            </a:r>
            <a:endParaRPr lang="en-US" sz="1300" dirty="0"/>
          </a:p>
        </p:txBody>
      </p:sp>
      <p:sp>
        <p:nvSpPr>
          <p:cNvPr id="12" name="Shape 10"/>
          <p:cNvSpPr/>
          <p:nvPr/>
        </p:nvSpPr>
        <p:spPr>
          <a:xfrm>
            <a:off x="2658533" y="3249154"/>
            <a:ext cx="2667000" cy="228600"/>
          </a:xfrm>
          <a:prstGeom prst="roundRect">
            <a:avLst>
              <a:gd name="adj" fmla="val 16667"/>
            </a:avLst>
          </a:prstGeom>
          <a:solidFill>
            <a:srgbClr val="E4DECE"/>
          </a:solidFill>
          <a:ln/>
        </p:spPr>
        <p:txBody>
          <a:bodyPr/>
          <a:lstStyle/>
          <a:p>
            <a:endParaRPr lang="en-US"/>
          </a:p>
        </p:txBody>
      </p:sp>
      <p:sp>
        <p:nvSpPr>
          <p:cNvPr id="13" name="Shape 11"/>
          <p:cNvSpPr/>
          <p:nvPr/>
        </p:nvSpPr>
        <p:spPr>
          <a:xfrm>
            <a:off x="2658533" y="3249154"/>
            <a:ext cx="2413000" cy="228600"/>
          </a:xfrm>
          <a:prstGeom prst="roundRect">
            <a:avLst>
              <a:gd name="adj" fmla="val 16667"/>
            </a:avLst>
          </a:prstGeom>
          <a:solidFill>
            <a:srgbClr val="1F6F78"/>
          </a:solidFill>
          <a:ln/>
        </p:spPr>
        <p:txBody>
          <a:bodyPr/>
          <a:lstStyle/>
          <a:p>
            <a:endParaRPr lang="en-US"/>
          </a:p>
        </p:txBody>
      </p:sp>
      <p:sp>
        <p:nvSpPr>
          <p:cNvPr id="14" name="Text 12"/>
          <p:cNvSpPr/>
          <p:nvPr/>
        </p:nvSpPr>
        <p:spPr>
          <a:xfrm>
            <a:off x="5401733" y="3247895"/>
            <a:ext cx="7493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42B"/>
                </a:solidFill>
                <a:latin typeface="IBM Plex Sans" pitchFamily="34" charset="0"/>
                <a:ea typeface="IBM Plex Sans" pitchFamily="34" charset="-122"/>
                <a:cs typeface="IBM Plex Sans" pitchFamily="34" charset="-120"/>
              </a:rPr>
              <a:t>0.91</a:t>
            </a:r>
            <a:endParaRPr lang="en-US" sz="1300" dirty="0"/>
          </a:p>
        </p:txBody>
      </p:sp>
      <p:sp>
        <p:nvSpPr>
          <p:cNvPr id="15" name="Text 13"/>
          <p:cNvSpPr/>
          <p:nvPr/>
        </p:nvSpPr>
        <p:spPr>
          <a:xfrm>
            <a:off x="994833" y="3593306"/>
            <a:ext cx="5985852" cy="213982"/>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5606A"/>
                </a:solidFill>
                <a:latin typeface="IBM Plex Sans" pitchFamily="34" charset="0"/>
                <a:ea typeface="IBM Plex Sans" pitchFamily="34" charset="-122"/>
                <a:cs typeface="IBM Plex Sans" pitchFamily="34" charset="-120"/>
              </a:rPr>
              <a:t>Pilot: 6 inferred and 4 stated items, 3 annotators each.</a:t>
            </a:r>
            <a:endParaRPr lang="en-US" sz="1100" dirty="0"/>
          </a:p>
        </p:txBody>
      </p:sp>
      <p:sp>
        <p:nvSpPr>
          <p:cNvPr id="16" name="Shape 14"/>
          <p:cNvSpPr/>
          <p:nvPr/>
        </p:nvSpPr>
        <p:spPr>
          <a:xfrm>
            <a:off x="7143948" y="2390248"/>
            <a:ext cx="4232077" cy="2004616"/>
          </a:xfrm>
          <a:prstGeom prst="roundRect">
            <a:avLst>
              <a:gd name="adj" fmla="val 4910"/>
            </a:avLst>
          </a:prstGeom>
          <a:solidFill>
            <a:srgbClr val="FCFAF6"/>
          </a:solidFill>
          <a:ln w="6350">
            <a:solidFill>
              <a:srgbClr val="D9D3C4"/>
            </a:solidFill>
            <a:prstDash val="solid"/>
          </a:ln>
        </p:spPr>
        <p:txBody>
          <a:bodyPr/>
          <a:lstStyle/>
          <a:p>
            <a:endParaRPr lang="en-US"/>
          </a:p>
        </p:txBody>
      </p:sp>
      <p:sp>
        <p:nvSpPr>
          <p:cNvPr id="17" name="Text 15"/>
          <p:cNvSpPr/>
          <p:nvPr/>
        </p:nvSpPr>
        <p:spPr>
          <a:xfrm>
            <a:off x="7322807" y="2569108"/>
            <a:ext cx="399059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What we found</a:t>
            </a:r>
            <a:endParaRPr lang="en-US" sz="1600" dirty="0"/>
          </a:p>
        </p:txBody>
      </p:sp>
      <p:sp>
        <p:nvSpPr>
          <p:cNvPr id="18" name="Text 16"/>
          <p:cNvSpPr/>
          <p:nvPr/>
        </p:nvSpPr>
        <p:spPr>
          <a:xfrm>
            <a:off x="7408151" y="2878931"/>
            <a:ext cx="3897627" cy="1362472"/>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Humans agree more on stated profiles: 0.91 vs 0.83</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Yes/no kappa is low in both (0.20 and 0.03): problems are rare</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Judge split by profile type is being refreshed after the rerun</a:t>
            </a:r>
            <a:endParaRPr lang="en-US" sz="1300" dirty="0"/>
          </a:p>
        </p:txBody>
      </p:sp>
      <p:sp>
        <p:nvSpPr>
          <p:cNvPr id="19" name="Text 17"/>
          <p:cNvSpPr/>
          <p:nvPr/>
        </p:nvSpPr>
        <p:spPr>
          <a:xfrm>
            <a:off x="812800" y="4512339"/>
            <a:ext cx="10883392"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How:</a:t>
            </a:r>
            <a:r>
              <a:rPr lang="en-US" sz="1200" dirty="0">
                <a:solidFill>
                  <a:srgbClr val="55606A"/>
                </a:solidFill>
                <a:latin typeface="IBM Plex Sans" pitchFamily="34" charset="0"/>
                <a:ea typeface="IBM Plex Sans" pitchFamily="34" charset="-122"/>
                <a:cs typeface="IBM Plex Sans" pitchFamily="34" charset="-120"/>
              </a:rPr>
              <a:t> pilot items split by profile source; same measures as RQ1.</a:t>
            </a:r>
            <a:endParaRPr lang="en-US" sz="12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1222"/>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RESULTS · RQ3</a:t>
            </a:r>
            <a:endParaRPr lang="en-US" sz="1300" dirty="0"/>
          </a:p>
        </p:txBody>
      </p:sp>
      <p:sp>
        <p:nvSpPr>
          <p:cNvPr id="3" name="Text 1"/>
          <p:cNvSpPr>
            <a:spLocks noGrp="1"/>
          </p:cNvSpPr>
          <p:nvPr>
            <p:ph type="title"/>
          </p:nvPr>
        </p:nvSpPr>
        <p:spPr>
          <a:xfrm>
            <a:off x="812800" y="1178322"/>
            <a:ext cx="10883392" cy="462029"/>
          </a:xfrm>
          <a:prstGeom prst="rect">
            <a:avLst/>
          </a:prstGeom>
          <a:noFill/>
          <a:ln/>
        </p:spPr>
        <p:txBody>
          <a:bodyPr wrap="square" lIns="0" tIns="0" rIns="0" bIns="0" rtlCol="0" anchor="t">
            <a:normAutofit/>
          </a:bodyPr>
          <a:lstStyle/>
          <a:p>
            <a:pPr marL="0" indent="0" algn="l">
              <a:lnSpc>
                <a:spcPts val="3465"/>
              </a:lnSpc>
              <a:buNone/>
            </a:pPr>
            <a:r>
              <a:rPr lang="en-US" sz="3150" b="0" i="0" dirty="0">
                <a:solidFill>
                  <a:srgbClr val="17242B"/>
                </a:solidFill>
                <a:latin typeface="EB Garamond" pitchFamily="18" charset="0"/>
                <a:ea typeface="EB Garamond" pitchFamily="18" charset="-122"/>
                <a:cs typeface="EB Garamond" pitchFamily="18" charset="-120"/>
              </a:rPr>
              <a:t>Fact-aware judges rank techniques like humans</a:t>
            </a:r>
            <a:endParaRPr lang="en-US" sz="3150" dirty="0"/>
          </a:p>
        </p:txBody>
      </p:sp>
      <p:sp>
        <p:nvSpPr>
          <p:cNvPr id="4" name="Text 2"/>
          <p:cNvSpPr/>
          <p:nvPr/>
        </p:nvSpPr>
        <p:spPr>
          <a:xfrm>
            <a:off x="815975" y="1757834"/>
            <a:ext cx="10560050" cy="662252"/>
          </a:xfrm>
          <a:prstGeom prst="roundRect">
            <a:avLst>
              <a:gd name="adj" fmla="val 14862"/>
            </a:avLst>
          </a:prstGeom>
          <a:solidFill>
            <a:srgbClr val="ECE6D8"/>
          </a:solidFill>
          <a:ln w="6350">
            <a:solidFill>
              <a:srgbClr val="D9D3C4"/>
            </a:solidFill>
            <a:prstDash val="solid"/>
          </a:ln>
        </p:spPr>
        <p:txBody>
          <a:bodyPr wrap="square" lIns="99231" tIns="99231" rIns="0" bIns="99231" rtlCol="0" anchor="t">
            <a:normAutofit/>
          </a:bodyPr>
          <a:lstStyle/>
          <a:p>
            <a:pPr marL="0" indent="0" algn="l">
              <a:lnSpc>
                <a:spcPts val="1890"/>
              </a:lnSpc>
              <a:buNone/>
            </a:pPr>
            <a:r>
              <a:rPr lang="en-US" sz="1400" b="1" dirty="0">
                <a:solidFill>
                  <a:srgbClr val="17242B"/>
                </a:solidFill>
                <a:latin typeface="IBM Plex Sans" pitchFamily="34" charset="0"/>
                <a:ea typeface="IBM Plex Sans" pitchFamily="34" charset="-122"/>
                <a:cs typeface="IBM Plex Sans" pitchFamily="34" charset="-120"/>
              </a:rPr>
              <a:t>RQ3</a:t>
            </a:r>
            <a:r>
              <a:rPr lang="en-US" sz="1400" dirty="0">
                <a:solidFill>
                  <a:srgbClr val="17242B"/>
                </a:solidFill>
                <a:latin typeface="IBM Plex Sans" pitchFamily="34" charset="0"/>
                <a:ea typeface="IBM Plex Sans" pitchFamily="34" charset="-122"/>
                <a:cs typeface="IBM Plex Sans" pitchFamily="34" charset="-120"/>
              </a:rPr>
              <a:t> · Do LLM judges rank the four explanation techniques like humans do?</a:t>
            </a:r>
            <a:endParaRPr lang="en-US" sz="1400" dirty="0"/>
          </a:p>
        </p:txBody>
      </p:sp>
      <p:sp>
        <p:nvSpPr>
          <p:cNvPr id="5" name="Shape 3"/>
          <p:cNvSpPr/>
          <p:nvPr/>
        </p:nvSpPr>
        <p:spPr>
          <a:xfrm>
            <a:off x="815975" y="2528032"/>
            <a:ext cx="5200650" cy="2540595"/>
          </a:xfrm>
          <a:prstGeom prst="roundRect">
            <a:avLst>
              <a:gd name="adj" fmla="val 3874"/>
            </a:avLst>
          </a:prstGeom>
          <a:solidFill>
            <a:srgbClr val="FCFAF6"/>
          </a:solidFill>
          <a:ln w="6350">
            <a:solidFill>
              <a:srgbClr val="D9D3C4"/>
            </a:solidFill>
            <a:prstDash val="solid"/>
          </a:ln>
        </p:spPr>
        <p:txBody>
          <a:bodyPr/>
          <a:lstStyle/>
          <a:p>
            <a:endParaRPr lang="en-US"/>
          </a:p>
        </p:txBody>
      </p:sp>
      <p:sp>
        <p:nvSpPr>
          <p:cNvPr id="6" name="Text 4"/>
          <p:cNvSpPr/>
          <p:nvPr/>
        </p:nvSpPr>
        <p:spPr>
          <a:xfrm>
            <a:off x="994833" y="2706886"/>
            <a:ext cx="4988221"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Humans: mean overall score (1-5)</a:t>
            </a:r>
            <a:endParaRPr lang="en-US" sz="1500" dirty="0"/>
          </a:p>
        </p:txBody>
      </p:sp>
      <p:sp>
        <p:nvSpPr>
          <p:cNvPr id="7" name="Text 5"/>
          <p:cNvSpPr/>
          <p:nvPr/>
        </p:nvSpPr>
        <p:spPr>
          <a:xfrm>
            <a:off x="994833" y="3014861"/>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Template</a:t>
            </a:r>
            <a:endParaRPr lang="en-US" sz="1200" dirty="0"/>
          </a:p>
        </p:txBody>
      </p:sp>
      <p:sp>
        <p:nvSpPr>
          <p:cNvPr id="8" name="Shape 6"/>
          <p:cNvSpPr/>
          <p:nvPr/>
        </p:nvSpPr>
        <p:spPr>
          <a:xfrm>
            <a:off x="2531533" y="3026246"/>
            <a:ext cx="1651000" cy="190500"/>
          </a:xfrm>
          <a:prstGeom prst="roundRect">
            <a:avLst>
              <a:gd name="adj" fmla="val 20000"/>
            </a:avLst>
          </a:prstGeom>
          <a:solidFill>
            <a:srgbClr val="E4DECE"/>
          </a:solidFill>
          <a:ln/>
        </p:spPr>
        <p:txBody>
          <a:bodyPr/>
          <a:lstStyle/>
          <a:p>
            <a:endParaRPr lang="en-US"/>
          </a:p>
        </p:txBody>
      </p:sp>
      <p:sp>
        <p:nvSpPr>
          <p:cNvPr id="9" name="Shape 7"/>
          <p:cNvSpPr/>
          <p:nvPr/>
        </p:nvSpPr>
        <p:spPr>
          <a:xfrm>
            <a:off x="2531533" y="3026246"/>
            <a:ext cx="1041400" cy="190500"/>
          </a:xfrm>
          <a:prstGeom prst="roundRect">
            <a:avLst>
              <a:gd name="adj" fmla="val 20000"/>
            </a:avLst>
          </a:prstGeom>
          <a:solidFill>
            <a:srgbClr val="17242B"/>
          </a:solidFill>
          <a:ln/>
        </p:spPr>
        <p:txBody>
          <a:bodyPr/>
          <a:lstStyle/>
          <a:p>
            <a:endParaRPr lang="en-US"/>
          </a:p>
        </p:txBody>
      </p:sp>
      <p:sp>
        <p:nvSpPr>
          <p:cNvPr id="10" name="Text 8"/>
          <p:cNvSpPr/>
          <p:nvPr/>
        </p:nvSpPr>
        <p:spPr>
          <a:xfrm>
            <a:off x="4258733" y="301486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3.17</a:t>
            </a:r>
            <a:endParaRPr lang="en-US" sz="1200" dirty="0"/>
          </a:p>
        </p:txBody>
      </p:sp>
      <p:sp>
        <p:nvSpPr>
          <p:cNvPr id="11" name="Text 9"/>
          <p:cNvSpPr/>
          <p:nvPr/>
        </p:nvSpPr>
        <p:spPr>
          <a:xfrm>
            <a:off x="994833" y="3291681"/>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Direct LLM</a:t>
            </a:r>
            <a:endParaRPr lang="en-US" sz="1200" dirty="0"/>
          </a:p>
        </p:txBody>
      </p:sp>
      <p:sp>
        <p:nvSpPr>
          <p:cNvPr id="12" name="Shape 10"/>
          <p:cNvSpPr/>
          <p:nvPr/>
        </p:nvSpPr>
        <p:spPr>
          <a:xfrm>
            <a:off x="2531533" y="3303067"/>
            <a:ext cx="1651000" cy="190500"/>
          </a:xfrm>
          <a:prstGeom prst="roundRect">
            <a:avLst>
              <a:gd name="adj" fmla="val 20000"/>
            </a:avLst>
          </a:prstGeom>
          <a:solidFill>
            <a:srgbClr val="E4DECE"/>
          </a:solidFill>
          <a:ln/>
        </p:spPr>
        <p:txBody>
          <a:bodyPr/>
          <a:lstStyle/>
          <a:p>
            <a:endParaRPr lang="en-US"/>
          </a:p>
        </p:txBody>
      </p:sp>
      <p:sp>
        <p:nvSpPr>
          <p:cNvPr id="13" name="Shape 11"/>
          <p:cNvSpPr/>
          <p:nvPr/>
        </p:nvSpPr>
        <p:spPr>
          <a:xfrm>
            <a:off x="2531533" y="3303067"/>
            <a:ext cx="603250" cy="190500"/>
          </a:xfrm>
          <a:prstGeom prst="roundRect">
            <a:avLst>
              <a:gd name="adj" fmla="val 20000"/>
            </a:avLst>
          </a:prstGeom>
          <a:solidFill>
            <a:srgbClr val="B2432A"/>
          </a:solidFill>
          <a:ln/>
        </p:spPr>
        <p:txBody>
          <a:bodyPr/>
          <a:lstStyle/>
          <a:p>
            <a:endParaRPr lang="en-US"/>
          </a:p>
        </p:txBody>
      </p:sp>
      <p:sp>
        <p:nvSpPr>
          <p:cNvPr id="14" name="Text 12"/>
          <p:cNvSpPr/>
          <p:nvPr/>
        </p:nvSpPr>
        <p:spPr>
          <a:xfrm>
            <a:off x="4258733" y="329168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1.83</a:t>
            </a:r>
            <a:endParaRPr lang="en-US" sz="1200" dirty="0"/>
          </a:p>
        </p:txBody>
      </p:sp>
      <p:sp>
        <p:nvSpPr>
          <p:cNvPr id="15" name="Text 13"/>
          <p:cNvSpPr/>
          <p:nvPr/>
        </p:nvSpPr>
        <p:spPr>
          <a:xfrm>
            <a:off x="994833" y="356850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Grounded LLM</a:t>
            </a:r>
            <a:endParaRPr lang="en-US" sz="1200" dirty="0"/>
          </a:p>
        </p:txBody>
      </p:sp>
      <p:sp>
        <p:nvSpPr>
          <p:cNvPr id="16" name="Shape 14"/>
          <p:cNvSpPr/>
          <p:nvPr/>
        </p:nvSpPr>
        <p:spPr>
          <a:xfrm>
            <a:off x="2531533" y="3579887"/>
            <a:ext cx="1651000" cy="190500"/>
          </a:xfrm>
          <a:prstGeom prst="roundRect">
            <a:avLst>
              <a:gd name="adj" fmla="val 20000"/>
            </a:avLst>
          </a:prstGeom>
          <a:solidFill>
            <a:srgbClr val="E4DECE"/>
          </a:solidFill>
          <a:ln/>
        </p:spPr>
        <p:txBody>
          <a:bodyPr/>
          <a:lstStyle/>
          <a:p>
            <a:endParaRPr lang="en-US"/>
          </a:p>
        </p:txBody>
      </p:sp>
      <p:sp>
        <p:nvSpPr>
          <p:cNvPr id="17" name="Shape 15"/>
          <p:cNvSpPr/>
          <p:nvPr/>
        </p:nvSpPr>
        <p:spPr>
          <a:xfrm>
            <a:off x="2531533" y="3579887"/>
            <a:ext cx="1098550" cy="190500"/>
          </a:xfrm>
          <a:prstGeom prst="roundRect">
            <a:avLst>
              <a:gd name="adj" fmla="val 20000"/>
            </a:avLst>
          </a:prstGeom>
          <a:solidFill>
            <a:srgbClr val="B2432A"/>
          </a:solidFill>
          <a:ln/>
        </p:spPr>
        <p:txBody>
          <a:bodyPr/>
          <a:lstStyle/>
          <a:p>
            <a:endParaRPr lang="en-US"/>
          </a:p>
        </p:txBody>
      </p:sp>
      <p:sp>
        <p:nvSpPr>
          <p:cNvPr id="18" name="Text 16"/>
          <p:cNvSpPr/>
          <p:nvPr/>
        </p:nvSpPr>
        <p:spPr>
          <a:xfrm>
            <a:off x="4258733" y="356850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3.33</a:t>
            </a:r>
            <a:endParaRPr lang="en-US" sz="1200" dirty="0"/>
          </a:p>
        </p:txBody>
      </p:sp>
      <p:sp>
        <p:nvSpPr>
          <p:cNvPr id="19" name="Text 17"/>
          <p:cNvSpPr/>
          <p:nvPr/>
        </p:nvSpPr>
        <p:spPr>
          <a:xfrm>
            <a:off x="994833" y="384532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Grounded + check</a:t>
            </a:r>
            <a:endParaRPr lang="en-US" sz="1200" dirty="0"/>
          </a:p>
        </p:txBody>
      </p:sp>
      <p:sp>
        <p:nvSpPr>
          <p:cNvPr id="20" name="Shape 18"/>
          <p:cNvSpPr/>
          <p:nvPr/>
        </p:nvSpPr>
        <p:spPr>
          <a:xfrm>
            <a:off x="2531533" y="3856707"/>
            <a:ext cx="1651000" cy="190500"/>
          </a:xfrm>
          <a:prstGeom prst="roundRect">
            <a:avLst>
              <a:gd name="adj" fmla="val 20000"/>
            </a:avLst>
          </a:prstGeom>
          <a:solidFill>
            <a:srgbClr val="E4DECE"/>
          </a:solidFill>
          <a:ln/>
        </p:spPr>
        <p:txBody>
          <a:bodyPr/>
          <a:lstStyle/>
          <a:p>
            <a:endParaRPr lang="en-US"/>
          </a:p>
        </p:txBody>
      </p:sp>
      <p:sp>
        <p:nvSpPr>
          <p:cNvPr id="21" name="Shape 19"/>
          <p:cNvSpPr/>
          <p:nvPr/>
        </p:nvSpPr>
        <p:spPr>
          <a:xfrm>
            <a:off x="2531533" y="3856707"/>
            <a:ext cx="1371600" cy="190500"/>
          </a:xfrm>
          <a:prstGeom prst="roundRect">
            <a:avLst>
              <a:gd name="adj" fmla="val 20000"/>
            </a:avLst>
          </a:prstGeom>
          <a:solidFill>
            <a:srgbClr val="7A5A9A"/>
          </a:solidFill>
          <a:ln/>
        </p:spPr>
        <p:txBody>
          <a:bodyPr/>
          <a:lstStyle/>
          <a:p>
            <a:endParaRPr lang="en-US"/>
          </a:p>
        </p:txBody>
      </p:sp>
      <p:sp>
        <p:nvSpPr>
          <p:cNvPr id="22" name="Text 20"/>
          <p:cNvSpPr/>
          <p:nvPr/>
        </p:nvSpPr>
        <p:spPr>
          <a:xfrm>
            <a:off x="4258733" y="384532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4.17</a:t>
            </a:r>
            <a:endParaRPr lang="en-US" sz="1200" dirty="0"/>
          </a:p>
        </p:txBody>
      </p:sp>
      <p:sp>
        <p:nvSpPr>
          <p:cNvPr id="23" name="Shape 21"/>
          <p:cNvSpPr/>
          <p:nvPr/>
        </p:nvSpPr>
        <p:spPr>
          <a:xfrm>
            <a:off x="6175375" y="2528032"/>
            <a:ext cx="5200650" cy="2540595"/>
          </a:xfrm>
          <a:prstGeom prst="roundRect">
            <a:avLst>
              <a:gd name="adj" fmla="val 3874"/>
            </a:avLst>
          </a:prstGeom>
          <a:solidFill>
            <a:srgbClr val="FCFAF6"/>
          </a:solidFill>
          <a:ln w="6350">
            <a:solidFill>
              <a:srgbClr val="D9D3C4"/>
            </a:solidFill>
            <a:prstDash val="solid"/>
          </a:ln>
        </p:spPr>
        <p:txBody>
          <a:bodyPr/>
          <a:lstStyle/>
          <a:p>
            <a:endParaRPr lang="en-US"/>
          </a:p>
        </p:txBody>
      </p:sp>
      <p:sp>
        <p:nvSpPr>
          <p:cNvPr id="24" name="Text 22"/>
          <p:cNvSpPr/>
          <p:nvPr/>
        </p:nvSpPr>
        <p:spPr>
          <a:xfrm>
            <a:off x="6354233" y="2706886"/>
            <a:ext cx="4988221"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Judge vs human ranking (Spearman)</a:t>
            </a:r>
            <a:endParaRPr lang="en-US" sz="1500" dirty="0"/>
          </a:p>
        </p:txBody>
      </p:sp>
      <p:sp>
        <p:nvSpPr>
          <p:cNvPr id="25" name="Text 23"/>
          <p:cNvSpPr/>
          <p:nvPr/>
        </p:nvSpPr>
        <p:spPr>
          <a:xfrm>
            <a:off x="6354233" y="3014861"/>
            <a:ext cx="4988221" cy="213982"/>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5606A"/>
                </a:solidFill>
                <a:latin typeface="IBM Plex Sans" pitchFamily="34" charset="0"/>
                <a:ea typeface="IBM Plex Sans" pitchFamily="34" charset="-122"/>
                <a:cs typeface="IBM Plex Sans" pitchFamily="34" charset="-120"/>
              </a:rPr>
              <a:t>1 = same order, negative = reversed</a:t>
            </a:r>
            <a:endParaRPr lang="en-US" sz="1100" dirty="0"/>
          </a:p>
        </p:txBody>
      </p:sp>
      <p:sp>
        <p:nvSpPr>
          <p:cNvPr id="26" name="Text 24"/>
          <p:cNvSpPr/>
          <p:nvPr/>
        </p:nvSpPr>
        <p:spPr>
          <a:xfrm>
            <a:off x="6354233" y="3292351"/>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 facts</a:t>
            </a:r>
            <a:endParaRPr lang="en-US" sz="1200" dirty="0"/>
          </a:p>
        </p:txBody>
      </p:sp>
      <p:sp>
        <p:nvSpPr>
          <p:cNvPr id="27" name="Shape 25"/>
          <p:cNvSpPr/>
          <p:nvPr/>
        </p:nvSpPr>
        <p:spPr>
          <a:xfrm>
            <a:off x="7890934" y="3303724"/>
            <a:ext cx="1651000" cy="190500"/>
          </a:xfrm>
          <a:prstGeom prst="roundRect">
            <a:avLst>
              <a:gd name="adj" fmla="val 20000"/>
            </a:avLst>
          </a:prstGeom>
          <a:solidFill>
            <a:srgbClr val="E4DECE"/>
          </a:solidFill>
          <a:ln/>
        </p:spPr>
        <p:txBody>
          <a:bodyPr/>
          <a:lstStyle/>
          <a:p>
            <a:endParaRPr lang="en-US"/>
          </a:p>
        </p:txBody>
      </p:sp>
      <p:sp>
        <p:nvSpPr>
          <p:cNvPr id="28" name="Shape 26"/>
          <p:cNvSpPr/>
          <p:nvPr/>
        </p:nvSpPr>
        <p:spPr>
          <a:xfrm>
            <a:off x="7890934" y="3303724"/>
            <a:ext cx="1568450" cy="190500"/>
          </a:xfrm>
          <a:prstGeom prst="roundRect">
            <a:avLst>
              <a:gd name="adj" fmla="val 20000"/>
            </a:avLst>
          </a:prstGeom>
          <a:solidFill>
            <a:srgbClr val="7A5A9A"/>
          </a:solidFill>
          <a:ln/>
        </p:spPr>
        <p:txBody>
          <a:bodyPr/>
          <a:lstStyle/>
          <a:p>
            <a:endParaRPr lang="en-US"/>
          </a:p>
        </p:txBody>
      </p:sp>
      <p:sp>
        <p:nvSpPr>
          <p:cNvPr id="29" name="Text 27"/>
          <p:cNvSpPr/>
          <p:nvPr/>
        </p:nvSpPr>
        <p:spPr>
          <a:xfrm>
            <a:off x="9618134" y="329235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+0.95</a:t>
            </a:r>
            <a:endParaRPr lang="en-US" sz="1200" dirty="0"/>
          </a:p>
        </p:txBody>
      </p:sp>
      <p:sp>
        <p:nvSpPr>
          <p:cNvPr id="30" name="Text 28"/>
          <p:cNvSpPr/>
          <p:nvPr/>
        </p:nvSpPr>
        <p:spPr>
          <a:xfrm>
            <a:off x="6354233" y="3569171"/>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 checklist</a:t>
            </a:r>
            <a:endParaRPr lang="en-US" sz="1200" dirty="0"/>
          </a:p>
        </p:txBody>
      </p:sp>
      <p:sp>
        <p:nvSpPr>
          <p:cNvPr id="31" name="Shape 29"/>
          <p:cNvSpPr/>
          <p:nvPr/>
        </p:nvSpPr>
        <p:spPr>
          <a:xfrm>
            <a:off x="7890934" y="3580544"/>
            <a:ext cx="1651000" cy="190500"/>
          </a:xfrm>
          <a:prstGeom prst="roundRect">
            <a:avLst>
              <a:gd name="adj" fmla="val 20000"/>
            </a:avLst>
          </a:prstGeom>
          <a:solidFill>
            <a:srgbClr val="E4DECE"/>
          </a:solidFill>
          <a:ln/>
        </p:spPr>
        <p:txBody>
          <a:bodyPr/>
          <a:lstStyle/>
          <a:p>
            <a:endParaRPr lang="en-US"/>
          </a:p>
        </p:txBody>
      </p:sp>
      <p:sp>
        <p:nvSpPr>
          <p:cNvPr id="32" name="Shape 30"/>
          <p:cNvSpPr/>
          <p:nvPr/>
        </p:nvSpPr>
        <p:spPr>
          <a:xfrm>
            <a:off x="7890934" y="3580544"/>
            <a:ext cx="1320800" cy="190500"/>
          </a:xfrm>
          <a:prstGeom prst="roundRect">
            <a:avLst>
              <a:gd name="adj" fmla="val 20000"/>
            </a:avLst>
          </a:prstGeom>
          <a:solidFill>
            <a:srgbClr val="7A5A9A"/>
          </a:solidFill>
          <a:ln/>
        </p:spPr>
        <p:txBody>
          <a:bodyPr/>
          <a:lstStyle/>
          <a:p>
            <a:endParaRPr lang="en-US"/>
          </a:p>
        </p:txBody>
      </p:sp>
      <p:sp>
        <p:nvSpPr>
          <p:cNvPr id="33" name="Text 31"/>
          <p:cNvSpPr/>
          <p:nvPr/>
        </p:nvSpPr>
        <p:spPr>
          <a:xfrm>
            <a:off x="9618134" y="3569171"/>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+0.80</a:t>
            </a:r>
            <a:endParaRPr lang="en-US" sz="1200" dirty="0"/>
          </a:p>
        </p:txBody>
      </p:sp>
      <p:sp>
        <p:nvSpPr>
          <p:cNvPr id="34" name="Text 32"/>
          <p:cNvSpPr/>
          <p:nvPr/>
        </p:nvSpPr>
        <p:spPr>
          <a:xfrm>
            <a:off x="6354233" y="384599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 checklist</a:t>
            </a:r>
            <a:endParaRPr lang="en-US" sz="1200" dirty="0"/>
          </a:p>
        </p:txBody>
      </p:sp>
      <p:sp>
        <p:nvSpPr>
          <p:cNvPr id="35" name="Shape 33"/>
          <p:cNvSpPr/>
          <p:nvPr/>
        </p:nvSpPr>
        <p:spPr>
          <a:xfrm>
            <a:off x="7890934" y="3857365"/>
            <a:ext cx="1651000" cy="190500"/>
          </a:xfrm>
          <a:prstGeom prst="roundRect">
            <a:avLst>
              <a:gd name="adj" fmla="val 20000"/>
            </a:avLst>
          </a:prstGeom>
          <a:solidFill>
            <a:srgbClr val="E4DECE"/>
          </a:solidFill>
          <a:ln/>
        </p:spPr>
        <p:txBody>
          <a:bodyPr/>
          <a:lstStyle/>
          <a:p>
            <a:endParaRPr lang="en-US"/>
          </a:p>
        </p:txBody>
      </p:sp>
      <p:sp>
        <p:nvSpPr>
          <p:cNvPr id="36" name="Shape 34"/>
          <p:cNvSpPr/>
          <p:nvPr/>
        </p:nvSpPr>
        <p:spPr>
          <a:xfrm>
            <a:off x="7890934" y="3857365"/>
            <a:ext cx="1320800" cy="190500"/>
          </a:xfrm>
          <a:prstGeom prst="roundRect">
            <a:avLst>
              <a:gd name="adj" fmla="val 20000"/>
            </a:avLst>
          </a:prstGeom>
          <a:solidFill>
            <a:srgbClr val="1F6F78"/>
          </a:solidFill>
          <a:ln/>
        </p:spPr>
        <p:txBody>
          <a:bodyPr/>
          <a:lstStyle/>
          <a:p>
            <a:endParaRPr lang="en-US"/>
          </a:p>
        </p:txBody>
      </p:sp>
      <p:sp>
        <p:nvSpPr>
          <p:cNvPr id="37" name="Text 35"/>
          <p:cNvSpPr/>
          <p:nvPr/>
        </p:nvSpPr>
        <p:spPr>
          <a:xfrm>
            <a:off x="9618134" y="384599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+0.80</a:t>
            </a:r>
            <a:endParaRPr lang="en-US" sz="1200" dirty="0"/>
          </a:p>
        </p:txBody>
      </p:sp>
      <p:sp>
        <p:nvSpPr>
          <p:cNvPr id="38" name="Text 36"/>
          <p:cNvSpPr/>
          <p:nvPr/>
        </p:nvSpPr>
        <p:spPr>
          <a:xfrm>
            <a:off x="6354233" y="412281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 facts</a:t>
            </a:r>
            <a:endParaRPr lang="en-US" sz="1200" dirty="0"/>
          </a:p>
        </p:txBody>
      </p:sp>
      <p:sp>
        <p:nvSpPr>
          <p:cNvPr id="39" name="Shape 37"/>
          <p:cNvSpPr/>
          <p:nvPr/>
        </p:nvSpPr>
        <p:spPr>
          <a:xfrm>
            <a:off x="7890934" y="4134185"/>
            <a:ext cx="1651000" cy="190500"/>
          </a:xfrm>
          <a:prstGeom prst="roundRect">
            <a:avLst>
              <a:gd name="adj" fmla="val 20000"/>
            </a:avLst>
          </a:prstGeom>
          <a:solidFill>
            <a:srgbClr val="E4DECE"/>
          </a:solidFill>
          <a:ln/>
        </p:spPr>
        <p:txBody>
          <a:bodyPr/>
          <a:lstStyle/>
          <a:p>
            <a:endParaRPr lang="en-US"/>
          </a:p>
        </p:txBody>
      </p:sp>
      <p:sp>
        <p:nvSpPr>
          <p:cNvPr id="40" name="Shape 38"/>
          <p:cNvSpPr/>
          <p:nvPr/>
        </p:nvSpPr>
        <p:spPr>
          <a:xfrm>
            <a:off x="7890934" y="4134185"/>
            <a:ext cx="1270000" cy="190500"/>
          </a:xfrm>
          <a:prstGeom prst="roundRect">
            <a:avLst>
              <a:gd name="adj" fmla="val 20000"/>
            </a:avLst>
          </a:prstGeom>
          <a:solidFill>
            <a:srgbClr val="1F6F78"/>
          </a:solidFill>
          <a:ln/>
        </p:spPr>
        <p:txBody>
          <a:bodyPr/>
          <a:lstStyle/>
          <a:p>
            <a:endParaRPr lang="en-US"/>
          </a:p>
        </p:txBody>
      </p:sp>
      <p:sp>
        <p:nvSpPr>
          <p:cNvPr id="41" name="Text 39"/>
          <p:cNvSpPr/>
          <p:nvPr/>
        </p:nvSpPr>
        <p:spPr>
          <a:xfrm>
            <a:off x="9618134" y="412281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+0.77</a:t>
            </a:r>
            <a:endParaRPr lang="en-US" sz="1200" dirty="0"/>
          </a:p>
        </p:txBody>
      </p:sp>
      <p:sp>
        <p:nvSpPr>
          <p:cNvPr id="42" name="Text 40"/>
          <p:cNvSpPr/>
          <p:nvPr/>
        </p:nvSpPr>
        <p:spPr>
          <a:xfrm>
            <a:off x="6354233" y="4399632"/>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Phi-4 · facts</a:t>
            </a:r>
            <a:endParaRPr lang="en-US" sz="1200" dirty="0"/>
          </a:p>
        </p:txBody>
      </p:sp>
      <p:sp>
        <p:nvSpPr>
          <p:cNvPr id="43" name="Shape 41"/>
          <p:cNvSpPr/>
          <p:nvPr/>
        </p:nvSpPr>
        <p:spPr>
          <a:xfrm>
            <a:off x="7890934" y="4411005"/>
            <a:ext cx="1651000" cy="190500"/>
          </a:xfrm>
          <a:prstGeom prst="roundRect">
            <a:avLst>
              <a:gd name="adj" fmla="val 20000"/>
            </a:avLst>
          </a:prstGeom>
          <a:solidFill>
            <a:srgbClr val="E4DECE"/>
          </a:solidFill>
          <a:ln/>
        </p:spPr>
        <p:txBody>
          <a:bodyPr/>
          <a:lstStyle/>
          <a:p>
            <a:endParaRPr lang="en-US"/>
          </a:p>
        </p:txBody>
      </p:sp>
      <p:sp>
        <p:nvSpPr>
          <p:cNvPr id="44" name="Shape 42"/>
          <p:cNvSpPr/>
          <p:nvPr/>
        </p:nvSpPr>
        <p:spPr>
          <a:xfrm>
            <a:off x="7890934" y="4411005"/>
            <a:ext cx="527050" cy="190500"/>
          </a:xfrm>
          <a:prstGeom prst="roundRect">
            <a:avLst>
              <a:gd name="adj" fmla="val 20000"/>
            </a:avLst>
          </a:prstGeom>
          <a:solidFill>
            <a:srgbClr val="1F6F78"/>
          </a:solidFill>
          <a:ln/>
        </p:spPr>
        <p:txBody>
          <a:bodyPr/>
          <a:lstStyle/>
          <a:p>
            <a:endParaRPr lang="en-US"/>
          </a:p>
        </p:txBody>
      </p:sp>
      <p:sp>
        <p:nvSpPr>
          <p:cNvPr id="45" name="Text 43"/>
          <p:cNvSpPr/>
          <p:nvPr/>
        </p:nvSpPr>
        <p:spPr>
          <a:xfrm>
            <a:off x="9618134" y="4399632"/>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+0.32</a:t>
            </a:r>
            <a:endParaRPr lang="en-US" sz="1200" dirty="0"/>
          </a:p>
        </p:txBody>
      </p:sp>
      <p:sp>
        <p:nvSpPr>
          <p:cNvPr id="46" name="Text 44"/>
          <p:cNvSpPr/>
          <p:nvPr/>
        </p:nvSpPr>
        <p:spPr>
          <a:xfrm>
            <a:off x="6354233" y="4676453"/>
            <a:ext cx="1511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 no facts</a:t>
            </a:r>
            <a:endParaRPr lang="en-US" sz="1200" dirty="0"/>
          </a:p>
        </p:txBody>
      </p:sp>
      <p:sp>
        <p:nvSpPr>
          <p:cNvPr id="47" name="Shape 45"/>
          <p:cNvSpPr/>
          <p:nvPr/>
        </p:nvSpPr>
        <p:spPr>
          <a:xfrm>
            <a:off x="7890934" y="4687825"/>
            <a:ext cx="1651000" cy="190500"/>
          </a:xfrm>
          <a:prstGeom prst="roundRect">
            <a:avLst>
              <a:gd name="adj" fmla="val 20000"/>
            </a:avLst>
          </a:prstGeom>
          <a:solidFill>
            <a:srgbClr val="E4DECE"/>
          </a:solidFill>
          <a:ln/>
        </p:spPr>
        <p:txBody>
          <a:bodyPr/>
          <a:lstStyle/>
          <a:p>
            <a:endParaRPr lang="en-US"/>
          </a:p>
        </p:txBody>
      </p:sp>
      <p:sp>
        <p:nvSpPr>
          <p:cNvPr id="48" name="Shape 46"/>
          <p:cNvSpPr/>
          <p:nvPr/>
        </p:nvSpPr>
        <p:spPr>
          <a:xfrm>
            <a:off x="7890934" y="4687825"/>
            <a:ext cx="19050" cy="190500"/>
          </a:xfrm>
          <a:prstGeom prst="roundRect">
            <a:avLst>
              <a:gd name="adj" fmla="val 50000"/>
            </a:avLst>
          </a:prstGeom>
          <a:solidFill>
            <a:srgbClr val="B07A12"/>
          </a:solidFill>
          <a:ln/>
        </p:spPr>
        <p:txBody>
          <a:bodyPr/>
          <a:lstStyle/>
          <a:p>
            <a:endParaRPr lang="en-US"/>
          </a:p>
        </p:txBody>
      </p:sp>
      <p:sp>
        <p:nvSpPr>
          <p:cNvPr id="49" name="Text 47"/>
          <p:cNvSpPr/>
          <p:nvPr/>
        </p:nvSpPr>
        <p:spPr>
          <a:xfrm>
            <a:off x="9618134" y="4676453"/>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-0.26</a:t>
            </a:r>
            <a:endParaRPr lang="en-US" sz="1200" dirty="0"/>
          </a:p>
        </p:txBody>
      </p:sp>
      <p:sp>
        <p:nvSpPr>
          <p:cNvPr id="50" name="Shape 48"/>
          <p:cNvSpPr/>
          <p:nvPr/>
        </p:nvSpPr>
        <p:spPr>
          <a:xfrm>
            <a:off x="815975" y="5176577"/>
            <a:ext cx="10560050" cy="662252"/>
          </a:xfrm>
          <a:prstGeom prst="roundRect">
            <a:avLst>
              <a:gd name="adj" fmla="val 14862"/>
            </a:avLst>
          </a:prstGeom>
          <a:solidFill>
            <a:srgbClr val="ECE6D8"/>
          </a:solidFill>
          <a:ln w="6350">
            <a:solidFill>
              <a:srgbClr val="D9D3C4"/>
            </a:solidFill>
            <a:prstDash val="solid"/>
          </a:ln>
        </p:spPr>
        <p:txBody>
          <a:bodyPr/>
          <a:lstStyle/>
          <a:p>
            <a:endParaRPr lang="en-US"/>
          </a:p>
        </p:txBody>
      </p:sp>
      <p:sp>
        <p:nvSpPr>
          <p:cNvPr id="51" name="Text 49"/>
          <p:cNvSpPr/>
          <p:nvPr/>
        </p:nvSpPr>
        <p:spPr>
          <a:xfrm>
            <a:off x="944033" y="5304631"/>
            <a:ext cx="10613052" cy="431535"/>
          </a:xfrm>
          <a:prstGeom prst="rect">
            <a:avLst/>
          </a:prstGeom>
          <a:noFill/>
          <a:ln/>
        </p:spPr>
        <p:txBody>
          <a:bodyPr wrap="square" lIns="0" tIns="0" rIns="0" bIns="0" rtlCol="0" anchor="t">
            <a:normAutofit/>
          </a:bodyPr>
          <a:lstStyle/>
          <a:p>
            <a:pPr marL="0" indent="0" algn="l">
              <a:lnSpc>
                <a:spcPts val="1612"/>
              </a:lnSpc>
              <a:buNone/>
            </a:pPr>
            <a:r>
              <a:rPr lang="en-US" sz="1194" b="1" dirty="0">
                <a:solidFill>
                  <a:srgbClr val="17242B"/>
                </a:solidFill>
                <a:latin typeface="IBM Plex Sans" pitchFamily="34" charset="0"/>
                <a:ea typeface="IBM Plex Sans" pitchFamily="34" charset="-122"/>
                <a:cs typeface="IBM Plex Sans" pitchFamily="34" charset="-120"/>
              </a:rPr>
              <a:t>Found:</a:t>
            </a:r>
            <a:r>
              <a:rPr lang="en-US" sz="1194" dirty="0">
                <a:solidFill>
                  <a:srgbClr val="17242B"/>
                </a:solidFill>
                <a:latin typeface="IBM Plex Sans" pitchFamily="34" charset="0"/>
                <a:ea typeface="IBM Plex Sans" pitchFamily="34" charset="-122"/>
                <a:cs typeface="IBM Plex Sans" pitchFamily="34" charset="-120"/>
              </a:rPr>
              <a:t> humans rank direct worst and grounded + check best. With facts, Qwen reproduces this almost exactly (0.95); without facts, the ranking is lost. </a:t>
            </a:r>
          </a:p>
          <a:p>
            <a:pPr marL="0" indent="0" algn="l">
              <a:lnSpc>
                <a:spcPts val="1612"/>
              </a:lnSpc>
              <a:buNone/>
            </a:pPr>
            <a:r>
              <a:rPr lang="en-US" sz="1194" b="1" dirty="0">
                <a:solidFill>
                  <a:srgbClr val="17242B"/>
                </a:solidFill>
                <a:latin typeface="IBM Plex Sans" pitchFamily="34" charset="0"/>
                <a:ea typeface="IBM Plex Sans" pitchFamily="34" charset="-122"/>
                <a:cs typeface="IBM Plex Sans" pitchFamily="34" charset="-120"/>
              </a:rPr>
              <a:t>How:</a:t>
            </a:r>
            <a:r>
              <a:rPr lang="en-US" sz="1194" dirty="0">
                <a:solidFill>
                  <a:srgbClr val="17242B"/>
                </a:solidFill>
                <a:latin typeface="IBM Plex Sans" pitchFamily="34" charset="0"/>
                <a:ea typeface="IBM Plex Sans" pitchFamily="34" charset="-122"/>
                <a:cs typeface="IBM Plex Sans" pitchFamily="34" charset="-120"/>
              </a:rPr>
              <a:t> average each rater's overall score per technique, then compare the rankings. 2 items per technique; Qwen also audited technique 4.</a:t>
            </a:r>
            <a:endParaRPr lang="en-US" sz="1194" dirty="0"/>
          </a:p>
        </p:txBody>
      </p:sp>
      <p:sp>
        <p:nvSpPr>
          <p:cNvPr id="52" name="Text 5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53" name="Text 51"/>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2432A"/>
                </a:solidFill>
                <a:latin typeface="IBM Plex Sans" pitchFamily="34" charset="0"/>
                <a:ea typeface="IBM Plex Sans" pitchFamily="34" charset="-122"/>
                <a:cs typeface="IBM Plex Sans" pitchFamily="34" charset="-120"/>
              </a:rPr>
              <a:t>RESULTS · RQ4</a:t>
            </a:r>
            <a:endParaRPr lang="en-US" sz="1300" dirty="0"/>
          </a:p>
        </p:txBody>
      </p:sp>
      <p:sp>
        <p:nvSpPr>
          <p:cNvPr id="3" name="Text 1"/>
          <p:cNvSpPr>
            <a:spLocks noGrp="1"/>
          </p:cNvSpPr>
          <p:nvPr>
            <p:ph type="title"/>
          </p:nvPr>
        </p:nvSpPr>
        <p:spPr>
          <a:xfrm>
            <a:off x="812800" y="1183618"/>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7242B"/>
                </a:solidFill>
                <a:latin typeface="EB Garamond" pitchFamily="18" charset="0"/>
                <a:ea typeface="EB Garamond" pitchFamily="18" charset="-122"/>
                <a:cs typeface="EB Garamond" pitchFamily="18" charset="-120"/>
              </a:rPr>
              <a:t>Invented preferences are caught; other errors untested</a:t>
            </a:r>
            <a:endParaRPr lang="en-US" sz="3200" dirty="0"/>
          </a:p>
        </p:txBody>
      </p:sp>
      <p:sp>
        <p:nvSpPr>
          <p:cNvPr id="4" name="Text 2"/>
          <p:cNvSpPr/>
          <p:nvPr/>
        </p:nvSpPr>
        <p:spPr>
          <a:xfrm>
            <a:off x="815975" y="1773510"/>
            <a:ext cx="10560050" cy="496094"/>
          </a:xfrm>
          <a:prstGeom prst="roundRect">
            <a:avLst>
              <a:gd name="adj" fmla="val 19840"/>
            </a:avLst>
          </a:prstGeom>
          <a:solidFill>
            <a:srgbClr val="ECE6D8"/>
          </a:solidFill>
          <a:ln w="6350">
            <a:solidFill>
              <a:srgbClr val="D9D3C4"/>
            </a:solidFill>
            <a:prstDash val="solid"/>
          </a:ln>
        </p:spPr>
        <p:txBody>
          <a:bodyPr wrap="square" lIns="99231" tIns="99231" rIns="0" bIns="73831" rtlCol="0" anchor="t">
            <a:normAutofit/>
          </a:bodyPr>
          <a:lstStyle/>
          <a:p>
            <a:pPr marL="0" indent="0" algn="l">
              <a:lnSpc>
                <a:spcPts val="1890"/>
              </a:lnSpc>
              <a:buNone/>
            </a:pPr>
            <a:r>
              <a:rPr lang="en-US" sz="1400" b="1" dirty="0">
                <a:solidFill>
                  <a:srgbClr val="17242B"/>
                </a:solidFill>
                <a:latin typeface="IBM Plex Sans" pitchFamily="34" charset="0"/>
                <a:ea typeface="IBM Plex Sans" pitchFamily="34" charset="-122"/>
                <a:cs typeface="IBM Plex Sans" pitchFamily="34" charset="-120"/>
              </a:rPr>
              <a:t>RQ4</a:t>
            </a:r>
            <a:r>
              <a:rPr lang="en-US" sz="1400" dirty="0">
                <a:solidFill>
                  <a:srgbClr val="17242B"/>
                </a:solidFill>
                <a:latin typeface="IBM Plex Sans" pitchFamily="34" charset="0"/>
                <a:ea typeface="IBM Plex Sans" pitchFamily="34" charset="-122"/>
                <a:cs typeface="IBM Plex Sans" pitchFamily="34" charset="-120"/>
              </a:rPr>
              <a:t> · Which judging setup best detects invented personalization, wrong facts and ignored constraints?</a:t>
            </a:r>
            <a:endParaRPr lang="en-US" sz="1400" dirty="0"/>
          </a:p>
        </p:txBody>
      </p:sp>
      <p:sp>
        <p:nvSpPr>
          <p:cNvPr id="5" name="Shape 3"/>
          <p:cNvSpPr/>
          <p:nvPr/>
        </p:nvSpPr>
        <p:spPr>
          <a:xfrm>
            <a:off x="815975" y="2390254"/>
            <a:ext cx="6169223" cy="2263775"/>
          </a:xfrm>
          <a:prstGeom prst="roundRect">
            <a:avLst>
              <a:gd name="adj" fmla="val 4348"/>
            </a:avLst>
          </a:prstGeom>
          <a:solidFill>
            <a:srgbClr val="FCFAF6"/>
          </a:solidFill>
          <a:ln w="6350">
            <a:solidFill>
              <a:srgbClr val="D9D3C4"/>
            </a:solidFill>
            <a:prstDash val="solid"/>
          </a:ln>
        </p:spPr>
        <p:txBody>
          <a:bodyPr/>
          <a:lstStyle/>
          <a:p>
            <a:endParaRPr lang="en-US"/>
          </a:p>
        </p:txBody>
      </p:sp>
      <p:sp>
        <p:nvSpPr>
          <p:cNvPr id="6" name="Text 4"/>
          <p:cNvSpPr/>
          <p:nvPr/>
        </p:nvSpPr>
        <p:spPr>
          <a:xfrm>
            <a:off x="994833" y="2569108"/>
            <a:ext cx="5985852"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F6F78"/>
                </a:solidFill>
                <a:latin typeface="IBM Plex Sans" pitchFamily="34" charset="0"/>
                <a:ea typeface="IBM Plex Sans" pitchFamily="34" charset="-122"/>
                <a:cs typeface="IBM Plex Sans" pitchFamily="34" charset="-120"/>
              </a:rPr>
              <a:t>Planted invented preference: share flagged</a:t>
            </a:r>
            <a:endParaRPr lang="en-US" sz="1500" dirty="0"/>
          </a:p>
        </p:txBody>
      </p:sp>
      <p:sp>
        <p:nvSpPr>
          <p:cNvPr id="7" name="Text 5"/>
          <p:cNvSpPr/>
          <p:nvPr/>
        </p:nvSpPr>
        <p:spPr>
          <a:xfrm>
            <a:off x="994833" y="2877083"/>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Humans (average)</a:t>
            </a:r>
            <a:endParaRPr lang="en-US" sz="1200" dirty="0"/>
          </a:p>
        </p:txBody>
      </p:sp>
      <p:sp>
        <p:nvSpPr>
          <p:cNvPr id="8" name="Shape 6"/>
          <p:cNvSpPr/>
          <p:nvPr/>
        </p:nvSpPr>
        <p:spPr>
          <a:xfrm>
            <a:off x="3166533" y="2888456"/>
            <a:ext cx="1905000" cy="190500"/>
          </a:xfrm>
          <a:prstGeom prst="roundRect">
            <a:avLst>
              <a:gd name="adj" fmla="val 20000"/>
            </a:avLst>
          </a:prstGeom>
          <a:solidFill>
            <a:srgbClr val="E4DECE"/>
          </a:solidFill>
          <a:ln/>
        </p:spPr>
        <p:txBody>
          <a:bodyPr/>
          <a:lstStyle/>
          <a:p>
            <a:endParaRPr lang="en-US"/>
          </a:p>
        </p:txBody>
      </p:sp>
      <p:sp>
        <p:nvSpPr>
          <p:cNvPr id="9" name="Shape 7"/>
          <p:cNvSpPr/>
          <p:nvPr/>
        </p:nvSpPr>
        <p:spPr>
          <a:xfrm>
            <a:off x="3166533" y="2888456"/>
            <a:ext cx="1581150" cy="190500"/>
          </a:xfrm>
          <a:prstGeom prst="roundRect">
            <a:avLst>
              <a:gd name="adj" fmla="val 20000"/>
            </a:avLst>
          </a:prstGeom>
          <a:solidFill>
            <a:srgbClr val="17242B"/>
          </a:solidFill>
          <a:ln/>
        </p:spPr>
        <p:txBody>
          <a:bodyPr/>
          <a:lstStyle/>
          <a:p>
            <a:endParaRPr lang="en-US"/>
          </a:p>
        </p:txBody>
      </p:sp>
      <p:sp>
        <p:nvSpPr>
          <p:cNvPr id="10" name="Text 8"/>
          <p:cNvSpPr/>
          <p:nvPr/>
        </p:nvSpPr>
        <p:spPr>
          <a:xfrm>
            <a:off x="5147733" y="2877083"/>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83%</a:t>
            </a:r>
            <a:endParaRPr lang="en-US" sz="1200" dirty="0"/>
          </a:p>
        </p:txBody>
      </p:sp>
      <p:sp>
        <p:nvSpPr>
          <p:cNvPr id="11" name="Text 9"/>
          <p:cNvSpPr/>
          <p:nvPr/>
        </p:nvSpPr>
        <p:spPr>
          <a:xfrm>
            <a:off x="994833" y="3153904"/>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 facts</a:t>
            </a:r>
            <a:endParaRPr lang="en-US" sz="1200" dirty="0"/>
          </a:p>
        </p:txBody>
      </p:sp>
      <p:sp>
        <p:nvSpPr>
          <p:cNvPr id="12" name="Shape 10"/>
          <p:cNvSpPr/>
          <p:nvPr/>
        </p:nvSpPr>
        <p:spPr>
          <a:xfrm>
            <a:off x="3166533" y="3165277"/>
            <a:ext cx="1905000" cy="190500"/>
          </a:xfrm>
          <a:prstGeom prst="roundRect">
            <a:avLst>
              <a:gd name="adj" fmla="val 20000"/>
            </a:avLst>
          </a:prstGeom>
          <a:solidFill>
            <a:srgbClr val="E4DECE"/>
          </a:solidFill>
          <a:ln/>
        </p:spPr>
        <p:txBody>
          <a:bodyPr/>
          <a:lstStyle/>
          <a:p>
            <a:endParaRPr lang="en-US"/>
          </a:p>
        </p:txBody>
      </p:sp>
      <p:sp>
        <p:nvSpPr>
          <p:cNvPr id="13" name="Shape 11"/>
          <p:cNvSpPr/>
          <p:nvPr/>
        </p:nvSpPr>
        <p:spPr>
          <a:xfrm>
            <a:off x="3166533" y="3165277"/>
            <a:ext cx="952500" cy="190500"/>
          </a:xfrm>
          <a:prstGeom prst="roundRect">
            <a:avLst>
              <a:gd name="adj" fmla="val 20000"/>
            </a:avLst>
          </a:prstGeom>
          <a:solidFill>
            <a:srgbClr val="1F6F78"/>
          </a:solidFill>
          <a:ln/>
        </p:spPr>
        <p:txBody>
          <a:bodyPr/>
          <a:lstStyle/>
          <a:p>
            <a:endParaRPr lang="en-US"/>
          </a:p>
        </p:txBody>
      </p:sp>
      <p:sp>
        <p:nvSpPr>
          <p:cNvPr id="14" name="Text 12"/>
          <p:cNvSpPr/>
          <p:nvPr/>
        </p:nvSpPr>
        <p:spPr>
          <a:xfrm>
            <a:off x="5147733" y="315390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50%</a:t>
            </a:r>
            <a:endParaRPr lang="en-US" sz="1200" dirty="0"/>
          </a:p>
        </p:txBody>
      </p:sp>
      <p:sp>
        <p:nvSpPr>
          <p:cNvPr id="15" name="Text 13"/>
          <p:cNvSpPr/>
          <p:nvPr/>
        </p:nvSpPr>
        <p:spPr>
          <a:xfrm>
            <a:off x="994833" y="3430724"/>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Gemma · checklist, no facts</a:t>
            </a:r>
            <a:endParaRPr lang="en-US" sz="1200" dirty="0"/>
          </a:p>
        </p:txBody>
      </p:sp>
      <p:sp>
        <p:nvSpPr>
          <p:cNvPr id="16" name="Shape 14"/>
          <p:cNvSpPr/>
          <p:nvPr/>
        </p:nvSpPr>
        <p:spPr>
          <a:xfrm>
            <a:off x="3166533" y="3442097"/>
            <a:ext cx="1905000" cy="190500"/>
          </a:xfrm>
          <a:prstGeom prst="roundRect">
            <a:avLst>
              <a:gd name="adj" fmla="val 20000"/>
            </a:avLst>
          </a:prstGeom>
          <a:solidFill>
            <a:srgbClr val="E4DECE"/>
          </a:solidFill>
          <a:ln/>
        </p:spPr>
        <p:txBody>
          <a:bodyPr/>
          <a:lstStyle/>
          <a:p>
            <a:endParaRPr lang="en-US"/>
          </a:p>
        </p:txBody>
      </p:sp>
      <p:sp>
        <p:nvSpPr>
          <p:cNvPr id="17" name="Shape 15"/>
          <p:cNvSpPr/>
          <p:nvPr/>
        </p:nvSpPr>
        <p:spPr>
          <a:xfrm>
            <a:off x="3166533" y="3442097"/>
            <a:ext cx="1905000" cy="190500"/>
          </a:xfrm>
          <a:prstGeom prst="roundRect">
            <a:avLst>
              <a:gd name="adj" fmla="val 20000"/>
            </a:avLst>
          </a:prstGeom>
          <a:solidFill>
            <a:srgbClr val="1F6F78"/>
          </a:solidFill>
          <a:ln/>
        </p:spPr>
        <p:txBody>
          <a:bodyPr/>
          <a:lstStyle/>
          <a:p>
            <a:endParaRPr lang="en-US"/>
          </a:p>
        </p:txBody>
      </p:sp>
      <p:sp>
        <p:nvSpPr>
          <p:cNvPr id="18" name="Text 16"/>
          <p:cNvSpPr/>
          <p:nvPr/>
        </p:nvSpPr>
        <p:spPr>
          <a:xfrm>
            <a:off x="5147733" y="343072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100%</a:t>
            </a:r>
            <a:endParaRPr lang="en-US" sz="1200" dirty="0"/>
          </a:p>
        </p:txBody>
      </p:sp>
      <p:sp>
        <p:nvSpPr>
          <p:cNvPr id="19" name="Text 17"/>
          <p:cNvSpPr/>
          <p:nvPr/>
        </p:nvSpPr>
        <p:spPr>
          <a:xfrm>
            <a:off x="994833" y="3707544"/>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Phi-4 · all setups</a:t>
            </a:r>
            <a:endParaRPr lang="en-US" sz="1200" dirty="0"/>
          </a:p>
        </p:txBody>
      </p:sp>
      <p:sp>
        <p:nvSpPr>
          <p:cNvPr id="20" name="Shape 18"/>
          <p:cNvSpPr/>
          <p:nvPr/>
        </p:nvSpPr>
        <p:spPr>
          <a:xfrm>
            <a:off x="3166533" y="3718917"/>
            <a:ext cx="1905000" cy="190500"/>
          </a:xfrm>
          <a:prstGeom prst="roundRect">
            <a:avLst>
              <a:gd name="adj" fmla="val 20000"/>
            </a:avLst>
          </a:prstGeom>
          <a:solidFill>
            <a:srgbClr val="E4DECE"/>
          </a:solidFill>
          <a:ln/>
        </p:spPr>
        <p:txBody>
          <a:bodyPr/>
          <a:lstStyle/>
          <a:p>
            <a:endParaRPr lang="en-US"/>
          </a:p>
        </p:txBody>
      </p:sp>
      <p:sp>
        <p:nvSpPr>
          <p:cNvPr id="21" name="Shape 19"/>
          <p:cNvSpPr/>
          <p:nvPr/>
        </p:nvSpPr>
        <p:spPr>
          <a:xfrm>
            <a:off x="3166533" y="3718917"/>
            <a:ext cx="1905000" cy="190500"/>
          </a:xfrm>
          <a:prstGeom prst="roundRect">
            <a:avLst>
              <a:gd name="adj" fmla="val 20000"/>
            </a:avLst>
          </a:prstGeom>
          <a:solidFill>
            <a:srgbClr val="1F6F78"/>
          </a:solidFill>
          <a:ln/>
        </p:spPr>
        <p:txBody>
          <a:bodyPr/>
          <a:lstStyle/>
          <a:p>
            <a:endParaRPr lang="en-US"/>
          </a:p>
        </p:txBody>
      </p:sp>
      <p:sp>
        <p:nvSpPr>
          <p:cNvPr id="22" name="Text 20"/>
          <p:cNvSpPr/>
          <p:nvPr/>
        </p:nvSpPr>
        <p:spPr>
          <a:xfrm>
            <a:off x="5147733" y="3707544"/>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100%</a:t>
            </a:r>
            <a:endParaRPr lang="en-US" sz="1200" dirty="0"/>
          </a:p>
        </p:txBody>
      </p:sp>
      <p:sp>
        <p:nvSpPr>
          <p:cNvPr id="23" name="Text 21"/>
          <p:cNvSpPr/>
          <p:nvPr/>
        </p:nvSpPr>
        <p:spPr>
          <a:xfrm>
            <a:off x="994833" y="3984365"/>
            <a:ext cx="2158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42B"/>
                </a:solidFill>
                <a:latin typeface="IBM Plex Sans" pitchFamily="34" charset="0"/>
                <a:ea typeface="IBM Plex Sans" pitchFamily="34" charset="-122"/>
                <a:cs typeface="IBM Plex Sans" pitchFamily="34" charset="-120"/>
              </a:rPr>
              <a:t>Qwen · all setups</a:t>
            </a:r>
            <a:endParaRPr lang="en-US" sz="1200" dirty="0"/>
          </a:p>
        </p:txBody>
      </p:sp>
      <p:sp>
        <p:nvSpPr>
          <p:cNvPr id="24" name="Shape 22"/>
          <p:cNvSpPr/>
          <p:nvPr/>
        </p:nvSpPr>
        <p:spPr>
          <a:xfrm>
            <a:off x="3166533" y="3995738"/>
            <a:ext cx="1905000" cy="190500"/>
          </a:xfrm>
          <a:prstGeom prst="roundRect">
            <a:avLst>
              <a:gd name="adj" fmla="val 20000"/>
            </a:avLst>
          </a:prstGeom>
          <a:solidFill>
            <a:srgbClr val="E4DECE"/>
          </a:solidFill>
          <a:ln/>
        </p:spPr>
        <p:txBody>
          <a:bodyPr/>
          <a:lstStyle/>
          <a:p>
            <a:endParaRPr lang="en-US"/>
          </a:p>
        </p:txBody>
      </p:sp>
      <p:sp>
        <p:nvSpPr>
          <p:cNvPr id="25" name="Shape 23"/>
          <p:cNvSpPr/>
          <p:nvPr/>
        </p:nvSpPr>
        <p:spPr>
          <a:xfrm>
            <a:off x="3166533" y="3995738"/>
            <a:ext cx="1905000" cy="190500"/>
          </a:xfrm>
          <a:prstGeom prst="roundRect">
            <a:avLst>
              <a:gd name="adj" fmla="val 20000"/>
            </a:avLst>
          </a:prstGeom>
          <a:solidFill>
            <a:srgbClr val="7A5A9A"/>
          </a:solidFill>
          <a:ln/>
        </p:spPr>
        <p:txBody>
          <a:bodyPr/>
          <a:lstStyle/>
          <a:p>
            <a:endParaRPr lang="en-US"/>
          </a:p>
        </p:txBody>
      </p:sp>
      <p:sp>
        <p:nvSpPr>
          <p:cNvPr id="26" name="Text 24"/>
          <p:cNvSpPr/>
          <p:nvPr/>
        </p:nvSpPr>
        <p:spPr>
          <a:xfrm>
            <a:off x="5147733" y="3984365"/>
            <a:ext cx="749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42B"/>
                </a:solidFill>
                <a:latin typeface="IBM Plex Sans" pitchFamily="34" charset="0"/>
                <a:ea typeface="IBM Plex Sans" pitchFamily="34" charset="-122"/>
                <a:cs typeface="IBM Plex Sans" pitchFamily="34" charset="-120"/>
              </a:rPr>
              <a:t>100%</a:t>
            </a:r>
            <a:endParaRPr lang="en-US" sz="1200" dirty="0"/>
          </a:p>
        </p:txBody>
      </p:sp>
      <p:sp>
        <p:nvSpPr>
          <p:cNvPr id="27" name="Text 25"/>
          <p:cNvSpPr/>
          <p:nvPr/>
        </p:nvSpPr>
        <p:spPr>
          <a:xfrm>
            <a:off x="994833" y="4286585"/>
            <a:ext cx="5985852" cy="213982"/>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55606A"/>
                </a:solidFill>
                <a:latin typeface="IBM Plex Sans" pitchFamily="34" charset="0"/>
                <a:ea typeface="IBM Plex Sans" pitchFamily="34" charset="-122"/>
                <a:cs typeface="IBM Plex Sans" pitchFamily="34" charset="-120"/>
              </a:rPr>
              <a:t>2 diagnostic items, rated by 3 humans and 9 judge-setups.</a:t>
            </a:r>
            <a:endParaRPr lang="en-US" sz="1100" dirty="0"/>
          </a:p>
        </p:txBody>
      </p:sp>
      <p:sp>
        <p:nvSpPr>
          <p:cNvPr id="28" name="Shape 26"/>
          <p:cNvSpPr/>
          <p:nvPr/>
        </p:nvSpPr>
        <p:spPr>
          <a:xfrm>
            <a:off x="7143948" y="2390254"/>
            <a:ext cx="4232077" cy="2263775"/>
          </a:xfrm>
          <a:prstGeom prst="roundRect">
            <a:avLst>
              <a:gd name="adj" fmla="val 4348"/>
            </a:avLst>
          </a:prstGeom>
          <a:solidFill>
            <a:srgbClr val="FCFAF6"/>
          </a:solidFill>
          <a:ln w="6350">
            <a:solidFill>
              <a:srgbClr val="D9D3C4"/>
            </a:solidFill>
            <a:prstDash val="solid"/>
          </a:ln>
        </p:spPr>
        <p:txBody>
          <a:bodyPr/>
          <a:lstStyle/>
          <a:p>
            <a:endParaRPr lang="en-US"/>
          </a:p>
        </p:txBody>
      </p:sp>
      <p:sp>
        <p:nvSpPr>
          <p:cNvPr id="29" name="Text 27"/>
          <p:cNvSpPr/>
          <p:nvPr/>
        </p:nvSpPr>
        <p:spPr>
          <a:xfrm>
            <a:off x="7322807" y="2569108"/>
            <a:ext cx="3990591" cy="259027"/>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1F6F78"/>
                </a:solidFill>
                <a:latin typeface="IBM Plex Sans" pitchFamily="34" charset="0"/>
                <a:ea typeface="IBM Plex Sans" pitchFamily="34" charset="-122"/>
                <a:cs typeface="IBM Plex Sans" pitchFamily="34" charset="-120"/>
              </a:rPr>
              <a:t>What we found</a:t>
            </a:r>
            <a:endParaRPr lang="en-US" sz="1600" dirty="0"/>
          </a:p>
        </p:txBody>
      </p:sp>
      <p:sp>
        <p:nvSpPr>
          <p:cNvPr id="30" name="Text 28"/>
          <p:cNvSpPr/>
          <p:nvPr/>
        </p:nvSpPr>
        <p:spPr>
          <a:xfrm>
            <a:off x="7408151" y="2878931"/>
            <a:ext cx="3897627" cy="1139627"/>
          </a:xfrm>
          <a:prstGeom prst="rect">
            <a:avLst/>
          </a:prstGeom>
          <a:noFill/>
          <a:ln/>
        </p:spPr>
        <p:txBody>
          <a:bodyPr wrap="square" lIns="0" tIns="0" rIns="0" bIns="0" rtlCol="0" anchor="t">
            <a:normAutofit/>
          </a:bodyPr>
          <a:lstStyle/>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Every judge catches it in 50-100% of ratings; humans 83%</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Ignored diet, ignored time limit and wrong nutrition are not yet rated by humans</a:t>
            </a:r>
            <a:endParaRPr lang="en-US" sz="1300" dirty="0"/>
          </a:p>
          <a:p>
            <a:pPr marL="168656" indent="-168656" algn="l">
              <a:lnSpc>
                <a:spcPts val="1755"/>
              </a:lnSpc>
              <a:buSzPct val="100000"/>
              <a:buChar char="•"/>
            </a:pPr>
            <a:r>
              <a:rPr lang="en-US" sz="1300" dirty="0">
                <a:solidFill>
                  <a:srgbClr val="17242B"/>
                </a:solidFill>
                <a:latin typeface="IBM Plex Sans" pitchFamily="34" charset="0"/>
                <a:ea typeface="IBM Plex Sans" pitchFamily="34" charset="-122"/>
                <a:cs typeface="IBM Plex Sans" pitchFamily="34" charset="-120"/>
              </a:rPr>
              <a:t>These are where facts should help most</a:t>
            </a:r>
            <a:endParaRPr lang="en-US" sz="1300" dirty="0"/>
          </a:p>
        </p:txBody>
      </p:sp>
      <p:sp>
        <p:nvSpPr>
          <p:cNvPr id="31" name="Text 29"/>
          <p:cNvSpPr/>
          <p:nvPr/>
        </p:nvSpPr>
        <p:spPr>
          <a:xfrm>
            <a:off x="812800" y="4771504"/>
            <a:ext cx="10883392"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606A"/>
                </a:solidFill>
                <a:latin typeface="IBM Plex Sans" pitchFamily="34" charset="0"/>
                <a:ea typeface="IBM Plex Sans" pitchFamily="34" charset="-122"/>
                <a:cs typeface="IBM Plex Sans" pitchFamily="34" charset="-120"/>
              </a:rPr>
              <a:t>How:</a:t>
            </a:r>
            <a:r>
              <a:rPr lang="en-US" sz="1200" dirty="0">
                <a:solidFill>
                  <a:srgbClr val="55606A"/>
                </a:solidFill>
                <a:latin typeface="IBM Plex Sans" pitchFamily="34" charset="0"/>
                <a:ea typeface="IBM Plex Sans" pitchFamily="34" charset="-122"/>
                <a:cs typeface="IBM Plex Sans" pitchFamily="34" charset="-120"/>
              </a:rPr>
              <a:t> diagnostic items contain one planted error with a known answer; detection = share of ratings that flag it.</a:t>
            </a:r>
            <a:endParaRPr lang="en-US" sz="1200" dirty="0"/>
          </a:p>
        </p:txBody>
      </p:sp>
      <p:sp>
        <p:nvSpPr>
          <p:cNvPr id="32" name="Text 30"/>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A"/>
                </a:solidFill>
                <a:latin typeface="IBM Plex Sans" pitchFamily="34" charset="0"/>
                <a:ea typeface="IBM Plex Sans" pitchFamily="34" charset="-122"/>
                <a:cs typeface="IBM Plex Sans" pitchFamily="34" charset="-120"/>
              </a:rPr>
              <a:t>FoodJudgeBench · University of Oulu</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A"/>
                </a:solidFill>
                <a:latin typeface="IBM Plex Sans" pitchFamily="34" charset="0"/>
                <a:ea typeface="IBM Plex Sans" pitchFamily="34" charset="-122"/>
                <a:cs typeface="IBM Plex Sans"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B2432A"/>
                </a:solidFill>
                <a:effectLst/>
                <a:uLnTx/>
                <a:uFillTx/>
                <a:latin typeface="IBM Plex Sans" pitchFamily="34" charset="0"/>
                <a:ea typeface="IBM Plex Sans" pitchFamily="34" charset="-122"/>
                <a:cs typeface="IBM Plex Sans" pitchFamily="34" charset="-120"/>
              </a:rPr>
              <a:t>SCOPE OF THE SPECIFICATION</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3" name="Text 1"/>
          <p:cNvSpPr>
            <a:spLocks noGrp="1"/>
          </p:cNvSpPr>
          <p:nvPr>
            <p:ph type="title"/>
          </p:nvPr>
        </p:nvSpPr>
        <p:spPr>
          <a:xfrm>
            <a:off x="812800" y="1196318"/>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7242B"/>
                </a:solidFill>
                <a:latin typeface="EB Garamond" pitchFamily="18" charset="0"/>
                <a:ea typeface="EB Garamond" pitchFamily="18" charset="-122"/>
                <a:cs typeface="EB Garamond" pitchFamily="18" charset="-120"/>
              </a:rPr>
              <a:t>What is delivered, what is partial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565209497"/>
              </p:ext>
            </p:extLst>
          </p:nvPr>
        </p:nvGraphicFramePr>
        <p:xfrm>
          <a:off x="825500" y="1864320"/>
          <a:ext cx="10553700" cy="3593040"/>
        </p:xfrm>
        <a:graphic>
          <a:graphicData uri="http://schemas.openxmlformats.org/drawingml/2006/table">
            <a:tbl>
              <a:tblPr/>
              <a:tblGrid>
                <a:gridCol w="3799332">
                  <a:extLst>
                    <a:ext uri="{9D8B030D-6E8A-4147-A177-3AD203B41FA5}">
                      <a16:colId xmlns:a16="http://schemas.microsoft.com/office/drawing/2014/main" val="20000"/>
                    </a:ext>
                  </a:extLst>
                </a:gridCol>
                <a:gridCol w="1477518">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17242B"/>
                          </a:solidFill>
                          <a:latin typeface="IBM Plex Sans" pitchFamily="34" charset="0"/>
                          <a:ea typeface="IBM Plex Sans" pitchFamily="34" charset="-122"/>
                          <a:cs typeface="IBM Plex Sans" pitchFamily="34" charset="-120"/>
                        </a:rPr>
                        <a:t>Specification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1820"/>
                        </a:lnSpc>
                        <a:buNone/>
                      </a:pPr>
                      <a:r>
                        <a:rPr lang="en-US" sz="1300" b="1" dirty="0">
                          <a:solidFill>
                            <a:srgbClr val="17242B"/>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1820"/>
                        </a:lnSpc>
                        <a:buNone/>
                      </a:pPr>
                      <a:r>
                        <a:rPr lang="en-US" sz="1300" b="1" dirty="0">
                          <a:solidFill>
                            <a:srgbClr val="17242B"/>
                          </a:solidFill>
                          <a:latin typeface="IBM Plex Sans" pitchFamily="34" charset="0"/>
                          <a:ea typeface="IBM Plex Sans" pitchFamily="34" charset="-122"/>
                          <a:cs typeface="IBM Plex Sans" pitchFamily="34" charset="-120"/>
                        </a:rPr>
                        <a:t>Evidence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Data audit and catalog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Rating-6 fix, 6,522-recipe catalog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Two profile collections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30 inferred + 30 stated, with evidence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Recommendation pool</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marR="0" lvl="0" indent="0" algn="l" defTabSz="914400" rtl="0" eaLnBrk="1" fontAlgn="auto" latinLnBrk="0" hangingPunct="1">
                        <a:lnSpc>
                          <a:spcPts val="1820"/>
                        </a:lnSpc>
                        <a:spcBef>
                          <a:spcPts val="0"/>
                        </a:spcBef>
                        <a:spcAft>
                          <a:spcPts val="0"/>
                        </a:spcAft>
                        <a:buClrTx/>
                        <a:buSzTx/>
                        <a:buFontTx/>
                        <a:buNone/>
                        <a:tabLst/>
                        <a:defRPr/>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Content-based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Explanation techniques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marR="0" lvl="0" indent="0" algn="l" defTabSz="914400" rtl="0" eaLnBrk="1" fontAlgn="auto" latinLnBrk="0" hangingPunct="1">
                        <a:lnSpc>
                          <a:spcPts val="1820"/>
                        </a:lnSpc>
                        <a:spcBef>
                          <a:spcPts val="0"/>
                        </a:spcBef>
                        <a:spcAft>
                          <a:spcPts val="0"/>
                        </a:spcAft>
                        <a:buClrTx/>
                        <a:buSzTx/>
                        <a:buFontTx/>
                        <a:buNone/>
                        <a:tabLst/>
                        <a:defRPr/>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fi-FI" sz="1300" dirty="0">
                          <a:solidFill>
                            <a:srgbClr val="17242B"/>
                          </a:solidFill>
                          <a:latin typeface="IBM Plex Sans" pitchFamily="34" charset="0"/>
                          <a:ea typeface="IBM Plex Sans" charset="0"/>
                          <a:cs typeface="IBM Plex Sans" charset="0"/>
                        </a:rPr>
                        <a:t>A</a:t>
                      </a:r>
                      <a:r>
                        <a:rPr lang="en-US" sz="1300" dirty="0" err="1">
                          <a:solidFill>
                            <a:srgbClr val="17242B"/>
                          </a:solidFill>
                          <a:latin typeface="IBM Plex Sans" pitchFamily="34" charset="0"/>
                          <a:ea typeface="IBM Plex Sans" charset="0"/>
                          <a:cs typeface="IBM Plex Sans" charset="0"/>
                        </a:rPr>
                        <a:t>ll</a:t>
                      </a:r>
                      <a:r>
                        <a:rPr lang="en-US" sz="1300" dirty="0">
                          <a:solidFill>
                            <a:srgbClr val="17242B"/>
                          </a:solidFill>
                          <a:latin typeface="IBM Plex Sans" pitchFamily="34" charset="0"/>
                          <a:ea typeface="IBM Plex Sans" charset="0"/>
                          <a:cs typeface="IBM Plex Sans" charset="0"/>
                        </a:rPr>
                        <a:t> 4 Techniques 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Cases, diagnostics, pairs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480 + 15 + 15, blinded, hidden key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Rubric and annotation forms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fi-FI" sz="1300" dirty="0">
                          <a:solidFill>
                            <a:srgbClr val="17242B"/>
                          </a:solidFill>
                          <a:latin typeface="IBM Plex Sans" pitchFamily="34" charset="0"/>
                          <a:ea typeface="IBM Plex Sans" charset="0"/>
                          <a:cs typeface="IBM Plex Sans" charset="0"/>
                        </a:rPr>
                        <a:t>D</a:t>
                      </a:r>
                      <a:r>
                        <a:rPr lang="en-US" sz="1300" dirty="0" err="1">
                          <a:solidFill>
                            <a:srgbClr val="17242B"/>
                          </a:solidFill>
                          <a:latin typeface="IBM Plex Sans" pitchFamily="34" charset="0"/>
                          <a:ea typeface="IBM Plex Sans" charset="0"/>
                          <a:cs typeface="IBM Plex Sans" charset="0"/>
                        </a:rPr>
                        <a:t>efined</a:t>
                      </a:r>
                      <a:r>
                        <a:rPr lang="en-US" sz="1300" dirty="0">
                          <a:solidFill>
                            <a:srgbClr val="17242B"/>
                          </a:solidFill>
                          <a:latin typeface="IBM Plex Sans" pitchFamily="34" charset="0"/>
                          <a:ea typeface="IBM Plex Sans" charset="0"/>
                          <a:cs typeface="IBM Plex Sans" charset="0"/>
                        </a:rPr>
                        <a:t> all rubrics and annotation forms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Human annotation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8A5A00"/>
                          </a:solidFill>
                          <a:latin typeface="IBM Plex Sans" pitchFamily="34" charset="0"/>
                          <a:ea typeface="IBM Plex Sans" pitchFamily="34" charset="-122"/>
                          <a:cs typeface="IBM Plex Sans" pitchFamily="34" charset="-120"/>
                        </a:rPr>
                        <a:t>Pilot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10 items × 3 annotators; main round later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7"/>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LLM judges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marR="0" lvl="0" indent="0" algn="l" defTabSz="914400" rtl="0" eaLnBrk="1" fontAlgn="auto" latinLnBrk="0" hangingPunct="1">
                        <a:lnSpc>
                          <a:spcPts val="1820"/>
                        </a:lnSpc>
                        <a:spcBef>
                          <a:spcPts val="0"/>
                        </a:spcBef>
                        <a:spcAft>
                          <a:spcPts val="0"/>
                        </a:spcAft>
                        <a:buClrTx/>
                        <a:buSzTx/>
                        <a:buFontTx/>
                        <a:buNone/>
                        <a:tabLst/>
                        <a:defRPr/>
                      </a:pPr>
                      <a:r>
                        <a:rPr lang="en-US" sz="1300" dirty="0">
                          <a:solidFill>
                            <a:srgbClr val="12474D"/>
                          </a:solidFill>
                          <a:latin typeface="IBM Plex Sans" pitchFamily="34" charset="0"/>
                          <a:ea typeface="IBM Plex Sans" pitchFamily="34" charset="-122"/>
                          <a:cs typeface="IBM Plex Sans" pitchFamily="34" charset="-120"/>
                        </a:rPr>
                        <a:t>Done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3 families × 3 setups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8"/>
                  </a:ext>
                </a:extLst>
              </a:tr>
              <a:tr h="359304">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Analysis RQ1 to RQ4, release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8A5A00"/>
                          </a:solidFill>
                          <a:latin typeface="IBM Plex Sans" pitchFamily="34" charset="0"/>
                          <a:ea typeface="IBM Plex Sans" pitchFamily="34" charset="-122"/>
                          <a:cs typeface="IBM Plex Sans" pitchFamily="34" charset="-120"/>
                        </a:rPr>
                        <a:t>Mostly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7242B"/>
                          </a:solidFill>
                          <a:latin typeface="IBM Plex Sans" pitchFamily="34" charset="0"/>
                          <a:ea typeface="IBM Plex Sans" pitchFamily="34" charset="-122"/>
                          <a:cs typeface="IBM Plex Sans" pitchFamily="34" charset="-120"/>
                        </a:rPr>
                        <a:t>Pilot results; release v0.1 published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Full step-by-step comparison with the project plan is in the report, Section V</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19 / </a:t>
            </a:r>
            <a:r>
              <a:rPr lang="en-US" sz="1200" dirty="0">
                <a:solidFill>
                  <a:srgbClr val="55606A"/>
                </a:solidFill>
                <a:latin typeface="IBM Plex Sans" pitchFamily="34" charset="0"/>
                <a:ea typeface="IBM Plex Sans" pitchFamily="34" charset="-122"/>
                <a:cs typeface="IBM Plex Sans" pitchFamily="34" charset="-120"/>
              </a:rPr>
              <a:t>20</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B2432A"/>
                </a:solidFill>
                <a:effectLst/>
                <a:uLnTx/>
                <a:uFillTx/>
                <a:latin typeface="IBM Plex Sans" pitchFamily="34" charset="0"/>
                <a:ea typeface="IBM Plex Sans" pitchFamily="34" charset="-122"/>
                <a:cs typeface="IBM Plex Sans" pitchFamily="34" charset="-120"/>
              </a:rPr>
              <a:t>ROADMAP TO THE OCTOBER 31 DEADLINE</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3" name="Text 1"/>
          <p:cNvSpPr>
            <a:spLocks noGrp="1"/>
          </p:cNvSpPr>
          <p:nvPr>
            <p:ph type="title"/>
          </p:nvPr>
        </p:nvSpPr>
        <p:spPr>
          <a:xfrm>
            <a:off x="812800" y="1196318"/>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7242B"/>
                </a:solidFill>
                <a:latin typeface="EB Garamond" pitchFamily="18" charset="0"/>
                <a:ea typeface="EB Garamond" pitchFamily="18" charset="-122"/>
                <a:cs typeface="EB Garamond" pitchFamily="18" charset="-120"/>
              </a:rPr>
              <a:t>Calendar of remaining work</a:t>
            </a:r>
            <a:endParaRPr lang="en-US" sz="3600" dirty="0"/>
          </a:p>
        </p:txBody>
      </p:sp>
      <p:sp>
        <p:nvSpPr>
          <p:cNvPr id="4" name="Text 2"/>
          <p:cNvSpPr/>
          <p:nvPr/>
        </p:nvSpPr>
        <p:spPr>
          <a:xfrm>
            <a:off x="812800" y="1851620"/>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Task</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5" name="Text 3"/>
          <p:cNvSpPr/>
          <p:nvPr/>
        </p:nvSpPr>
        <p:spPr>
          <a:xfrm>
            <a:off x="51435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Sun 25</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6" name="Text 4"/>
          <p:cNvSpPr/>
          <p:nvPr/>
        </p:nvSpPr>
        <p:spPr>
          <a:xfrm>
            <a:off x="59944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Mon 26</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7" name="Text 5"/>
          <p:cNvSpPr/>
          <p:nvPr/>
        </p:nvSpPr>
        <p:spPr>
          <a:xfrm>
            <a:off x="68453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Tue 27</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8" name="Text 6"/>
          <p:cNvSpPr/>
          <p:nvPr/>
        </p:nvSpPr>
        <p:spPr>
          <a:xfrm>
            <a:off x="76962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Wed 28</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9" name="Text 7"/>
          <p:cNvSpPr/>
          <p:nvPr/>
        </p:nvSpPr>
        <p:spPr>
          <a:xfrm>
            <a:off x="85471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Thu 29</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0" name="Text 8"/>
          <p:cNvSpPr/>
          <p:nvPr/>
        </p:nvSpPr>
        <p:spPr>
          <a:xfrm>
            <a:off x="93980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Fri 30</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1" name="Text 9"/>
          <p:cNvSpPr/>
          <p:nvPr/>
        </p:nvSpPr>
        <p:spPr>
          <a:xfrm>
            <a:off x="10248900" y="1851620"/>
            <a:ext cx="863600" cy="256514"/>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2432A"/>
                </a:solidFill>
                <a:effectLst/>
                <a:uLnTx/>
                <a:uFillTx/>
                <a:latin typeface="IBM Plex Sans" pitchFamily="34" charset="0"/>
                <a:ea typeface="IBM Plex Sans" pitchFamily="34" charset="-122"/>
                <a:cs typeface="IBM Plex Sans" pitchFamily="34" charset="-120"/>
              </a:rPr>
              <a:t>Sat 31</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2" name="Text 10"/>
          <p:cNvSpPr/>
          <p:nvPr/>
        </p:nvSpPr>
        <p:spPr>
          <a:xfrm>
            <a:off x="812800" y="21576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Re-run notebooks 9–10 with no-facts setup</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13" name="Shape 11"/>
          <p:cNvSpPr/>
          <p:nvPr/>
        </p:nvSpPr>
        <p:spPr>
          <a:xfrm>
            <a:off x="51689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4" name="Shape 12"/>
          <p:cNvSpPr/>
          <p:nvPr/>
        </p:nvSpPr>
        <p:spPr>
          <a:xfrm>
            <a:off x="6019800" y="21462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5" name="Shape 13"/>
          <p:cNvSpPr/>
          <p:nvPr/>
        </p:nvSpPr>
        <p:spPr>
          <a:xfrm>
            <a:off x="68707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6" name="Shape 14"/>
          <p:cNvSpPr/>
          <p:nvPr/>
        </p:nvSpPr>
        <p:spPr>
          <a:xfrm>
            <a:off x="77216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7" name="Shape 15"/>
          <p:cNvSpPr/>
          <p:nvPr/>
        </p:nvSpPr>
        <p:spPr>
          <a:xfrm>
            <a:off x="85725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8" name="Shape 16"/>
          <p:cNvSpPr/>
          <p:nvPr/>
        </p:nvSpPr>
        <p:spPr>
          <a:xfrm>
            <a:off x="94234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19" name="Shape 17"/>
          <p:cNvSpPr/>
          <p:nvPr/>
        </p:nvSpPr>
        <p:spPr>
          <a:xfrm>
            <a:off x="10274300" y="214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0" name="Text 18"/>
          <p:cNvSpPr/>
          <p:nvPr/>
        </p:nvSpPr>
        <p:spPr>
          <a:xfrm>
            <a:off x="812800" y="24751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Profile-level bootstrap, repeated runs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21" name="Shape 19"/>
          <p:cNvSpPr/>
          <p:nvPr/>
        </p:nvSpPr>
        <p:spPr>
          <a:xfrm>
            <a:off x="5168900" y="246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2" name="Shape 20"/>
          <p:cNvSpPr/>
          <p:nvPr/>
        </p:nvSpPr>
        <p:spPr>
          <a:xfrm>
            <a:off x="6019800" y="2463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3" name="Shape 21"/>
          <p:cNvSpPr/>
          <p:nvPr/>
        </p:nvSpPr>
        <p:spPr>
          <a:xfrm>
            <a:off x="6870700" y="2463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4" name="Shape 22"/>
          <p:cNvSpPr/>
          <p:nvPr/>
        </p:nvSpPr>
        <p:spPr>
          <a:xfrm>
            <a:off x="7721600" y="246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5" name="Shape 23"/>
          <p:cNvSpPr/>
          <p:nvPr/>
        </p:nvSpPr>
        <p:spPr>
          <a:xfrm>
            <a:off x="8572500" y="246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6" name="Shape 24"/>
          <p:cNvSpPr/>
          <p:nvPr/>
        </p:nvSpPr>
        <p:spPr>
          <a:xfrm>
            <a:off x="9423400" y="246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7" name="Shape 25"/>
          <p:cNvSpPr/>
          <p:nvPr/>
        </p:nvSpPr>
        <p:spPr>
          <a:xfrm>
            <a:off x="10274300" y="246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28" name="Text 26"/>
          <p:cNvSpPr/>
          <p:nvPr/>
        </p:nvSpPr>
        <p:spPr>
          <a:xfrm>
            <a:off x="812800" y="27926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Presentation: final slides, rehearsal</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29" name="Shape 27"/>
          <p:cNvSpPr/>
          <p:nvPr/>
        </p:nvSpPr>
        <p:spPr>
          <a:xfrm>
            <a:off x="5168900" y="27812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0" name="Shape 28"/>
          <p:cNvSpPr/>
          <p:nvPr/>
        </p:nvSpPr>
        <p:spPr>
          <a:xfrm>
            <a:off x="6019800" y="27812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1" name="Shape 29"/>
          <p:cNvSpPr/>
          <p:nvPr/>
        </p:nvSpPr>
        <p:spPr>
          <a:xfrm>
            <a:off x="6870700" y="278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2" name="Shape 30"/>
          <p:cNvSpPr/>
          <p:nvPr/>
        </p:nvSpPr>
        <p:spPr>
          <a:xfrm>
            <a:off x="7721600" y="278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3" name="Shape 31"/>
          <p:cNvSpPr/>
          <p:nvPr/>
        </p:nvSpPr>
        <p:spPr>
          <a:xfrm>
            <a:off x="8572500" y="278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4" name="Shape 32"/>
          <p:cNvSpPr/>
          <p:nvPr/>
        </p:nvSpPr>
        <p:spPr>
          <a:xfrm>
            <a:off x="9423400" y="278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5" name="Shape 33"/>
          <p:cNvSpPr/>
          <p:nvPr/>
        </p:nvSpPr>
        <p:spPr>
          <a:xfrm>
            <a:off x="10274300" y="278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6" name="Text 34"/>
          <p:cNvSpPr/>
          <p:nvPr/>
        </p:nvSpPr>
        <p:spPr>
          <a:xfrm>
            <a:off x="812800" y="31101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Report: final tables, figures, discussion</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37" name="Shape 35"/>
          <p:cNvSpPr/>
          <p:nvPr/>
        </p:nvSpPr>
        <p:spPr>
          <a:xfrm>
            <a:off x="5168900" y="3098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8" name="Shape 36"/>
          <p:cNvSpPr/>
          <p:nvPr/>
        </p:nvSpPr>
        <p:spPr>
          <a:xfrm>
            <a:off x="6019800" y="3098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39" name="Shape 37"/>
          <p:cNvSpPr/>
          <p:nvPr/>
        </p:nvSpPr>
        <p:spPr>
          <a:xfrm>
            <a:off x="6870700" y="3098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0" name="Shape 38"/>
          <p:cNvSpPr/>
          <p:nvPr/>
        </p:nvSpPr>
        <p:spPr>
          <a:xfrm>
            <a:off x="7721600" y="3098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1" name="Shape 39"/>
          <p:cNvSpPr/>
          <p:nvPr/>
        </p:nvSpPr>
        <p:spPr>
          <a:xfrm>
            <a:off x="8572500" y="3098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2" name="Shape 40"/>
          <p:cNvSpPr/>
          <p:nvPr/>
        </p:nvSpPr>
        <p:spPr>
          <a:xfrm>
            <a:off x="9423400" y="3098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3" name="Shape 41"/>
          <p:cNvSpPr/>
          <p:nvPr/>
        </p:nvSpPr>
        <p:spPr>
          <a:xfrm>
            <a:off x="10274300" y="3098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4" name="Text 42"/>
          <p:cNvSpPr/>
          <p:nvPr/>
        </p:nvSpPr>
        <p:spPr>
          <a:xfrm>
            <a:off x="812800" y="34276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GitHub cleanup: README, requirements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45" name="Shape 43"/>
          <p:cNvSpPr/>
          <p:nvPr/>
        </p:nvSpPr>
        <p:spPr>
          <a:xfrm>
            <a:off x="5168900" y="341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6" name="Shape 44"/>
          <p:cNvSpPr/>
          <p:nvPr/>
        </p:nvSpPr>
        <p:spPr>
          <a:xfrm>
            <a:off x="6019800" y="341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7" name="Shape 45"/>
          <p:cNvSpPr/>
          <p:nvPr/>
        </p:nvSpPr>
        <p:spPr>
          <a:xfrm>
            <a:off x="6870700" y="341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8" name="Shape 46"/>
          <p:cNvSpPr/>
          <p:nvPr/>
        </p:nvSpPr>
        <p:spPr>
          <a:xfrm>
            <a:off x="7721600" y="34162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49" name="Shape 47"/>
          <p:cNvSpPr/>
          <p:nvPr/>
        </p:nvSpPr>
        <p:spPr>
          <a:xfrm>
            <a:off x="8572500" y="34162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0" name="Shape 48"/>
          <p:cNvSpPr/>
          <p:nvPr/>
        </p:nvSpPr>
        <p:spPr>
          <a:xfrm>
            <a:off x="9423400" y="341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1" name="Shape 49"/>
          <p:cNvSpPr/>
          <p:nvPr/>
        </p:nvSpPr>
        <p:spPr>
          <a:xfrm>
            <a:off x="10274300" y="3416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2" name="Text 50"/>
          <p:cNvSpPr/>
          <p:nvPr/>
        </p:nvSpPr>
        <p:spPr>
          <a:xfrm>
            <a:off x="812800" y="37451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Proofread report, Overleaf IEEE check</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53" name="Shape 51"/>
          <p:cNvSpPr/>
          <p:nvPr/>
        </p:nvSpPr>
        <p:spPr>
          <a:xfrm>
            <a:off x="5168900" y="373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4" name="Shape 52"/>
          <p:cNvSpPr/>
          <p:nvPr/>
        </p:nvSpPr>
        <p:spPr>
          <a:xfrm>
            <a:off x="6019800" y="373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5" name="Shape 53"/>
          <p:cNvSpPr/>
          <p:nvPr/>
        </p:nvSpPr>
        <p:spPr>
          <a:xfrm>
            <a:off x="6870700" y="373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6" name="Shape 54"/>
          <p:cNvSpPr/>
          <p:nvPr/>
        </p:nvSpPr>
        <p:spPr>
          <a:xfrm>
            <a:off x="7721600" y="373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7" name="Shape 55"/>
          <p:cNvSpPr/>
          <p:nvPr/>
        </p:nvSpPr>
        <p:spPr>
          <a:xfrm>
            <a:off x="8572500" y="3733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8" name="Shape 56"/>
          <p:cNvSpPr/>
          <p:nvPr/>
        </p:nvSpPr>
        <p:spPr>
          <a:xfrm>
            <a:off x="9423400" y="3733738"/>
            <a:ext cx="812800" cy="254000"/>
          </a:xfrm>
          <a:prstGeom prst="roundRect">
            <a:avLst>
              <a:gd name="adj" fmla="val 15000"/>
            </a:avLst>
          </a:prstGeom>
          <a:solidFill>
            <a:srgbClr val="1F6F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59" name="Shape 57"/>
          <p:cNvSpPr/>
          <p:nvPr/>
        </p:nvSpPr>
        <p:spPr>
          <a:xfrm>
            <a:off x="10274300" y="37337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0" name="Text 58"/>
          <p:cNvSpPr/>
          <p:nvPr/>
        </p:nvSpPr>
        <p:spPr>
          <a:xfrm>
            <a:off x="812800" y="4062679"/>
            <a:ext cx="4447540"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Submit report, slides, repository</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61" name="Shape 59"/>
          <p:cNvSpPr/>
          <p:nvPr/>
        </p:nvSpPr>
        <p:spPr>
          <a:xfrm>
            <a:off x="51689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2" name="Shape 60"/>
          <p:cNvSpPr/>
          <p:nvPr/>
        </p:nvSpPr>
        <p:spPr>
          <a:xfrm>
            <a:off x="60198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3" name="Shape 61"/>
          <p:cNvSpPr/>
          <p:nvPr/>
        </p:nvSpPr>
        <p:spPr>
          <a:xfrm>
            <a:off x="68707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4" name="Shape 62"/>
          <p:cNvSpPr/>
          <p:nvPr/>
        </p:nvSpPr>
        <p:spPr>
          <a:xfrm>
            <a:off x="77216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5" name="Shape 63"/>
          <p:cNvSpPr/>
          <p:nvPr/>
        </p:nvSpPr>
        <p:spPr>
          <a:xfrm>
            <a:off x="85725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6" name="Shape 64"/>
          <p:cNvSpPr/>
          <p:nvPr/>
        </p:nvSpPr>
        <p:spPr>
          <a:xfrm>
            <a:off x="9423400" y="4051238"/>
            <a:ext cx="812800" cy="254000"/>
          </a:xfrm>
          <a:prstGeom prst="roundRect">
            <a:avLst>
              <a:gd name="adj" fmla="val 15000"/>
            </a:avLst>
          </a:prstGeom>
          <a:solidFill>
            <a:srgbClr val="DDD6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7242B"/>
              </a:solidFill>
              <a:effectLst/>
              <a:uLnTx/>
              <a:uFillTx/>
              <a:latin typeface="IBM Plex Sans"/>
              <a:ea typeface="+mn-ea"/>
              <a:cs typeface="+mn-cs"/>
            </a:endParaRPr>
          </a:p>
        </p:txBody>
      </p:sp>
      <p:sp>
        <p:nvSpPr>
          <p:cNvPr id="67" name="Text 65"/>
          <p:cNvSpPr/>
          <p:nvPr/>
        </p:nvSpPr>
        <p:spPr>
          <a:xfrm>
            <a:off x="10274300" y="4051238"/>
            <a:ext cx="812800" cy="254000"/>
          </a:xfrm>
          <a:prstGeom prst="roundRect">
            <a:avLst>
              <a:gd name="adj" fmla="val 15000"/>
            </a:avLst>
          </a:prstGeom>
          <a:solidFill>
            <a:srgbClr val="B2432A"/>
          </a:solidFill>
          <a:ln/>
        </p:spPr>
        <p:txBody>
          <a:bodyPr wrap="squar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6F3EC"/>
                </a:solidFill>
                <a:effectLst/>
                <a:uLnTx/>
                <a:uFillTx/>
                <a:latin typeface="IBM Plex Sans" pitchFamily="34" charset="0"/>
                <a:ea typeface="IBM Plex Sans" pitchFamily="34" charset="-122"/>
                <a:cs typeface="IBM Plex Sans" pitchFamily="34" charset="-120"/>
              </a:rPr>
              <a:t>Due</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68" name="Text 66"/>
          <p:cNvSpPr/>
          <p:nvPr/>
        </p:nvSpPr>
        <p:spPr>
          <a:xfrm>
            <a:off x="812800" y="4457638"/>
            <a:ext cx="10464800" cy="47109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755"/>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After the deadline (future work):</a:t>
            </a:r>
            <a:r>
              <a:rPr kumimoji="0" lang="en-US" sz="1300" b="0" i="0" u="none" strike="noStrike" kern="1200" cap="none" spc="0" normalizeH="0" baseline="0" noProof="0" dirty="0">
                <a:ln>
                  <a:noFill/>
                </a:ln>
                <a:solidFill>
                  <a:srgbClr val="17242B"/>
                </a:solidFill>
                <a:effectLst/>
                <a:uLnTx/>
                <a:uFillTx/>
                <a:latin typeface="IBM Plex Sans" pitchFamily="34" charset="0"/>
                <a:ea typeface="IBM Plex Sans" pitchFamily="34" charset="-122"/>
                <a:cs typeface="IBM Plex Sans" pitchFamily="34" charset="-120"/>
              </a:rPr>
              <a:t> 510-item annotation round with three annotators.</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69" name="Text 67"/>
          <p:cNvSpPr/>
          <p:nvPr/>
        </p:nvSpPr>
        <p:spPr>
          <a:xfrm>
            <a:off x="812800" y="6238280"/>
            <a:ext cx="91567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The presentation slot itself is set by the course schedule</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70" name="Text 68"/>
          <p:cNvSpPr/>
          <p:nvPr/>
        </p:nvSpPr>
        <p:spPr>
          <a:xfrm>
            <a:off x="10312400" y="6238280"/>
            <a:ext cx="10668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lang="en-US" sz="1200" dirty="0">
                <a:solidFill>
                  <a:srgbClr val="55606A"/>
                </a:solidFill>
                <a:latin typeface="IBM Plex Sans" pitchFamily="34" charset="0"/>
                <a:ea typeface="IBM Plex Sans" pitchFamily="34" charset="-122"/>
                <a:cs typeface="IBM Plex Sans" pitchFamily="34" charset="-120"/>
              </a:rPr>
              <a:t>20</a:t>
            </a:r>
            <a:r>
              <a:rPr kumimoji="0" lang="en-US" sz="1200" b="0" i="0" u="none" strike="noStrike" kern="1200" cap="none" spc="0" normalizeH="0" baseline="0" noProof="0" dirty="0">
                <a:ln>
                  <a:noFill/>
                </a:ln>
                <a:solidFill>
                  <a:srgbClr val="55606A"/>
                </a:solidFill>
                <a:effectLst/>
                <a:uLnTx/>
                <a:uFillTx/>
                <a:latin typeface="IBM Plex Sans" pitchFamily="34" charset="0"/>
                <a:ea typeface="IBM Plex Sans" pitchFamily="34" charset="-122"/>
                <a:cs typeface="IBM Plex Sans" pitchFamily="34" charset="-120"/>
              </a:rPr>
              <a:t> / </a:t>
            </a:r>
            <a:r>
              <a:rPr lang="en-US" sz="1200" dirty="0">
                <a:solidFill>
                  <a:srgbClr val="55606A"/>
                </a:solidFill>
                <a:latin typeface="IBM Plex Sans" pitchFamily="34" charset="0"/>
                <a:ea typeface="IBM Plex Sans" pitchFamily="34" charset="-122"/>
                <a:cs typeface="IBM Plex Sans" pitchFamily="34" charset="-120"/>
              </a:rPr>
              <a:t>20</a:t>
            </a:r>
            <a:endParaRPr kumimoji="0" lang="en-US" sz="1200" b="0" i="0" u="none" strike="noStrike" kern="1200" cap="none" spc="0" normalizeH="0" baseline="0" noProof="0" dirty="0">
              <a:ln>
                <a:noFill/>
              </a:ln>
              <a:solidFill>
                <a:srgbClr val="17242B"/>
              </a:solidFill>
              <a:effectLst/>
              <a:uLnTx/>
              <a:uFillTx/>
              <a:latin typeface="IBM Plex Sans"/>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24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E8845F"/>
                </a:solidFill>
                <a:effectLst/>
                <a:uLnTx/>
                <a:uFillTx/>
                <a:latin typeface="IBM Plex Sans" pitchFamily="34" charset="0"/>
                <a:ea typeface="IBM Plex Sans" pitchFamily="34" charset="-122"/>
                <a:cs typeface="IBM Plex Sans" pitchFamily="34" charset="-120"/>
              </a:rPr>
              <a:t>CONCLUSION</a:t>
            </a:r>
            <a:endParaRPr kumimoji="0" lang="en-US" sz="13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3" name="Text 1"/>
          <p:cNvSpPr/>
          <p:nvPr/>
        </p:nvSpPr>
        <p:spPr>
          <a:xfrm>
            <a:off x="812800" y="1766689"/>
            <a:ext cx="9810750" cy="15341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6F3EC"/>
                </a:solidFill>
                <a:effectLst/>
                <a:uLnTx/>
                <a:uFillTx/>
                <a:latin typeface="EB Garamond" pitchFamily="18" charset="0"/>
                <a:ea typeface="EB Garamond" pitchFamily="18" charset="-122"/>
                <a:cs typeface="EB Garamond" pitchFamily="18" charset="-120"/>
              </a:rPr>
              <a:t>A working, reproducible benchmark, with first evidence that fact-aware judges can approach human agreement</a:t>
            </a:r>
            <a:endParaRPr kumimoji="0" lang="en-US" sz="36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4" name="Text 2"/>
          <p:cNvSpPr/>
          <p:nvPr/>
        </p:nvSpPr>
        <p:spPr>
          <a:xfrm>
            <a:off x="870457" y="3504009"/>
            <a:ext cx="9934391" cy="878681"/>
          </a:xfrm>
          <a:prstGeom prst="rect">
            <a:avLst/>
          </a:prstGeom>
          <a:noFill/>
          <a:ln/>
        </p:spPr>
        <p:txBody>
          <a:bodyPr wrap="square" lIns="0" tIns="0" rIns="0" bIns="0" rtlCol="0" anchor="t">
            <a:normAutofit/>
          </a:bodyPr>
          <a:lstStyle/>
          <a:p>
            <a:pPr marL="196342" marR="0" lvl="0" indent="-196342" algn="l" defTabSz="914400" rtl="0" eaLnBrk="1" fontAlgn="auto" latinLnBrk="0" hangingPunct="1">
              <a:lnSpc>
                <a:spcPts val="224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D8D3C6"/>
                </a:solidFill>
                <a:effectLst/>
                <a:uLnTx/>
                <a:uFillTx/>
                <a:latin typeface="IBM Plex Sans" pitchFamily="34" charset="0"/>
                <a:ea typeface="IBM Plex Sans" pitchFamily="34" charset="-122"/>
                <a:cs typeface="IBM Plex Sans" pitchFamily="34" charset="-120"/>
              </a:rPr>
              <a:t>Giving judges the checked facts is the design choice </a:t>
            </a:r>
            <a:r>
              <a:rPr lang="en-US" sz="1600" dirty="0">
                <a:solidFill>
                  <a:srgbClr val="D8D3C6"/>
                </a:solidFill>
                <a:latin typeface="IBM Plex Sans" pitchFamily="34" charset="0"/>
                <a:ea typeface="IBM Plex Sans" pitchFamily="34" charset="-122"/>
                <a:cs typeface="IBM Plex Sans" pitchFamily="34" charset="-120"/>
              </a:rPr>
              <a:t>which</a:t>
            </a:r>
            <a:r>
              <a:rPr kumimoji="0" lang="en-US" sz="1600" b="0" i="0" u="none" strike="noStrike" kern="1200" cap="none" spc="0" normalizeH="0" baseline="0" noProof="0" dirty="0">
                <a:ln>
                  <a:noFill/>
                </a:ln>
                <a:solidFill>
                  <a:srgbClr val="D8D3C6"/>
                </a:solidFill>
                <a:effectLst/>
                <a:uLnTx/>
                <a:uFillTx/>
                <a:latin typeface="IBM Plex Sans" pitchFamily="34" charset="0"/>
                <a:ea typeface="IBM Plex Sans" pitchFamily="34" charset="-122"/>
                <a:cs typeface="IBM Plex Sans" pitchFamily="34" charset="-120"/>
              </a:rPr>
              <a:t> confirms </a:t>
            </a:r>
            <a:r>
              <a:rPr lang="en-US" sz="1600" dirty="0">
                <a:solidFill>
                  <a:srgbClr val="D8D3C6"/>
                </a:solidFill>
                <a:latin typeface="IBM Plex Sans" pitchFamily="34" charset="0"/>
                <a:ea typeface="IBM Plex Sans" pitchFamily="34" charset="-122"/>
                <a:cs typeface="IBM Plex Sans" pitchFamily="34" charset="-120"/>
              </a:rPr>
              <a:t>after</a:t>
            </a:r>
            <a:r>
              <a:rPr kumimoji="0" lang="en-US" sz="1600" b="0" i="0" u="none" strike="noStrike" kern="1200" cap="none" spc="0" normalizeH="0" baseline="0" noProof="0" dirty="0">
                <a:ln>
                  <a:noFill/>
                </a:ln>
                <a:solidFill>
                  <a:srgbClr val="D8D3C6"/>
                </a:solidFill>
                <a:effectLst/>
                <a:uLnTx/>
                <a:uFillTx/>
                <a:latin typeface="IBM Plex Sans" pitchFamily="34" charset="0"/>
                <a:ea typeface="IBM Plex Sans" pitchFamily="34" charset="-122"/>
                <a:cs typeface="IBM Plex Sans" pitchFamily="34" charset="-120"/>
              </a:rPr>
              <a:t> the no-facts re-run</a:t>
            </a:r>
            <a:endParaRPr kumimoji="0" lang="en-US" sz="1600" b="0" i="0" u="none" strike="noStrike" kern="1200" cap="none" spc="0" normalizeH="0" baseline="0" noProof="0" dirty="0">
              <a:ln>
                <a:noFill/>
              </a:ln>
              <a:solidFill>
                <a:srgbClr val="17242B"/>
              </a:solidFill>
              <a:effectLst/>
              <a:uLnTx/>
              <a:uFillTx/>
              <a:latin typeface="IBM Plex Sans"/>
              <a:ea typeface="+mn-ea"/>
              <a:cs typeface="+mn-cs"/>
            </a:endParaRPr>
          </a:p>
          <a:p>
            <a:pPr marL="196342" marR="0" lvl="0" indent="-196342" algn="l" defTabSz="914400" rtl="0" eaLnBrk="1" fontAlgn="auto" latinLnBrk="0" hangingPunct="1">
              <a:lnSpc>
                <a:spcPts val="224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D8D3C6"/>
                </a:solidFill>
                <a:effectLst/>
                <a:uLnTx/>
                <a:uFillTx/>
                <a:latin typeface="IBM Plex Sans" pitchFamily="34" charset="0"/>
                <a:ea typeface="IBM Plex Sans" pitchFamily="34" charset="-122"/>
                <a:cs typeface="IBM Plex Sans" pitchFamily="34" charset="-120"/>
              </a:rPr>
              <a:t>Pilot size limits every claim: we report intervals and say so</a:t>
            </a:r>
            <a:endParaRPr kumimoji="0" lang="en-US" sz="1600" b="0" i="0" u="none" strike="noStrike" kern="1200" cap="none" spc="0" normalizeH="0" baseline="0" noProof="0" dirty="0">
              <a:ln>
                <a:noFill/>
              </a:ln>
              <a:solidFill>
                <a:srgbClr val="17242B"/>
              </a:solidFill>
              <a:effectLst/>
              <a:uLnTx/>
              <a:uFillTx/>
              <a:latin typeface="IBM Plex Sans"/>
              <a:ea typeface="+mn-ea"/>
              <a:cs typeface="+mn-cs"/>
            </a:endParaRPr>
          </a:p>
          <a:p>
            <a:pPr marL="196342" marR="0" lvl="0" indent="-196342" algn="l" defTabSz="914400" rtl="0" eaLnBrk="1" fontAlgn="auto" latinLnBrk="0" hangingPunct="1">
              <a:lnSpc>
                <a:spcPts val="224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D8D3C6"/>
                </a:solidFill>
                <a:effectLst/>
                <a:uLnTx/>
                <a:uFillTx/>
                <a:latin typeface="IBM Plex Sans" pitchFamily="34" charset="0"/>
                <a:ea typeface="IBM Plex Sans" pitchFamily="34" charset="-122"/>
                <a:cs typeface="IBM Plex Sans" pitchFamily="34" charset="-120"/>
              </a:rPr>
              <a:t>Next: Add exemplified results and complete report by Oct 31; main annotation and more techniques later</a:t>
            </a:r>
            <a:endParaRPr kumimoji="0" lang="en-US" sz="1600" b="0" i="0" u="none" strike="noStrike" kern="1200" cap="none" spc="0" normalizeH="0" baseline="0" noProof="0" dirty="0">
              <a:ln>
                <a:noFill/>
              </a:ln>
              <a:solidFill>
                <a:srgbClr val="17242B"/>
              </a:solidFill>
              <a:effectLst/>
              <a:uLnTx/>
              <a:uFillTx/>
              <a:latin typeface="IBM Plex Sans"/>
              <a:ea typeface="+mn-ea"/>
              <a:cs typeface="+mn-cs"/>
            </a:endParaRPr>
          </a:p>
        </p:txBody>
      </p:sp>
      <p:sp>
        <p:nvSpPr>
          <p:cNvPr id="5" name="Text 3"/>
          <p:cNvSpPr/>
          <p:nvPr/>
        </p:nvSpPr>
        <p:spPr>
          <a:xfrm>
            <a:off x="812799" y="5610895"/>
            <a:ext cx="6782319" cy="256514"/>
          </a:xfrm>
          <a:prstGeom prst="rect">
            <a:avLst/>
          </a:prstGeom>
          <a:noFill/>
          <a:ln/>
        </p:spPr>
        <p:txBody>
          <a:bodyPr wrap="square" lIns="0" tIns="0" rIns="0" bIns="0" rtlCol="0" anchor="t">
            <a:normAutofit/>
          </a:bodyPr>
          <a:lstStyle/>
          <a:p>
            <a:pPr>
              <a:lnSpc>
                <a:spcPts val="1820"/>
              </a:lnSpc>
            </a:pPr>
            <a:r>
              <a:rPr lang="en-US" sz="1400" dirty="0">
                <a:solidFill>
                  <a:srgbClr val="F6F3EC"/>
                </a:solidFill>
                <a:latin typeface="IBM Plex Sans" pitchFamily="34" charset="0"/>
                <a:ea typeface="IBM Plex Sans" pitchFamily="34" charset="-122"/>
                <a:cs typeface="IBM Plex Sans" pitchFamily="34" charset="-120"/>
              </a:rPr>
              <a:t>Project GitHub’s Repository: </a:t>
            </a:r>
            <a:r>
              <a:rPr lang="en-US" sz="1300" dirty="0">
                <a:solidFill>
                  <a:srgbClr val="9FB0B8"/>
                </a:solidFill>
                <a:latin typeface="IBM Plex Sans" pitchFamily="34" charset="0"/>
                <a:ea typeface="IBM Plex Sans" pitchFamily="34" charset="-122"/>
                <a:cs typeface="IBM Plex Sans" pitchFamily="34" charset="-120"/>
              </a:rPr>
              <a:t>https://github.com/arshmant25/FoodJudgeBench</a:t>
            </a:r>
            <a:endParaRPr lang="en-US" sz="1300" dirty="0"/>
          </a:p>
        </p:txBody>
      </p:sp>
      <p:sp>
        <p:nvSpPr>
          <p:cNvPr id="6" name="Text 4"/>
          <p:cNvSpPr/>
          <p:nvPr/>
        </p:nvSpPr>
        <p:spPr>
          <a:xfrm>
            <a:off x="7365841" y="5080000"/>
            <a:ext cx="4013359" cy="78740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6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E8845F"/>
                </a:solidFill>
                <a:effectLst/>
                <a:uLnTx/>
                <a:uFillTx/>
                <a:latin typeface="EB Garamond" pitchFamily="18" charset="0"/>
                <a:ea typeface="EB Garamond" pitchFamily="18" charset="-122"/>
                <a:cs typeface="EB Garamond" pitchFamily="18" charset="-120"/>
              </a:rPr>
              <a:t>Questions?</a:t>
            </a:r>
            <a:endParaRPr kumimoji="0" lang="en-US" sz="6000" b="0" i="0" u="none" strike="noStrike" kern="1200" cap="none" spc="0" normalizeH="0" baseline="0" noProof="0" dirty="0">
              <a:ln>
                <a:noFill/>
              </a:ln>
              <a:solidFill>
                <a:srgbClr val="17242B"/>
              </a:solidFill>
              <a:effectLst/>
              <a:uLnTx/>
              <a:uFillTx/>
              <a:latin typeface="IBM Plex Sans"/>
              <a:ea typeface="+mn-ea"/>
              <a:cs typeface="+mn-cs"/>
            </a:endParaRPr>
          </a:p>
        </p:txBody>
      </p:sp>
    </p:spTree>
  </p:cSld>
  <p:clrMapOvr>
    <a:masterClrMapping/>
  </p:clrMapOvr>
</p:sld>
</file>

<file path=ppt/theme/theme1.xml><?xml version="1.0" encoding="utf-8"?>
<a:theme xmlns:a="http://schemas.openxmlformats.org/drawingml/2006/main" name="FoodJudgeBench Presentation">
  <a:themeElements>
    <a:clrScheme name="FoodJudgeBench Presentation">
      <a:dk1>
        <a:srgbClr val="17242B"/>
      </a:dk1>
      <a:lt1>
        <a:srgbClr val="F6F3EC"/>
      </a:lt1>
      <a:dk2>
        <a:srgbClr val="4F585B"/>
      </a:dk2>
      <a:lt2>
        <a:srgbClr val="E0DED9"/>
      </a:lt2>
      <a:accent1>
        <a:srgbClr val="1F6F78"/>
      </a:accent1>
      <a:accent2>
        <a:srgbClr val="B2432A"/>
      </a:accent2>
      <a:accent3>
        <a:srgbClr val="7A5A9A"/>
      </a:accent3>
      <a:accent4>
        <a:srgbClr val="B07A12"/>
      </a:accent4>
      <a:accent5>
        <a:srgbClr val="E8845F"/>
      </a:accent5>
      <a:accent6>
        <a:srgbClr val="55606A"/>
      </a:accent6>
      <a:hlink>
        <a:srgbClr val="0563C1"/>
      </a:hlink>
      <a:folHlink>
        <a:srgbClr val="954F72"/>
      </a:folHlink>
    </a:clrScheme>
    <a:fontScheme name="FoodJudgeBench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FoodJudgeBench Presentation">
  <a:themeElements>
    <a:clrScheme name="FoodJudgeBench Presentation">
      <a:dk1>
        <a:srgbClr val="17242B"/>
      </a:dk1>
      <a:lt1>
        <a:srgbClr val="F6F3EC"/>
      </a:lt1>
      <a:dk2>
        <a:srgbClr val="4F585B"/>
      </a:dk2>
      <a:lt2>
        <a:srgbClr val="E0DED9"/>
      </a:lt2>
      <a:accent1>
        <a:srgbClr val="1F6F78"/>
      </a:accent1>
      <a:accent2>
        <a:srgbClr val="B2432A"/>
      </a:accent2>
      <a:accent3>
        <a:srgbClr val="6FC3CC"/>
      </a:accent3>
      <a:accent4>
        <a:srgbClr val="E8845F"/>
      </a:accent4>
      <a:accent5>
        <a:srgbClr val="F6DCCF"/>
      </a:accent5>
      <a:accent6>
        <a:srgbClr val="12474D"/>
      </a:accent6>
      <a:hlink>
        <a:srgbClr val="0563C1"/>
      </a:hlink>
      <a:folHlink>
        <a:srgbClr val="954F72"/>
      </a:folHlink>
    </a:clrScheme>
    <a:fontScheme name="FoodJudgeBench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3491</Words>
  <Application>Microsoft Office PowerPoint</Application>
  <PresentationFormat>Widescreen</PresentationFormat>
  <Paragraphs>472</Paragraphs>
  <Slides>21</Slides>
  <Notes>21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IBM Plex Sans</vt:lpstr>
      <vt:lpstr>Aptos</vt:lpstr>
      <vt:lpstr>EB Garamond</vt:lpstr>
      <vt:lpstr>FoodJudgeBench Presentation</vt:lpstr>
      <vt:lpstr>1_FoodJudgeBench Presentation</vt:lpstr>
      <vt:lpstr>FoodJudgeBench</vt:lpstr>
      <vt:lpstr>LLMs write food explanations. Who checks them?</vt:lpstr>
      <vt:lpstr>Four research questions</vt:lpstr>
      <vt:lpstr>What exists, and what is new</vt:lpstr>
      <vt:lpstr>Who did what</vt:lpstr>
      <vt:lpstr>HUMMUS (Food.com): three tables</vt:lpstr>
      <vt:lpstr>What we build on</vt:lpstr>
      <vt:lpstr>From raw reviews to judge-vs-human results</vt:lpstr>
      <vt:lpstr>Raw data to audited catalog</vt:lpstr>
      <vt:lpstr>60 profiles and their recipes</vt:lpstr>
      <vt:lpstr>Four ways to write an explanation</vt:lpstr>
      <vt:lpstr>Cases, rubric and annotation</vt:lpstr>
      <vt:lpstr>3 judges x 3 setups</vt:lpstr>
      <vt:lpstr>Humans agree moderately, and unevenly</vt:lpstr>
      <vt:lpstr>Judges match humans on scores, not yet on flags</vt:lpstr>
      <vt:lpstr>Stated profiles are easier to judge</vt:lpstr>
      <vt:lpstr>Fact-aware judges rank techniques like humans</vt:lpstr>
      <vt:lpstr>Invented preferences are caught; other errors untested</vt:lpstr>
      <vt:lpstr>What is delivered, what is partial</vt:lpstr>
      <vt:lpstr>Calendar of remaining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FoodJudgeBench Presentation</dc:title>
  <dc:subject/>
  <dc:creator>Arshman Tariq</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dc:description>
  <cp:lastModifiedBy>Muhammad Faizan Tanveer</cp:lastModifiedBy>
  <cp:revision>4</cp:revision>
  <dcterms:created xsi:type="dcterms:W3CDTF">2026-10-27T09:18:07Z</dcterms:created>
  <dcterms:modified xsi:type="dcterms:W3CDTF">2026-10-29T23:24:10Z</dcterms:modified>
</cp:coreProperties>
</file>